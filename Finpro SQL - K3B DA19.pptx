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27" r:id="rId5"/>
    <p:sldMasterId id="2147483828" r:id="rId6"/>
    <p:sldMasterId id="2147483829" r:id="rId7"/>
    <p:sldMasterId id="214748383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y="5143500" cx="9144000"/>
  <p:notesSz cx="6858000" cy="9144000"/>
  <p:embeddedFontLst>
    <p:embeddedFont>
      <p:font typeface="Lexend Light"/>
      <p:regular r:id="rId27"/>
      <p:bold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Lexend Medium"/>
      <p:regular r:id="rId33"/>
      <p:bold r:id="rId34"/>
    </p:embeddedFont>
    <p:embeddedFont>
      <p:font typeface="Roboto Light"/>
      <p:regular r:id="rId35"/>
      <p:bold r:id="rId36"/>
      <p:italic r:id="rId37"/>
      <p:boldItalic r:id="rId38"/>
    </p:embeddedFont>
    <p:embeddedFont>
      <p:font typeface="Lexend"/>
      <p:regular r:id="rId39"/>
      <p:bold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Inter Light"/>
      <p:regular r:id="rId45"/>
      <p:bold r:id="rId46"/>
      <p:italic r:id="rId47"/>
      <p:boldItalic r:id="rId48"/>
    </p:embeddedFont>
    <p:embeddedFont>
      <p:font typeface="Inter SemiBold"/>
      <p:regular r:id="rId49"/>
      <p:bold r:id="rId50"/>
      <p:italic r:id="rId51"/>
      <p:boldItalic r:id="rId52"/>
    </p:embeddedFont>
    <p:embeddedFont>
      <p:font typeface="Playfair Display"/>
      <p:regular r:id="rId53"/>
      <p:bold r:id="rId54"/>
      <p:italic r:id="rId55"/>
      <p:boldItalic r:id="rId56"/>
    </p:embeddedFont>
    <p:embeddedFont>
      <p:font typeface="Lato"/>
      <p:regular r:id="rId57"/>
      <p:bold r:id="rId58"/>
      <p:italic r:id="rId59"/>
      <p:boldItalic r:id="rId60"/>
    </p:embeddedFont>
    <p:embeddedFont>
      <p:font typeface="Della Respira"/>
      <p:regular r:id="rId61"/>
    </p:embeddedFont>
    <p:embeddedFont>
      <p:font typeface="DM Sans Light"/>
      <p:regular r:id="rId62"/>
      <p:bold r:id="rId63"/>
      <p:italic r:id="rId64"/>
      <p:boldItalic r:id="rId65"/>
    </p:embeddedFont>
    <p:embeddedFont>
      <p:font typeface="DM Sans SemiBold"/>
      <p:regular r:id="rId66"/>
      <p:bold r:id="rId67"/>
      <p:italic r:id="rId68"/>
      <p:boldItalic r:id="rId69"/>
    </p:embeddedFont>
    <p:embeddedFont>
      <p:font typeface="DM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9">
          <p15:clr>
            <a:srgbClr val="747775"/>
          </p15:clr>
        </p15:guide>
        <p15:guide id="2" orient="horz" pos="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3EDBA6-8B1A-48BA-8A7B-041277E2EA4D}">
  <a:tblStyle styleId="{BD3EDBA6-8B1A-48BA-8A7B-041277E2EA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D3CC8DC-BB13-4DF4-A02A-4B8F9686A3A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9" orient="horz"/>
        <p:guide pos="7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-bold.fntdata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44" Type="http://schemas.openxmlformats.org/officeDocument/2006/relationships/font" Target="fonts/RobotoMono-boldItalic.fntdata"/><Relationship Id="rId43" Type="http://schemas.openxmlformats.org/officeDocument/2006/relationships/font" Target="fonts/RobotoMono-italic.fntdata"/><Relationship Id="rId46" Type="http://schemas.openxmlformats.org/officeDocument/2006/relationships/font" Target="fonts/InterLight-bold.fntdata"/><Relationship Id="rId45" Type="http://schemas.openxmlformats.org/officeDocument/2006/relationships/font" Target="fonts/InterLigh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font" Target="fonts/InterLight-boldItalic.fntdata"/><Relationship Id="rId47" Type="http://schemas.openxmlformats.org/officeDocument/2006/relationships/font" Target="fonts/InterLight-italic.fntdata"/><Relationship Id="rId49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font" Target="fonts/DMSans-boldItalic.fntdata"/><Relationship Id="rId72" Type="http://schemas.openxmlformats.org/officeDocument/2006/relationships/font" Target="fonts/DMSans-italic.fntdata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33" Type="http://schemas.openxmlformats.org/officeDocument/2006/relationships/font" Target="fonts/LexendMedium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Light-regular.fntdata"/><Relationship Id="rId34" Type="http://schemas.openxmlformats.org/officeDocument/2006/relationships/font" Target="fonts/LexendMedium-bold.fntdata"/><Relationship Id="rId71" Type="http://schemas.openxmlformats.org/officeDocument/2006/relationships/font" Target="fonts/DMSans-bold.fntdata"/><Relationship Id="rId70" Type="http://schemas.openxmlformats.org/officeDocument/2006/relationships/font" Target="fonts/DMSans-regular.fntdata"/><Relationship Id="rId37" Type="http://schemas.openxmlformats.org/officeDocument/2006/relationships/font" Target="fonts/RobotoLight-italic.fntdata"/><Relationship Id="rId36" Type="http://schemas.openxmlformats.org/officeDocument/2006/relationships/font" Target="fonts/RobotoLight-bold.fntdata"/><Relationship Id="rId39" Type="http://schemas.openxmlformats.org/officeDocument/2006/relationships/font" Target="fonts/Lexend-regular.fntdata"/><Relationship Id="rId38" Type="http://schemas.openxmlformats.org/officeDocument/2006/relationships/font" Target="fonts/RobotoLight-boldItalic.fntdata"/><Relationship Id="rId62" Type="http://schemas.openxmlformats.org/officeDocument/2006/relationships/font" Target="fonts/DMSansLight-regular.fntdata"/><Relationship Id="rId61" Type="http://schemas.openxmlformats.org/officeDocument/2006/relationships/font" Target="fonts/DellaRespira-regular.fntdata"/><Relationship Id="rId20" Type="http://schemas.openxmlformats.org/officeDocument/2006/relationships/slide" Target="slides/slide11.xml"/><Relationship Id="rId64" Type="http://schemas.openxmlformats.org/officeDocument/2006/relationships/font" Target="fonts/DMSansLight-italic.fntdata"/><Relationship Id="rId63" Type="http://schemas.openxmlformats.org/officeDocument/2006/relationships/font" Target="fonts/DMSansLight-bold.fntdata"/><Relationship Id="rId22" Type="http://schemas.openxmlformats.org/officeDocument/2006/relationships/slide" Target="slides/slide13.xml"/><Relationship Id="rId66" Type="http://schemas.openxmlformats.org/officeDocument/2006/relationships/font" Target="fonts/DMSansSemiBold-regular.fntdata"/><Relationship Id="rId21" Type="http://schemas.openxmlformats.org/officeDocument/2006/relationships/slide" Target="slides/slide12.xml"/><Relationship Id="rId65" Type="http://schemas.openxmlformats.org/officeDocument/2006/relationships/font" Target="fonts/DMSansLight-boldItalic.fntdata"/><Relationship Id="rId24" Type="http://schemas.openxmlformats.org/officeDocument/2006/relationships/slide" Target="slides/slide15.xml"/><Relationship Id="rId68" Type="http://schemas.openxmlformats.org/officeDocument/2006/relationships/font" Target="fonts/DMSansSemiBold-italic.fntdata"/><Relationship Id="rId23" Type="http://schemas.openxmlformats.org/officeDocument/2006/relationships/slide" Target="slides/slide14.xml"/><Relationship Id="rId67" Type="http://schemas.openxmlformats.org/officeDocument/2006/relationships/font" Target="fonts/DMSansSemiBold-bold.fntdata"/><Relationship Id="rId60" Type="http://schemas.openxmlformats.org/officeDocument/2006/relationships/font" Target="fonts/Lato-boldItalic.fntdata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font" Target="fonts/DMSansSemiBold-boldItalic.fntdata"/><Relationship Id="rId28" Type="http://schemas.openxmlformats.org/officeDocument/2006/relationships/font" Target="fonts/LexendLight-bold.fntdata"/><Relationship Id="rId27" Type="http://schemas.openxmlformats.org/officeDocument/2006/relationships/font" Target="fonts/LexendLight-regular.fntdata"/><Relationship Id="rId29" Type="http://schemas.openxmlformats.org/officeDocument/2006/relationships/font" Target="fonts/Inter-regular.fntdata"/><Relationship Id="rId51" Type="http://schemas.openxmlformats.org/officeDocument/2006/relationships/font" Target="fonts/InterSemiBold-italic.fntdata"/><Relationship Id="rId50" Type="http://schemas.openxmlformats.org/officeDocument/2006/relationships/font" Target="fonts/InterSemiBold-bold.fntdata"/><Relationship Id="rId53" Type="http://schemas.openxmlformats.org/officeDocument/2006/relationships/font" Target="fonts/PlayfairDisplay-regular.fntdata"/><Relationship Id="rId52" Type="http://schemas.openxmlformats.org/officeDocument/2006/relationships/font" Target="fonts/InterSemiBold-boldItalic.fntdata"/><Relationship Id="rId11" Type="http://schemas.openxmlformats.org/officeDocument/2006/relationships/slide" Target="slides/slide2.xml"/><Relationship Id="rId55" Type="http://schemas.openxmlformats.org/officeDocument/2006/relationships/font" Target="fonts/PlayfairDisplay-italic.fntdata"/><Relationship Id="rId10" Type="http://schemas.openxmlformats.org/officeDocument/2006/relationships/slide" Target="slides/slide1.xml"/><Relationship Id="rId54" Type="http://schemas.openxmlformats.org/officeDocument/2006/relationships/font" Target="fonts/PlayfairDisplay-bold.fntdata"/><Relationship Id="rId13" Type="http://schemas.openxmlformats.org/officeDocument/2006/relationships/slide" Target="slides/slide4.xml"/><Relationship Id="rId57" Type="http://schemas.openxmlformats.org/officeDocument/2006/relationships/font" Target="fonts/Lato-regular.fntdata"/><Relationship Id="rId12" Type="http://schemas.openxmlformats.org/officeDocument/2006/relationships/slide" Target="slides/slide3.xml"/><Relationship Id="rId56" Type="http://schemas.openxmlformats.org/officeDocument/2006/relationships/font" Target="fonts/PlayfairDisplay-boldItalic.fntdata"/><Relationship Id="rId15" Type="http://schemas.openxmlformats.org/officeDocument/2006/relationships/slide" Target="slides/slide6.xml"/><Relationship Id="rId59" Type="http://schemas.openxmlformats.org/officeDocument/2006/relationships/font" Target="fonts/Lato-italic.fntdata"/><Relationship Id="rId14" Type="http://schemas.openxmlformats.org/officeDocument/2006/relationships/slide" Target="slides/slide5.xml"/><Relationship Id="rId58" Type="http://schemas.openxmlformats.org/officeDocument/2006/relationships/font" Target="fonts/Lato-bold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197d20cdfe_0_5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197d20cdfe_0_5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1a7e29786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31a7e2978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31a7e29786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31a7e2978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1a55049a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g31a55049af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3197d20cdfe_0_6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3197d20cdfe_0_6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244031c2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244031c2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197d20cdfe_0_5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3197d20cdfe_0_5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1a58f5aee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1a58f5aee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3197d20cdfe_0_6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3197d20cdfe_0_6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1af8060d7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1af8060d7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1af8060d77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1af8060d7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31a522ad1d3_6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g31a522ad1d3_6_4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1a522ad1d3_6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g31a522ad1d3_6_4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31a522ad1d3_6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g31a522ad1d3_6_4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197d20cdfe_0_6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197d20cdfe_0_6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3244031c20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3244031c2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1af8060d7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31af8060d7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87" name="Google Shape;87;p15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88" name="Google Shape;88;p15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89" name="Google Shape;89;p15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0" name="Google Shape;90;p15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" name="Google Shape;163;p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6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3" name="Google Shape;173;p1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2" name="Google Shape;232;p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4" name="Google Shape;234;p1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1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1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>
  <p:cSld name="SECTION_HEADER_1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240" name="Google Shape;240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18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42" name="Google Shape;242;p18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43" name="Google Shape;243;p18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44" name="Google Shape;244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8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>
  <p:cSld name="TITLE_ONLY_1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9" name="Google Shape;249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19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51" name="Google Shape;251;p19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52" name="Google Shape;252;p19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53" name="Google Shape;253;p19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54" name="Google Shape;254;p19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55" name="Google Shape;255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19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_1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0" name="Google Shape;260;p2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0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62" name="Google Shape;262;p20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63" name="Google Shape;263;p20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64" name="Google Shape;264;p2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0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2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1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70" name="Google Shape;270;p21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71" name="Google Shape;271;p2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1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_1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22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2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78" name="Google Shape;278;p2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22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80" name="Google Shape;280;p2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>
  <p:cSld name="TITLE_1">
    <p:bg>
      <p:bgPr>
        <a:solidFill>
          <a:schemeClr val="dk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286" name="Google Shape;286;p2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3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88" name="Google Shape;288;p2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>
  <p:cSld name="BLANK_1">
    <p:bg>
      <p:bgPr>
        <a:solidFill>
          <a:schemeClr val="dk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293" name="Google Shape;293;p24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294" name="Google Shape;294;p2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4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4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2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2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bg>
      <p:bgPr>
        <a:solidFill>
          <a:schemeClr val="dk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306" name="Google Shape;306;p2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5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309" name="Google Shape;309;p25"/>
          <p:cNvCxnSpPr>
            <a:endCxn id="310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5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5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5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5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9" name="Google Shape;319;p25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320" name="Google Shape;320;p25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2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>
  <p:cSld name="TITLE_AND_BODY_1">
    <p:bg>
      <p:bgPr>
        <a:solidFill>
          <a:schemeClr val="dk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2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6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26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28" name="Google Shape;328;p2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" name="Google Shape;337;p28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8" name="Google Shape;338;p28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9" name="Google Shape;339;p28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340" name="Google Shape;340;p28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341" name="Google Shape;341;p28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2" name="Google Shape;342;p28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43" name="Google Shape;343;p28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344" name="Google Shape;344;p28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345" name="Google Shape;345;p28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346" name="Google Shape;346;p28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47" name="Google Shape;347;p28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48" name="Google Shape;348;p28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349" name="Google Shape;349;p28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350" name="Google Shape;350;p28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1" name="Google Shape;351;p28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52" name="Google Shape;352;p28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353" name="Google Shape;353;p28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4" name="Google Shape;354;p28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5" name="Google Shape;355;p28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56" name="Google Shape;356;p28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9" name="Google Shape;359;p28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0" name="Google Shape;360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28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2" name="Google Shape;362;p28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5" name="Google Shape;365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6" name="Google Shape;3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9" name="Google Shape;3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2" name="Google Shape;3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6" name="Google Shape;376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4" name="Google Shape;384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8" name="Google Shape;38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2" name="Google Shape;392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3" name="Google Shape;393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397" name="Google Shape;39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0" name="Google Shape;400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1" name="Google Shape;40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5" name="Google Shape;415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1" name="Google Shape;421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4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0" name="Google Shape;430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1" name="Google Shape;431;p4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1" name="Google Shape;441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7" name="Google Shape;4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6" name="Google Shape;456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7" name="Google Shape;457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3" name="Google Shape;463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7" name="Google Shape;467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8" name="Google Shape;468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9" name="Google Shape;469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5" name="Google Shape;475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" name="Google Shape;486;p50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5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5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9" name="Google Shape;489;p5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0" name="Google Shape;490;p50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50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492" name="Google Shape;492;p50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4" name="Google Shape;494;p5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5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51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7" name="Google Shape;497;p51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8" name="Google Shape;498;p51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9" name="Google Shape;499;p51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00" name="Google Shape;500;p51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01" name="Google Shape;501;p51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02" name="Google Shape;502;p51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03" name="Google Shape;503;p51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04" name="Google Shape;504;p51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6" name="Google Shape;506;p5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5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8" name="Google Shape;508;p5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9" name="Google Shape;509;p5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0" name="Google Shape;510;p52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1" name="Google Shape;511;p52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12" name="Google Shape;512;p52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13" name="Google Shape;513;p52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14" name="Google Shape;514;p52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15" name="Google Shape;515;p52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16" name="Google Shape;516;p52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17" name="Google Shape;517;p52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18" name="Google Shape;518;p52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19" name="Google Shape;519;p52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5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5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5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4" name="Google Shape;524;p5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5" name="Google Shape;525;p53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53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8" name="Google Shape;528;p5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5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5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31" name="Google Shape;531;p5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32" name="Google Shape;532;p54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3" name="Google Shape;533;p54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5" name="Google Shape;535;p5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5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5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38" name="Google Shape;538;p5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0" name="Google Shape;540;p5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5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5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43" name="Google Shape;543;p5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44" name="Google Shape;544;p56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7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548" name="Google Shape;548;p5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5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57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51" name="Google Shape;551;p57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52" name="Google Shape;552;p57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54" name="Google Shape;554;p57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55" name="Google Shape;555;p57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56" name="Google Shape;556;p57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57" name="Google Shape;557;p57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9" name="Google Shape;559;p5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5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5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62" name="Google Shape;562;p5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63" name="Google Shape;563;p58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4" name="Google Shape;564;p58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65" name="Google Shape;565;p58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66" name="Google Shape;566;p58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67" name="Google Shape;567;p58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68" name="Google Shape;568;p58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69" name="Google Shape;569;p58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70" name="Google Shape;570;p58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71" name="Google Shape;571;p58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3" name="Google Shape;573;p5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5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5" name="Google Shape;575;p5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6" name="Google Shape;576;p5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77" name="Google Shape;577;p59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78" name="Google Shape;578;p59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79" name="Google Shape;579;p59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80" name="Google Shape;580;p59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81" name="Google Shape;581;p59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82" name="Google Shape;582;p59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0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6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6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87" name="Google Shape;587;p6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88" name="Google Shape;588;p60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60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590" name="Google Shape;590;p60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91" name="Google Shape;591;p6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61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95" name="Google Shape;595;p61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96" name="Google Shape;596;p61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7" name="Google Shape;597;p61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598" name="Google Shape;598;p6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61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2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62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62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62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605" name="Google Shape;605;p62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606" name="Google Shape;606;p62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607" name="Google Shape;607;p6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6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6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10" name="Google Shape;610;p62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3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613" name="Google Shape;613;p63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614" name="Google Shape;614;p63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615" name="Google Shape;615;p6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6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7" name="Google Shape;617;p6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18" name="Google Shape;618;p6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5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26" name="Google Shape;626;p65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627" name="Google Shape;627;p65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628" name="Google Shape;628;p65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65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6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6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7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6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7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37" name="Google Shape;637;p67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38" name="Google Shape;638;p6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8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6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8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43" name="Google Shape;643;p68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4" name="Google Shape;644;p68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5" name="Google Shape;645;p68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6" name="Google Shape;646;p68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7" name="Google Shape;647;p68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48" name="Google Shape;648;p68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49" name="Google Shape;649;p68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50" name="Google Shape;650;p6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51" name="Google Shape;651;p68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52" name="Google Shape;652;p68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53" name="Google Shape;653;p68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54" name="Google Shape;654;p68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55" name="Google Shape;655;p68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656" name="Google Shape;656;p68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657" name="Google Shape;657;p68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658" name="Google Shape;658;p68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659" name="Google Shape;659;p68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68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68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69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65" name="Google Shape;665;p69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66" name="Google Shape;666;p69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67" name="Google Shape;667;p69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68" name="Google Shape;668;p69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69" name="Google Shape;669;p69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670" name="Google Shape;670;p69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71" name="Google Shape;671;p69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72" name="Google Shape;672;p69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73" name="Google Shape;673;p69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74" name="Google Shape;674;p6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75" name="Google Shape;675;p69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6" name="Google Shape;676;p69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7" name="Google Shape;677;p69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8" name="Google Shape;678;p69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9" name="Google Shape;679;p69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80" name="Google Shape;680;p69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1" name="Google Shape;681;p69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2" name="Google Shape;682;p69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3" name="Google Shape;683;p69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4" name="Google Shape;684;p69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70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88" name="Google Shape;688;p70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89" name="Google Shape;689;p70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690" name="Google Shape;690;p70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91" name="Google Shape;691;p70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92" name="Google Shape;692;p70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1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71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696" name="Google Shape;696;p71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97" name="Google Shape;697;p71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698" name="Google Shape;698;p71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99" name="Google Shape;699;p71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00" name="Google Shape;700;p71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2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03" name="Google Shape;703;p72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04" name="Google Shape;704;p72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05" name="Google Shape;705;p72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06" name="Google Shape;706;p72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07" name="Google Shape;707;p72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08" name="Google Shape;708;p72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72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3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73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13" name="Google Shape;713;p73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14" name="Google Shape;714;p73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15" name="Google Shape;715;p73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6" name="Google Shape;716;p73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17" name="Google Shape;717;p73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18" name="Google Shape;718;p73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4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74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22" name="Google Shape;722;p7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23" name="Google Shape;723;p74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24" name="Google Shape;724;p7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25" name="Google Shape;725;p74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5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75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29" name="Google Shape;729;p75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30" name="Google Shape;730;p75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31" name="Google Shape;731;p75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32" name="Google Shape;732;p75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76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76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36" name="Google Shape;736;p76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37" name="Google Shape;737;p76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38" name="Google Shape;738;p76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39" name="Google Shape;739;p76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40" name="Google Shape;740;p76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7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77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4" name="Google Shape;744;p77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45" name="Google Shape;745;p77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46" name="Google Shape;746;p77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47" name="Google Shape;747;p77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48" name="Google Shape;748;p77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8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51" name="Google Shape;751;p78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2" name="Google Shape;752;p78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78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54" name="Google Shape;754;p78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755" name="Google Shape;755;p78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56" name="Google Shape;756;p78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9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59" name="Google Shape;759;p79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60" name="Google Shape;760;p79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61" name="Google Shape;761;p79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62" name="Google Shape;762;p7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63" name="Google Shape;763;p7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0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66" name="Google Shape;766;p80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67" name="Google Shape;767;p80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80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69" name="Google Shape;769;p80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70" name="Google Shape;770;p80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771" name="Google Shape;771;p80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1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81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75" name="Google Shape;775;p81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76" name="Google Shape;776;p81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81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8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82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81" name="Google Shape;781;p82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782" name="Google Shape;782;p82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3" name="Google Shape;783;p82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4" name="Google Shape;784;p82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85" name="Google Shape;785;p82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86" name="Google Shape;786;p8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787" name="Google Shape;787;p82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88" name="Google Shape;788;p82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89" name="Google Shape;789;p82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90" name="Google Shape;790;p82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91" name="Google Shape;791;p82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92" name="Google Shape;792;p82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93" name="Google Shape;793;p82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3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p83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83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83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4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84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4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803" name="Google Shape;803;p84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804" name="Google Shape;804;p84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5" name="Google Shape;805;p84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86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810" name="Google Shape;810;p86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11" name="Google Shape;811;p86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7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87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8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17" name="Google Shape;817;p88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18" name="Google Shape;818;p88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19" name="Google Shape;819;p88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9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89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90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5" name="Google Shape;825;p90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26" name="Google Shape;826;p90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27" name="Google Shape;827;p90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28" name="Google Shape;828;p90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829" name="Google Shape;829;p90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1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91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92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35" name="Google Shape;835;p92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836" name="Google Shape;836;p92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37" name="Google Shape;837;p92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9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4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42" name="Google Shape;842;p94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3" name="Google Shape;843;p94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95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47" name="Google Shape;847;p9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48" name="Google Shape;848;p95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49" name="Google Shape;849;p95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50" name="Google Shape;850;p95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51" name="Google Shape;851;p95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52" name="Google Shape;852;p95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53" name="Google Shape;853;p95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54" name="Google Shape;854;p95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55" name="Google Shape;855;p95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56" name="Google Shape;856;p95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57" name="Google Shape;857;p95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58" name="Google Shape;858;p95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9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61" name="Google Shape;861;p96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62" name="Google Shape;862;p96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9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64" name="Google Shape;864;p9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7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67" name="Google Shape;867;p97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68" name="Google Shape;868;p97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69" name="Google Shape;869;p97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70" name="Google Shape;870;p9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71" name="Google Shape;871;p9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872" name="Google Shape;872;p97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73" name="Google Shape;873;p97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74" name="Google Shape;874;p97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75" name="Google Shape;875;p97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8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78" name="Google Shape;878;p98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79" name="Google Shape;879;p9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80" name="Google Shape;880;p9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881" name="Google Shape;881;p98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82" name="Google Shape;882;p98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83" name="Google Shape;883;p98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84" name="Google Shape;884;p98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85" name="Google Shape;885;p98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86" name="Google Shape;886;p98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87" name="Google Shape;887;p98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88" name="Google Shape;888;p98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89" name="Google Shape;889;p98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0" name="Google Shape;890;p98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9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3" name="Google Shape;893;p99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94" name="Google Shape;894;p9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95" name="Google Shape;895;p9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896" name="Google Shape;896;p99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7" name="Google Shape;897;p99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98" name="Google Shape;898;p99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9" name="Google Shape;899;p99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0" name="Google Shape;900;p99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01" name="Google Shape;901;p99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02" name="Google Shape;902;p99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03" name="Google Shape;903;p99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4" name="Google Shape;904;p99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05" name="Google Shape;905;p99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06" name="Google Shape;906;p99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07" name="Google Shape;907;p99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8" name="Google Shape;908;p99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09" name="Google Shape;909;p99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00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p100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13" name="Google Shape;913;p100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01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16" name="Google Shape;916;p101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17" name="Google Shape;917;p101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18" name="Google Shape;918;p101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19" name="Google Shape;919;p101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920" name="Google Shape;920;p101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21" name="Google Shape;921;p101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22" name="Google Shape;922;p101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23" name="Google Shape;923;p101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24" name="Google Shape;924;p101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101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26" name="Google Shape;926;p101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02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29" name="Google Shape;929;p102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30" name="Google Shape;930;p102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31" name="Google Shape;931;p10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32" name="Google Shape;932;p10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933" name="Google Shape;933;p102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34" name="Google Shape;934;p102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35" name="Google Shape;935;p102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36" name="Google Shape;936;p102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37" name="Google Shape;937;p102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102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39" name="Google Shape;939;p102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102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41" name="Google Shape;941;p102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42" name="Google Shape;942;p102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943" name="Google Shape;943;p102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44" name="Google Shape;944;p102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03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04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104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50" name="Google Shape;950;p104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951" name="Google Shape;951;p104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p104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104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p104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104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104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104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104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2" name="Google Shape;962;p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3" name="Google Shape;963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6" name="Google Shape;966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9" name="Google Shape;969;p10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70" name="Google Shape;970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3" name="Google Shape;973;p10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4" name="Google Shape;974;p10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5" name="Google Shape;975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8" name="Google Shape;978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1" name="Google Shape;981;p1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2" name="Google Shape;982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85" name="Google Shape;985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9" name="Google Shape;989;p1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0" name="Google Shape;990;p1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91" name="Google Shape;991;p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4" name="Google Shape;994;p1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95" name="Google Shape;995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8" name="Google Shape;998;p1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99" name="Google Shape;999;p1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00" name="Google Shape;1000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3" name="Google Shape;1003;p1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4" name="Google Shape;1004;p1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05" name="Google Shape;1005;p1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06" name="Google Shape;1006;p1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1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0" name="Google Shape;1010;p1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11" name="Google Shape;1011;p1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12" name="Google Shape;1012;p1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13" name="Google Shape;1013;p1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4" name="Google Shape;1014;p1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5" name="Google Shape;1015;p1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6" name="Google Shape;1016;p1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9" name="Google Shape;1019;p1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20" name="Google Shape;1020;p1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21" name="Google Shape;1021;p1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22" name="Google Shape;1022;p1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23" name="Google Shape;1023;p1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24" name="Google Shape;1024;p1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1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6" name="Google Shape;1026;p1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7" name="Google Shape;1027;p1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0" name="Google Shape;1030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1" name="Google Shape;1031;p1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4" name="Google Shape;1034;p1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5" name="Google Shape;1035;p1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6" name="Google Shape;1036;p1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7" name="Google Shape;1037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8" name="Google Shape;1038;p1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9" name="Google Shape;1039;p1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0" name="Google Shape;1040;p1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3" name="Google Shape;1043;p1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4" name="Google Shape;1044;p1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5" name="Google Shape;1045;p1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6" name="Google Shape;1046;p1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7" name="Google Shape;1047;p1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" name="Google Shape;1048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9" name="Google Shape;1049;p1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0" name="Google Shape;1050;p1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1" name="Google Shape;1051;p1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2" name="Google Shape;1052;p1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055" name="Google Shape;1055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8" name="Google Shape;1058;p1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1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1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1" name="Google Shape;1061;p1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2" name="Google Shape;1062;p1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3" name="Google Shape;1063;p1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4" name="Google Shape;1064;p1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5" name="Google Shape;1065;p1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6" name="Google Shape;1066;p1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7" name="Google Shape;1067;p1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bg>
      <p:bgPr>
        <a:solidFill>
          <a:schemeClr val="accent3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26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26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076" name="Google Shape;1076;p126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077" name="Google Shape;1077;p126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9pPr>
          </a:lstStyle>
          <a:p/>
        </p:txBody>
      </p:sp>
      <p:sp>
        <p:nvSpPr>
          <p:cNvPr id="1078" name="Google Shape;1078;p126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9" name="Google Shape;1079;p126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27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27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28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p12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28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28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/>
        </p:txBody>
      </p:sp>
      <p:sp>
        <p:nvSpPr>
          <p:cNvPr id="1088" name="Google Shape;1088;p12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Students and Assigned Sections">
    <p:bg>
      <p:bgPr>
        <a:solidFill>
          <a:schemeClr val="lt2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29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p12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29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29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4" name="Google Shape;1094;p129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5" name="Google Shape;1095;p129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6" name="Google Shape;1096;p129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7" name="Google Shape;1097;p129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29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29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2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01" name="Google Shape;1101;p129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02" name="Google Shape;1102;p129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03" name="Google Shape;1103;p129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04" name="Google Shape;1104;p129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05" name="Google Shape;1105;p129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9pPr>
          </a:lstStyle>
          <a:p/>
        </p:txBody>
      </p:sp>
      <p:sp>
        <p:nvSpPr>
          <p:cNvPr id="1106" name="Google Shape;1106;p129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9pPr>
          </a:lstStyle>
          <a:p/>
        </p:txBody>
      </p:sp>
      <p:sp>
        <p:nvSpPr>
          <p:cNvPr id="1107" name="Google Shape;1107;p129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9pPr>
          </a:lstStyle>
          <a:p/>
        </p:txBody>
      </p:sp>
      <p:sp>
        <p:nvSpPr>
          <p:cNvPr id="1108" name="Google Shape;1108;p129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"/>
              <a:buNone/>
              <a:defRPr sz="1100"/>
            </a:lvl9pPr>
          </a:lstStyle>
          <a:p/>
        </p:txBody>
      </p:sp>
      <p:sp>
        <p:nvSpPr>
          <p:cNvPr id="1109" name="Google Shape;1109;p129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p129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129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30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130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115" name="Google Shape;1115;p130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116" name="Google Shape;1116;p130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117" name="Google Shape;1117;p130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118" name="Google Shape;1118;p130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119" name="Google Shape;1119;p130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130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130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130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130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130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25" name="Google Shape;1125;p130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6" name="Google Shape;1126;p130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7" name="Google Shape;1127;p130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8" name="Google Shape;1128;p130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9" name="Google Shape;1129;p130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0" name="Google Shape;1130;p130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31" name="Google Shape;1131;p130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32" name="Google Shape;1132;p130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33" name="Google Shape;1133;p130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34" name="Google Shape;1134;p130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Storybook 1">
    <p:bg>
      <p:bgPr>
        <a:solidFill>
          <a:schemeClr val="dk2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31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p131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31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9" name="Google Shape;1139;p131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31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41" name="Google Shape;1141;p131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31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Storybook 2">
    <p:bg>
      <p:bgPr>
        <a:solidFill>
          <a:schemeClr val="lt2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32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p132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32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7" name="Google Shape;1147;p132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32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49" name="Google Shape;1149;p132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32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Storybook 3"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33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33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4" name="Google Shape;1154;p133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33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133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57" name="Google Shape;1157;p133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33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9" name="Google Shape;1159;p133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Student Page 1">
    <p:bg>
      <p:bgPr>
        <a:solidFill>
          <a:schemeClr val="dk2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34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p13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3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34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34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6" name="Google Shape;1166;p134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67" name="Google Shape;1167;p13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68" name="Google Shape;1168;p134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Student Page 1 Alt">
    <p:bg>
      <p:bgPr>
        <a:solidFill>
          <a:schemeClr val="dk2"/>
        </a:solid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5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135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2" name="Google Shape;1172;p135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35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35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75" name="Google Shape;1175;p135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Student Page 1 Editable">
    <p:bg>
      <p:bgPr>
        <a:solidFill>
          <a:schemeClr val="dk2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36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p136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9" name="Google Shape;1179;p136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36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36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82" name="Google Shape;1182;p136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Student Page 2">
    <p:bg>
      <p:bgPr>
        <a:solidFill>
          <a:schemeClr val="lt2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37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p137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37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7" name="Google Shape;1187;p13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37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3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90" name="Google Shape;1190;p137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Student Page 3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38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p138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38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5" name="Google Shape;1195;p138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38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138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198" name="Google Shape;1198;p138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Student Page 4">
    <p:bg>
      <p:bgPr>
        <a:solidFill>
          <a:schemeClr val="accent2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39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39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2" name="Google Shape;1202;p139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p139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39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39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206" name="Google Shape;1206;p139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bg>
      <p:bgPr>
        <a:solidFill>
          <a:schemeClr val="dk2"/>
        </a:solidFill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40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40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0" name="Google Shape;1210;p140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140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2" name="Google Shape;1212;p140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40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Student Page 6">
    <p:bg>
      <p:bgPr>
        <a:solidFill>
          <a:schemeClr val="lt2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41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41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7" name="Google Shape;1217;p141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8" name="Google Shape;1218;p141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41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41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221" name="Google Shape;1221;p141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Summary Slide">
    <p:bg>
      <p:bgPr>
        <a:solidFill>
          <a:schemeClr val="dk2"/>
        </a:solidFill>
      </p:bgPr>
    </p:bg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42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p142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42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6" name="Google Shape;1226;p14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14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Summary Slide 2">
    <p:bg>
      <p:bgPr>
        <a:solidFill>
          <a:schemeClr val="lt2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4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43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31" name="Google Shape;1231;p143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43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43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43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35" name="Google Shape;1235;p143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36" name="Google Shape;1236;p14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237" name="Google Shape;1237;p143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238" name="Google Shape;1238;p143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239" name="Google Shape;1239;p143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240" name="Google Shape;1240;p143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1" name="Google Shape;1241;p143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2" name="Google Shape;1242;p143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3" name="Google Shape;1243;p143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End Cover">
    <p:bg>
      <p:bgPr>
        <a:solidFill>
          <a:schemeClr val="dk2"/>
        </a:solidFill>
      </p:bgPr>
    </p:bg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44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p144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7" name="Google Shape;1247;p144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144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End Cover with Names">
    <p:bg>
      <p:bgPr>
        <a:solidFill>
          <a:schemeClr val="lt2"/>
        </a:solidFill>
      </p:bgPr>
    </p:bg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45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p145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45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253" name="Google Shape;1253;p145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254" name="Google Shape;1254;p145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5" name="Google Shape;1255;p145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Title Slide ">
    <p:bg>
      <p:bgPr>
        <a:solidFill>
          <a:schemeClr val="lt2"/>
        </a:solidFill>
      </p:bgPr>
    </p:bg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4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46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259" name="Google Shape;1259;p146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9pPr>
          </a:lstStyle>
          <a:p/>
        </p:txBody>
      </p:sp>
      <p:sp>
        <p:nvSpPr>
          <p:cNvPr id="1260" name="Google Shape;1260;p146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147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47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chemeClr val="lt2"/>
        </a:solid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48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48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7" name="Google Shape;1267;p148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148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bg>
      <p:bgPr>
        <a:solidFill>
          <a:schemeClr val="dk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49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149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bg>
      <p:bgPr>
        <a:solidFill>
          <a:schemeClr val="lt2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50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50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5" name="Google Shape;1275;p150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50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277" name="Google Shape;1277;p150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278" name="Google Shape;1278;p150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bg>
      <p:bgPr>
        <a:solidFill>
          <a:schemeClr val="lt2"/>
        </a:solidFill>
      </p:bgPr>
    </p:bg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51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51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52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52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285" name="Google Shape;1285;p152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52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bg>
      <p:bgPr>
        <a:solidFill>
          <a:schemeClr val="dk2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5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54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1" name="Google Shape;1291;p154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54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5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155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96" name="Google Shape;1296;p15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Della Respira"/>
              <a:buNone/>
              <a:defRPr sz="4200"/>
            </a:lvl9pPr>
          </a:lstStyle>
          <a:p/>
        </p:txBody>
      </p:sp>
      <p:sp>
        <p:nvSpPr>
          <p:cNvPr id="1297" name="Google Shape;1297;p155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298" name="Google Shape;1298;p155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99" name="Google Shape;1299;p155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00" name="Google Shape;1300;p155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301" name="Google Shape;1301;p155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02" name="Google Shape;1302;p155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303" name="Google Shape;1303;p155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04" name="Google Shape;1304;p155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305" name="Google Shape;1305;p155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06" name="Google Shape;1306;p155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307" name="Google Shape;1307;p155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5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156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1" name="Google Shape;1311;p156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2" name="Google Shape;1312;p15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5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bg>
      <p:bgPr>
        <a:solidFill>
          <a:schemeClr val="lt2"/>
        </a:solid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57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157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7" name="Google Shape;1317;p157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157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9" name="Google Shape;1319;p15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5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321" name="Google Shape;1321;p157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57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23" name="Google Shape;1323;p157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57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bg>
      <p:bgPr>
        <a:solidFill>
          <a:schemeClr val="lt2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58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158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8" name="Google Shape;1328;p15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5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330" name="Google Shape;1330;p158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158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32" name="Google Shape;1332;p158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158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4" name="Google Shape;1334;p158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158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36" name="Google Shape;1336;p158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158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8" name="Google Shape;1338;p158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158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bg>
      <p:bgPr>
        <a:solidFill>
          <a:schemeClr val="lt2"/>
        </a:solidFill>
      </p:bgPr>
    </p:bg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59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59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3" name="Google Shape;1343;p15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15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345" name="Google Shape;1345;p159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159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47" name="Google Shape;1347;p159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159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9" name="Google Shape;1349;p159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159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51" name="Google Shape;1351;p159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159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3" name="Google Shape;1353;p159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159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55" name="Google Shape;1355;p159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159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7" name="Google Shape;1357;p159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59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Title &amp; Image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60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1" name="Google Shape;1361;p160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60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bg>
      <p:bgPr>
        <a:solidFill>
          <a:schemeClr val="dk2"/>
        </a:solidFill>
      </p:bgPr>
    </p:bg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61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61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61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7" name="Google Shape;1367;p161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161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369" name="Google Shape;1369;p161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61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71" name="Google Shape;1371;p161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161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73" name="Google Shape;1373;p161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4" name="Google Shape;1374;p161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5" name="Google Shape;1375;p161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bg>
      <p:bgPr>
        <a:solidFill>
          <a:schemeClr val="dk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62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162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162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0" name="Google Shape;1380;p16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6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382" name="Google Shape;1382;p162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62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84" name="Google Shape;1384;p162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62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86" name="Google Shape;1386;p162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7" name="Google Shape;1387;p162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8" name="Google Shape;1388;p162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9" name="Google Shape;1389;p162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62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62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392" name="Google Shape;1392;p162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3" name="Google Shape;1393;p162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63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64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8" name="Google Shape;1398;p164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164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Della Respira"/>
              <a:buNone/>
              <a:defRPr sz="3500"/>
            </a:lvl9pPr>
          </a:lstStyle>
          <a:p/>
        </p:txBody>
      </p:sp>
      <p:sp>
        <p:nvSpPr>
          <p:cNvPr id="1400" name="Google Shape;1400;p164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p164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2" name="Google Shape;1402;p164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3" name="Google Shape;1403;p164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p164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5" name="Google Shape;1405;p164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6" name="Google Shape;1406;p164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7" name="Google Shape;1407;p164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/>
        </p:txBody>
      </p:sp>
      <p:sp>
        <p:nvSpPr>
          <p:cNvPr id="1411" name="Google Shape;1411;p1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412" name="Google Shape;1412;p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/>
        </p:txBody>
      </p:sp>
      <p:sp>
        <p:nvSpPr>
          <p:cNvPr id="1415" name="Google Shape;1415;p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18" name="Google Shape;1418;p1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9" name="Google Shape;1419;p1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1_Title and two columns"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22" name="Google Shape;1422;p16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23" name="Google Shape;1423;p16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24" name="Google Shape;1424;p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27" name="Google Shape;1427;p1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7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1430" name="Google Shape;1430;p17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31" name="Google Shape;1431;p1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1_Main point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7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434" name="Google Shape;1434;p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1_Section title and description"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7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17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9pPr>
          </a:lstStyle>
          <a:p/>
        </p:txBody>
      </p:sp>
      <p:sp>
        <p:nvSpPr>
          <p:cNvPr id="1438" name="Google Shape;1438;p17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9pPr>
          </a:lstStyle>
          <a:p/>
        </p:txBody>
      </p:sp>
      <p:sp>
        <p:nvSpPr>
          <p:cNvPr id="1439" name="Google Shape;1439;p1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40" name="Google Shape;1440;p1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1_Big number"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7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/>
        </p:txBody>
      </p:sp>
      <p:sp>
        <p:nvSpPr>
          <p:cNvPr id="1443" name="Google Shape;1443;p1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44" name="Google Shape;1444;p1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1_Title, body and image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47" name="Google Shape;1447;p17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48" name="Google Shape;1448;p17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449" name="Google Shape;1449;p1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1_Two big ideas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2" name="Google Shape;1452;p17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453" name="Google Shape;1453;p17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54" name="Google Shape;1454;p17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55" name="Google Shape;1455;p17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  <p:sp>
        <p:nvSpPr>
          <p:cNvPr id="1456" name="Google Shape;1456;p17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1_Three big ideas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9" name="Google Shape;1459;p17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60" name="Google Shape;1460;p17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61" name="Google Shape;1461;p17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62" name="Google Shape;1462;p17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463" name="Google Shape;1463;p17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  <p:sp>
        <p:nvSpPr>
          <p:cNvPr id="1464" name="Google Shape;1464;p17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  <p:sp>
        <p:nvSpPr>
          <p:cNvPr id="1465" name="Google Shape;1465;p17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1_Four big ideas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8" name="Google Shape;1468;p17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69" name="Google Shape;1469;p17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0" name="Google Shape;1470;p17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1" name="Google Shape;1471;p17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2" name="Google Shape;1472;p17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3000"/>
            </a:lvl9pPr>
          </a:lstStyle>
          <a:p/>
        </p:txBody>
      </p:sp>
      <p:sp>
        <p:nvSpPr>
          <p:cNvPr id="1473" name="Google Shape;1473;p17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  <p:sp>
        <p:nvSpPr>
          <p:cNvPr id="1474" name="Google Shape;1474;p17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  <p:sp>
        <p:nvSpPr>
          <p:cNvPr id="1475" name="Google Shape;1475;p17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  <p:sp>
        <p:nvSpPr>
          <p:cNvPr id="1476" name="Google Shape;1476;p17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79" name="Google Shape;1479;p1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0" name="Google Shape;1480;p17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1_Two storyboards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8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83" name="Google Shape;1483;p18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4" name="Google Shape;1484;p18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5" name="Google Shape;1485;p18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86" name="Google Shape;1486;p1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7" name="Google Shape;1487;p1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88" name="Google Shape;1488;p18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89" name="Google Shape;1489;p18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1_Three storyboards"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8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92" name="Google Shape;1492;p18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3" name="Google Shape;1493;p18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4" name="Google Shape;1494;p18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95" name="Google Shape;1495;p18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6" name="Google Shape;1496;p18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1497" name="Google Shape;1497;p1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8" name="Google Shape;1498;p1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99" name="Google Shape;1499;p18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00" name="Google Shape;1500;p18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01" name="Google Shape;1501;p18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1_Image only"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8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504" name="Google Shape;1504;p1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1_Image grid"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7" name="Google Shape;1507;p18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8" name="Google Shape;1508;p18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9" name="Google Shape;1509;p18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0" name="Google Shape;1510;p18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1" name="Google Shape;1511;p18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2" name="Google Shape;1512;p18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3" name="Google Shape;1513;p183"/>
          <p:cNvSpPr txBox="1"/>
          <p:nvPr>
            <p:ph type="title"/>
          </p:nvPr>
        </p:nvSpPr>
        <p:spPr>
          <a:xfrm>
            <a:off x="351550" y="445025"/>
            <a:ext cx="2596800" cy="6232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514" name="Google Shape;1514;p18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5" name="Google Shape;1515;p18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6" name="Google Shape;1516;p18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173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54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56.xml"/><Relationship Id="rId3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40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3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theme" Target="../theme/theme4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0.xml"/><Relationship Id="rId42" Type="http://schemas.openxmlformats.org/officeDocument/2006/relationships/slideLayout" Target="../slideLayouts/slideLayout162.xml"/><Relationship Id="rId41" Type="http://schemas.openxmlformats.org/officeDocument/2006/relationships/slideLayout" Target="../slideLayouts/slideLayout161.xml"/><Relationship Id="rId44" Type="http://schemas.openxmlformats.org/officeDocument/2006/relationships/slideLayout" Target="../slideLayouts/slideLayout164.xml"/><Relationship Id="rId43" Type="http://schemas.openxmlformats.org/officeDocument/2006/relationships/slideLayout" Target="../slideLayouts/slideLayout163.xml"/><Relationship Id="rId46" Type="http://schemas.openxmlformats.org/officeDocument/2006/relationships/slideLayout" Target="../slideLayouts/slideLayout166.xml"/><Relationship Id="rId45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48" Type="http://schemas.openxmlformats.org/officeDocument/2006/relationships/slideLayout" Target="../slideLayouts/slideLayout168.xml"/><Relationship Id="rId47" Type="http://schemas.openxmlformats.org/officeDocument/2006/relationships/slideLayout" Target="../slideLayouts/slideLayout167.xml"/><Relationship Id="rId49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8.xml"/><Relationship Id="rId31" Type="http://schemas.openxmlformats.org/officeDocument/2006/relationships/slideLayout" Target="../slideLayouts/slideLayout151.xml"/><Relationship Id="rId30" Type="http://schemas.openxmlformats.org/officeDocument/2006/relationships/slideLayout" Target="../slideLayouts/slideLayout150.xml"/><Relationship Id="rId33" Type="http://schemas.openxmlformats.org/officeDocument/2006/relationships/slideLayout" Target="../slideLayouts/slideLayout153.xml"/><Relationship Id="rId32" Type="http://schemas.openxmlformats.org/officeDocument/2006/relationships/slideLayout" Target="../slideLayouts/slideLayout152.xml"/><Relationship Id="rId35" Type="http://schemas.openxmlformats.org/officeDocument/2006/relationships/slideLayout" Target="../slideLayouts/slideLayout155.xml"/><Relationship Id="rId34" Type="http://schemas.openxmlformats.org/officeDocument/2006/relationships/slideLayout" Target="../slideLayouts/slideLayout154.xml"/><Relationship Id="rId37" Type="http://schemas.openxmlformats.org/officeDocument/2006/relationships/slideLayout" Target="../slideLayouts/slideLayout157.xml"/><Relationship Id="rId36" Type="http://schemas.openxmlformats.org/officeDocument/2006/relationships/slideLayout" Target="../slideLayouts/slideLayout156.xml"/><Relationship Id="rId39" Type="http://schemas.openxmlformats.org/officeDocument/2006/relationships/slideLayout" Target="../slideLayouts/slideLayout159.xml"/><Relationship Id="rId3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40.xml"/><Relationship Id="rId22" Type="http://schemas.openxmlformats.org/officeDocument/2006/relationships/slideLayout" Target="../slideLayouts/slideLayout142.xml"/><Relationship Id="rId21" Type="http://schemas.openxmlformats.org/officeDocument/2006/relationships/slideLayout" Target="../slideLayouts/slideLayout141.xml"/><Relationship Id="rId24" Type="http://schemas.openxmlformats.org/officeDocument/2006/relationships/slideLayout" Target="../slideLayouts/slideLayout144.xml"/><Relationship Id="rId23" Type="http://schemas.openxmlformats.org/officeDocument/2006/relationships/slideLayout" Target="../slideLayouts/slideLayout143.xml"/><Relationship Id="rId60" Type="http://schemas.openxmlformats.org/officeDocument/2006/relationships/theme" Target="../theme/theme2.xml"/><Relationship Id="rId26" Type="http://schemas.openxmlformats.org/officeDocument/2006/relationships/slideLayout" Target="../slideLayouts/slideLayout146.xml"/><Relationship Id="rId25" Type="http://schemas.openxmlformats.org/officeDocument/2006/relationships/slideLayout" Target="../slideLayouts/slideLayout145.xml"/><Relationship Id="rId28" Type="http://schemas.openxmlformats.org/officeDocument/2006/relationships/slideLayout" Target="../slideLayouts/slideLayout148.xml"/><Relationship Id="rId27" Type="http://schemas.openxmlformats.org/officeDocument/2006/relationships/slideLayout" Target="../slideLayouts/slideLayout147.xml"/><Relationship Id="rId29" Type="http://schemas.openxmlformats.org/officeDocument/2006/relationships/slideLayout" Target="../slideLayouts/slideLayout149.xml"/><Relationship Id="rId51" Type="http://schemas.openxmlformats.org/officeDocument/2006/relationships/slideLayout" Target="../slideLayouts/slideLayout171.xml"/><Relationship Id="rId50" Type="http://schemas.openxmlformats.org/officeDocument/2006/relationships/slideLayout" Target="../slideLayouts/slideLayout170.xml"/><Relationship Id="rId53" Type="http://schemas.openxmlformats.org/officeDocument/2006/relationships/slideLayout" Target="../slideLayouts/slideLayout173.xml"/><Relationship Id="rId5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31.xml"/><Relationship Id="rId55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30.xml"/><Relationship Id="rId5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33.xml"/><Relationship Id="rId5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32.xml"/><Relationship Id="rId5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35.xml"/><Relationship Id="rId5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34.xml"/><Relationship Id="rId5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37.xml"/><Relationship Id="rId16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4" name="Google Shape;334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21" name="Google Shape;62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64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ella Respira"/>
              <a:buNone/>
              <a:defRPr b="1" i="0" sz="32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ella Respira"/>
              <a:buNone/>
              <a:defRPr b="0" i="0" sz="2100" u="none" cap="none" strike="noStrike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070" name="Google Shape;1070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buClr>
                <a:schemeClr val="dk1"/>
              </a:buClr>
              <a:buSzPts val="1000"/>
              <a:buFont typeface="DM Sans"/>
              <a:buNone/>
              <a:defRPr b="0"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124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8" r:id="rId21"/>
    <p:sldLayoutId id="2147483789" r:id="rId22"/>
    <p:sldLayoutId id="2147483790" r:id="rId23"/>
    <p:sldLayoutId id="2147483791" r:id="rId24"/>
    <p:sldLayoutId id="2147483792" r:id="rId25"/>
    <p:sldLayoutId id="2147483793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  <p:sldLayoutId id="2147483800" r:id="rId33"/>
    <p:sldLayoutId id="2147483801" r:id="rId34"/>
    <p:sldLayoutId id="2147483802" r:id="rId35"/>
    <p:sldLayoutId id="2147483803" r:id="rId36"/>
    <p:sldLayoutId id="2147483804" r:id="rId37"/>
    <p:sldLayoutId id="2147483805" r:id="rId38"/>
    <p:sldLayoutId id="2147483806" r:id="rId39"/>
    <p:sldLayoutId id="2147483807" r:id="rId40"/>
    <p:sldLayoutId id="2147483808" r:id="rId41"/>
    <p:sldLayoutId id="2147483809" r:id="rId42"/>
    <p:sldLayoutId id="2147483810" r:id="rId43"/>
    <p:sldLayoutId id="2147483811" r:id="rId44"/>
    <p:sldLayoutId id="2147483812" r:id="rId45"/>
    <p:sldLayoutId id="2147483813" r:id="rId46"/>
    <p:sldLayoutId id="2147483814" r:id="rId47"/>
    <p:sldLayoutId id="2147483815" r:id="rId48"/>
    <p:sldLayoutId id="2147483816" r:id="rId49"/>
    <p:sldLayoutId id="2147483817" r:id="rId50"/>
    <p:sldLayoutId id="2147483818" r:id="rId51"/>
    <p:sldLayoutId id="2147483819" r:id="rId52"/>
    <p:sldLayoutId id="2147483820" r:id="rId53"/>
    <p:sldLayoutId id="2147483821" r:id="rId54"/>
    <p:sldLayoutId id="2147483822" r:id="rId55"/>
    <p:sldLayoutId id="2147483823" r:id="rId56"/>
    <p:sldLayoutId id="2147483824" r:id="rId57"/>
    <p:sldLayoutId id="2147483825" r:id="rId58"/>
    <p:sldLayoutId id="214748382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84"/>
          <p:cNvSpPr txBox="1"/>
          <p:nvPr>
            <p:ph type="title"/>
          </p:nvPr>
        </p:nvSpPr>
        <p:spPr>
          <a:xfrm>
            <a:off x="244425" y="320100"/>
            <a:ext cx="57969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u="sng"/>
              <a:t>Final Project</a:t>
            </a:r>
            <a:endParaRPr sz="6000" u="sng"/>
          </a:p>
        </p:txBody>
      </p:sp>
      <p:sp>
        <p:nvSpPr>
          <p:cNvPr id="1522" name="Google Shape;1522;p184"/>
          <p:cNvSpPr txBox="1"/>
          <p:nvPr>
            <p:ph idx="2" type="body"/>
          </p:nvPr>
        </p:nvSpPr>
        <p:spPr>
          <a:xfrm>
            <a:off x="352200" y="3509675"/>
            <a:ext cx="4219800" cy="11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KELOMPOK 3B BATCH 19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MySkill Final Project Data Analyst Batch 19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23" name="Google Shape;1523;p18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4" name="Google Shape;1524;p184"/>
          <p:cNvSpPr txBox="1"/>
          <p:nvPr>
            <p:ph type="title"/>
          </p:nvPr>
        </p:nvSpPr>
        <p:spPr>
          <a:xfrm>
            <a:off x="305925" y="1459950"/>
            <a:ext cx="5130900" cy="22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Data </a:t>
            </a:r>
            <a:r>
              <a:rPr lang="en" sz="4500"/>
              <a:t>Analysis</a:t>
            </a:r>
            <a:r>
              <a:rPr lang="en" sz="4500"/>
              <a:t> </a:t>
            </a:r>
            <a:r>
              <a:rPr lang="en" sz="4500"/>
              <a:t>Menggunakan</a:t>
            </a:r>
            <a:r>
              <a:rPr lang="en" sz="4500"/>
              <a:t> SQL</a:t>
            </a:r>
            <a:endParaRPr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85"/>
          <p:cNvSpPr txBox="1"/>
          <p:nvPr>
            <p:ph type="title"/>
          </p:nvPr>
        </p:nvSpPr>
        <p:spPr>
          <a:xfrm>
            <a:off x="689900" y="1829700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Anggota Kelompok</a:t>
            </a:r>
            <a:endParaRPr/>
          </a:p>
        </p:txBody>
      </p:sp>
      <p:sp>
        <p:nvSpPr>
          <p:cNvPr id="1530" name="Google Shape;1530;p185"/>
          <p:cNvSpPr txBox="1"/>
          <p:nvPr>
            <p:ph idx="4294967295" type="body"/>
          </p:nvPr>
        </p:nvSpPr>
        <p:spPr>
          <a:xfrm>
            <a:off x="4725800" y="870825"/>
            <a:ext cx="3754500" cy="3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Ahmad Noval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Bre Syarestaji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Imaduddin Nugraha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Adhitama Ihza Pangestu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Dian Novi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Hafizhoh Nur Azimah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Marcellin Suciadi Wijaya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Nabila Ayu Kusuma</a:t>
            </a:r>
            <a:endParaRPr sz="1800"/>
          </a:p>
        </p:txBody>
      </p:sp>
      <p:sp>
        <p:nvSpPr>
          <p:cNvPr id="1531" name="Google Shape;1531;p185"/>
          <p:cNvSpPr/>
          <p:nvPr/>
        </p:nvSpPr>
        <p:spPr>
          <a:xfrm rot="-1080503">
            <a:off x="280523" y="704607"/>
            <a:ext cx="968443" cy="968443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2" name="Google Shape;1532;p185"/>
          <p:cNvSpPr/>
          <p:nvPr/>
        </p:nvSpPr>
        <p:spPr>
          <a:xfrm>
            <a:off x="403100" y="827175"/>
            <a:ext cx="723300" cy="7233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3" name="Google Shape;1533;p185"/>
          <p:cNvSpPr/>
          <p:nvPr/>
        </p:nvSpPr>
        <p:spPr>
          <a:xfrm>
            <a:off x="1194700" y="1031625"/>
            <a:ext cx="314400" cy="314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4" name="Google Shape;1534;p185"/>
          <p:cNvSpPr/>
          <p:nvPr/>
        </p:nvSpPr>
        <p:spPr>
          <a:xfrm rot="943209">
            <a:off x="552659" y="389669"/>
            <a:ext cx="314462" cy="31446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5" name="Google Shape;1535;p185"/>
          <p:cNvSpPr/>
          <p:nvPr/>
        </p:nvSpPr>
        <p:spPr>
          <a:xfrm>
            <a:off x="1270900" y="955425"/>
            <a:ext cx="213300" cy="213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536" name="Google Shape;1536;p185"/>
          <p:cNvCxnSpPr/>
          <p:nvPr/>
        </p:nvCxnSpPr>
        <p:spPr>
          <a:xfrm>
            <a:off x="4390700" y="359275"/>
            <a:ext cx="0" cy="439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u="sng"/>
              <a:t>Skema Tabel</a:t>
            </a:r>
            <a:endParaRPr sz="4200" u="sng"/>
          </a:p>
        </p:txBody>
      </p:sp>
      <p:sp>
        <p:nvSpPr>
          <p:cNvPr id="1542" name="Google Shape;1542;p186"/>
          <p:cNvSpPr txBox="1"/>
          <p:nvPr>
            <p:ph idx="1" type="body"/>
          </p:nvPr>
        </p:nvSpPr>
        <p:spPr>
          <a:xfrm>
            <a:off x="311700" y="1322438"/>
            <a:ext cx="4473900" cy="30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Dataset yang akan digunakan: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order_detail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customer_detail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sku_detail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payment_detail</a:t>
            </a:r>
            <a:endParaRPr sz="1400"/>
          </a:p>
        </p:txBody>
      </p:sp>
      <p:pic>
        <p:nvPicPr>
          <p:cNvPr id="1543" name="Google Shape;1543;p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601" y="1017719"/>
            <a:ext cx="3840300" cy="35440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4" name="Google Shape;1544;p186"/>
          <p:cNvGrpSpPr/>
          <p:nvPr/>
        </p:nvGrpSpPr>
        <p:grpSpPr>
          <a:xfrm rot="-797148">
            <a:off x="593088" y="3367152"/>
            <a:ext cx="1253354" cy="1253354"/>
            <a:chOff x="430258" y="3530176"/>
            <a:chExt cx="1253400" cy="1253400"/>
          </a:xfrm>
        </p:grpSpPr>
        <p:sp>
          <p:nvSpPr>
            <p:cNvPr id="1545" name="Google Shape;1545;p186"/>
            <p:cNvSpPr/>
            <p:nvPr/>
          </p:nvSpPr>
          <p:spPr>
            <a:xfrm>
              <a:off x="430258" y="3530176"/>
              <a:ext cx="1253400" cy="12534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46" name="Google Shape;1546;p186"/>
            <p:cNvSpPr/>
            <p:nvPr/>
          </p:nvSpPr>
          <p:spPr>
            <a:xfrm>
              <a:off x="618325" y="3693025"/>
              <a:ext cx="877284" cy="263196"/>
            </a:xfrm>
            <a:prstGeom prst="flowChartTermina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47" name="Google Shape;1547;p186"/>
            <p:cNvSpPr/>
            <p:nvPr/>
          </p:nvSpPr>
          <p:spPr>
            <a:xfrm>
              <a:off x="618325" y="4025275"/>
              <a:ext cx="877284" cy="263196"/>
            </a:xfrm>
            <a:prstGeom prst="flowChartTermina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48" name="Google Shape;1548;p186"/>
            <p:cNvSpPr/>
            <p:nvPr/>
          </p:nvSpPr>
          <p:spPr>
            <a:xfrm>
              <a:off x="618313" y="4357525"/>
              <a:ext cx="877284" cy="263196"/>
            </a:xfrm>
            <a:prstGeom prst="flowChartTermina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49" name="Google Shape;1549;p186"/>
          <p:cNvSpPr/>
          <p:nvPr/>
        </p:nvSpPr>
        <p:spPr>
          <a:xfrm>
            <a:off x="1865000" y="4322750"/>
            <a:ext cx="314400" cy="314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0" name="Google Shape;1550;p186"/>
          <p:cNvSpPr/>
          <p:nvPr/>
        </p:nvSpPr>
        <p:spPr>
          <a:xfrm rot="1278118">
            <a:off x="250475" y="3790347"/>
            <a:ext cx="293985" cy="28239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87"/>
          <p:cNvSpPr/>
          <p:nvPr/>
        </p:nvSpPr>
        <p:spPr>
          <a:xfrm>
            <a:off x="1151326" y="141875"/>
            <a:ext cx="77559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latin typeface="DM Sans"/>
                <a:ea typeface="DM Sans"/>
                <a:cs typeface="DM Sans"/>
                <a:sym typeface="DM Sans"/>
              </a:rPr>
              <a:t>Q: Selama transaksi yang terjadi selama 2021, pada bulan apa total nilai transaksi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latin typeface="DM Sans"/>
                <a:ea typeface="DM Sans"/>
                <a:cs typeface="DM Sans"/>
                <a:sym typeface="DM Sans"/>
              </a:rPr>
              <a:t>(after_discount) paling besar? Gunakan is_valid = 1 untuk memfilter data transaksi.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>
                <a:latin typeface="DM Sans"/>
                <a:ea typeface="DM Sans"/>
                <a:cs typeface="DM Sans"/>
                <a:sym typeface="DM Sans"/>
              </a:rPr>
              <a:t>Source table: order_detail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6" name="Google Shape;1556;p187"/>
          <p:cNvSpPr/>
          <p:nvPr/>
        </p:nvSpPr>
        <p:spPr>
          <a:xfrm>
            <a:off x="242454" y="141883"/>
            <a:ext cx="909000" cy="6132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1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7" name="Google Shape;1557;p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00" y="1424275"/>
            <a:ext cx="1508250" cy="307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3800" y="910463"/>
            <a:ext cx="5168675" cy="40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88"/>
          <p:cNvSpPr txBox="1"/>
          <p:nvPr>
            <p:ph idx="1" type="body"/>
          </p:nvPr>
        </p:nvSpPr>
        <p:spPr>
          <a:xfrm>
            <a:off x="415075" y="1335950"/>
            <a:ext cx="3923700" cy="3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B06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select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format_timestamp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'%B'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timestamp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(order_date))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as 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nama_bulan,</a:t>
            </a:r>
            <a:endParaRPr sz="128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sum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(after_discount)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as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total_transaksi</a:t>
            </a:r>
            <a:endParaRPr sz="128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from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`finpro_3.Order_detail`</a:t>
            </a:r>
            <a:endParaRPr sz="1283">
              <a:solidFill>
                <a:srgbClr val="188038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where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order_date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between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'2021-01-01'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and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'2021-12-31'</a:t>
            </a:r>
            <a:endParaRPr sz="1283">
              <a:solidFill>
                <a:srgbClr val="188038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and 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is_valid = </a:t>
            </a:r>
            <a:r>
              <a:rPr lang="en" sz="1283">
                <a:solidFill>
                  <a:srgbClr val="CC0000"/>
                </a:solidFill>
                <a:latin typeface="Roboto Light"/>
                <a:ea typeface="Roboto Light"/>
                <a:cs typeface="Roboto Light"/>
                <a:sym typeface="Roboto Light"/>
              </a:rPr>
              <a:t>1</a:t>
            </a:r>
            <a:endParaRPr sz="1283">
              <a:solidFill>
                <a:srgbClr val="CC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group by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nama_bulan</a:t>
            </a:r>
            <a:endParaRPr sz="128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order by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total_transaksi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desc;</a:t>
            </a:r>
            <a:endParaRPr sz="583">
              <a:solidFill>
                <a:srgbClr val="0000FF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91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1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4" name="Google Shape;1564;p188"/>
          <p:cNvSpPr/>
          <p:nvPr/>
        </p:nvSpPr>
        <p:spPr>
          <a:xfrm>
            <a:off x="231175" y="1139150"/>
            <a:ext cx="4291500" cy="3802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select</a:t>
            </a:r>
            <a:endParaRPr sz="1283">
              <a:solidFill>
                <a:srgbClr val="0000FF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format_timestamp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(</a:t>
            </a:r>
            <a:r>
              <a:rPr lang="en" sz="1283">
                <a:solidFill>
                  <a:srgbClr val="188038"/>
                </a:solidFill>
                <a:latin typeface="DM Sans Light"/>
                <a:ea typeface="DM Sans Light"/>
                <a:cs typeface="DM Sans Light"/>
                <a:sym typeface="DM Sans Light"/>
              </a:rPr>
              <a:t>'%B'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,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timestamp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(order_date))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as 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nama_bulan,</a:t>
            </a:r>
            <a:endParaRPr sz="1283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sum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(after_discount)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as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total_transaksi</a:t>
            </a:r>
            <a:endParaRPr sz="1283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from</a:t>
            </a:r>
            <a:endParaRPr sz="1283">
              <a:solidFill>
                <a:srgbClr val="0000FF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</a:t>
            </a:r>
            <a:r>
              <a:rPr lang="en" sz="1283">
                <a:solidFill>
                  <a:srgbClr val="188038"/>
                </a:solidFill>
                <a:latin typeface="DM Sans Light"/>
                <a:ea typeface="DM Sans Light"/>
                <a:cs typeface="DM Sans Light"/>
                <a:sym typeface="DM Sans Light"/>
              </a:rPr>
              <a:t>`finpro_3.Order_detail`</a:t>
            </a:r>
            <a:endParaRPr sz="1283">
              <a:solidFill>
                <a:srgbClr val="188038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where</a:t>
            </a:r>
            <a:endParaRPr sz="1283">
              <a:solidFill>
                <a:srgbClr val="0000FF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order_date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between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</a:t>
            </a:r>
            <a:r>
              <a:rPr lang="en" sz="1283">
                <a:solidFill>
                  <a:srgbClr val="188038"/>
                </a:solidFill>
                <a:latin typeface="DM Sans Light"/>
                <a:ea typeface="DM Sans Light"/>
                <a:cs typeface="DM Sans Light"/>
                <a:sym typeface="DM Sans Light"/>
              </a:rPr>
              <a:t>'2021-01-01'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and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</a:t>
            </a:r>
            <a:r>
              <a:rPr lang="en" sz="1283">
                <a:solidFill>
                  <a:srgbClr val="188038"/>
                </a:solidFill>
                <a:latin typeface="DM Sans Light"/>
                <a:ea typeface="DM Sans Light"/>
                <a:cs typeface="DM Sans Light"/>
                <a:sym typeface="DM Sans Light"/>
              </a:rPr>
              <a:t>'2021-12-31'</a:t>
            </a:r>
            <a:endParaRPr sz="1283">
              <a:solidFill>
                <a:srgbClr val="188038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and </a:t>
            </a: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is_valid = </a:t>
            </a:r>
            <a:r>
              <a:rPr lang="en" sz="1283">
                <a:solidFill>
                  <a:srgbClr val="CC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1</a:t>
            </a:r>
            <a:endParaRPr sz="1283">
              <a:solidFill>
                <a:srgbClr val="CC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group by</a:t>
            </a:r>
            <a:endParaRPr sz="1283">
              <a:solidFill>
                <a:srgbClr val="0000FF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nama_bulan</a:t>
            </a:r>
            <a:endParaRPr sz="1283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order by</a:t>
            </a:r>
            <a:endParaRPr sz="1283">
              <a:solidFill>
                <a:srgbClr val="0000FF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 total_transaksi </a:t>
            </a:r>
            <a:r>
              <a:rPr lang="en" sz="1283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desc;</a:t>
            </a:r>
            <a:endParaRPr sz="14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565" name="Google Shape;1565;p188"/>
          <p:cNvSpPr/>
          <p:nvPr/>
        </p:nvSpPr>
        <p:spPr>
          <a:xfrm>
            <a:off x="231175" y="254775"/>
            <a:ext cx="4291500" cy="78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6" name="Google Shape;1566;p188"/>
          <p:cNvSpPr txBox="1"/>
          <p:nvPr>
            <p:ph type="title"/>
          </p:nvPr>
        </p:nvSpPr>
        <p:spPr>
          <a:xfrm>
            <a:off x="276325" y="37927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318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RESULT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188"/>
          <p:cNvSpPr/>
          <p:nvPr/>
        </p:nvSpPr>
        <p:spPr>
          <a:xfrm>
            <a:off x="4732025" y="276325"/>
            <a:ext cx="4145100" cy="3166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68" name="Google Shape;1568;p188"/>
          <p:cNvPicPr preferRelativeResize="0"/>
          <p:nvPr/>
        </p:nvPicPr>
        <p:blipFill rotWithShape="1">
          <a:blip r:embed="rId3">
            <a:alphaModFix/>
          </a:blip>
          <a:srcRect b="0" l="0" r="0" t="1874"/>
          <a:stretch/>
        </p:blipFill>
        <p:spPr>
          <a:xfrm>
            <a:off x="5017225" y="409187"/>
            <a:ext cx="3533650" cy="26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175" y="3103000"/>
            <a:ext cx="3533700" cy="240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88"/>
          <p:cNvSpPr/>
          <p:nvPr/>
        </p:nvSpPr>
        <p:spPr>
          <a:xfrm>
            <a:off x="4732025" y="3572200"/>
            <a:ext cx="4145100" cy="136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571" name="Google Shape;1571;p188"/>
          <p:cNvSpPr txBox="1"/>
          <p:nvPr/>
        </p:nvSpPr>
        <p:spPr>
          <a:xfrm>
            <a:off x="4912925" y="3629200"/>
            <a:ext cx="39237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Berdasarkan hasil yang tertera pada tabel di atas, dapat dilihat bahwa total nilai transaksi yang paling besar selama tahun 2021 berada pada bulan Agustus, yaitu sebesar:</a:t>
            </a:r>
            <a:endParaRPr sz="13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91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Rp 227.862.744,0</a:t>
            </a:r>
            <a:endParaRPr sz="1600">
              <a:solidFill>
                <a:srgbClr val="000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89"/>
          <p:cNvSpPr txBox="1"/>
          <p:nvPr>
            <p:ph idx="1" type="body"/>
          </p:nvPr>
        </p:nvSpPr>
        <p:spPr>
          <a:xfrm>
            <a:off x="415075" y="1335950"/>
            <a:ext cx="3923700" cy="3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B06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select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format_timestamp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'%B'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timestamp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(order_date))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as 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nama_bulan,</a:t>
            </a:r>
            <a:endParaRPr sz="128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sum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(after_discount)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as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total_transaksi</a:t>
            </a:r>
            <a:endParaRPr sz="128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from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`finpro_3.Order_detail`</a:t>
            </a:r>
            <a:endParaRPr sz="1283">
              <a:solidFill>
                <a:srgbClr val="188038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where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order_date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between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'2021-01-01'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and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283">
                <a:solidFill>
                  <a:srgbClr val="188038"/>
                </a:solidFill>
                <a:latin typeface="Roboto Light"/>
                <a:ea typeface="Roboto Light"/>
                <a:cs typeface="Roboto Light"/>
                <a:sym typeface="Roboto Light"/>
              </a:rPr>
              <a:t>'2021-12-31'</a:t>
            </a:r>
            <a:endParaRPr sz="1283">
              <a:solidFill>
                <a:srgbClr val="188038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and </a:t>
            </a: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is_valid = </a:t>
            </a:r>
            <a:r>
              <a:rPr lang="en" sz="1283">
                <a:solidFill>
                  <a:srgbClr val="CC0000"/>
                </a:solidFill>
                <a:latin typeface="Roboto Light"/>
                <a:ea typeface="Roboto Light"/>
                <a:cs typeface="Roboto Light"/>
                <a:sym typeface="Roboto Light"/>
              </a:rPr>
              <a:t>1</a:t>
            </a:r>
            <a:endParaRPr sz="1283">
              <a:solidFill>
                <a:srgbClr val="CC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group by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nama_bulan</a:t>
            </a:r>
            <a:endParaRPr sz="128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order by</a:t>
            </a:r>
            <a:endParaRPr sz="1283">
              <a:solidFill>
                <a:srgbClr val="0000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total_transaksi </a:t>
            </a:r>
            <a:r>
              <a:rPr lang="en" sz="1283">
                <a:solidFill>
                  <a:srgbClr val="0000FF"/>
                </a:solidFill>
                <a:latin typeface="Roboto Light"/>
                <a:ea typeface="Roboto Light"/>
                <a:cs typeface="Roboto Light"/>
                <a:sym typeface="Roboto Light"/>
              </a:rPr>
              <a:t>desc;</a:t>
            </a:r>
            <a:endParaRPr sz="583">
              <a:solidFill>
                <a:srgbClr val="0000FF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91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1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77" name="Google Shape;1577;p189"/>
          <p:cNvSpPr/>
          <p:nvPr/>
        </p:nvSpPr>
        <p:spPr>
          <a:xfrm>
            <a:off x="231175" y="1139150"/>
            <a:ext cx="4291500" cy="380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578" name="Google Shape;1578;p189"/>
          <p:cNvSpPr/>
          <p:nvPr/>
        </p:nvSpPr>
        <p:spPr>
          <a:xfrm>
            <a:off x="231175" y="254775"/>
            <a:ext cx="4291500" cy="78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9" name="Google Shape;1579;p189"/>
          <p:cNvSpPr txBox="1"/>
          <p:nvPr>
            <p:ph type="title"/>
          </p:nvPr>
        </p:nvSpPr>
        <p:spPr>
          <a:xfrm>
            <a:off x="276325" y="37927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318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RESULT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89"/>
          <p:cNvSpPr/>
          <p:nvPr/>
        </p:nvSpPr>
        <p:spPr>
          <a:xfrm>
            <a:off x="4953425" y="276325"/>
            <a:ext cx="3923700" cy="3166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81" name="Google Shape;1581;p189"/>
          <p:cNvGrpSpPr/>
          <p:nvPr/>
        </p:nvGrpSpPr>
        <p:grpSpPr>
          <a:xfrm>
            <a:off x="5169575" y="409187"/>
            <a:ext cx="3533700" cy="2934250"/>
            <a:chOff x="5017175" y="409187"/>
            <a:chExt cx="3533700" cy="2934250"/>
          </a:xfrm>
        </p:grpSpPr>
        <p:pic>
          <p:nvPicPr>
            <p:cNvPr id="1582" name="Google Shape;1582;p189"/>
            <p:cNvPicPr preferRelativeResize="0"/>
            <p:nvPr/>
          </p:nvPicPr>
          <p:blipFill rotWithShape="1">
            <a:blip r:embed="rId3">
              <a:alphaModFix/>
            </a:blip>
            <a:srcRect b="0" l="0" r="0" t="1874"/>
            <a:stretch/>
          </p:blipFill>
          <p:spPr>
            <a:xfrm>
              <a:off x="5017225" y="409187"/>
              <a:ext cx="3533650" cy="269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3" name="Google Shape;1583;p1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17175" y="3103000"/>
              <a:ext cx="3533700" cy="2404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4" name="Google Shape;1584;p189"/>
          <p:cNvSpPr/>
          <p:nvPr/>
        </p:nvSpPr>
        <p:spPr>
          <a:xfrm>
            <a:off x="4808225" y="3572200"/>
            <a:ext cx="4145100" cy="136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585" name="Google Shape;1585;p189"/>
          <p:cNvSpPr txBox="1"/>
          <p:nvPr/>
        </p:nvSpPr>
        <p:spPr>
          <a:xfrm>
            <a:off x="4989125" y="3629200"/>
            <a:ext cx="39237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Berdasarkan hasil yang tertera pada tabel di atas, dapat dilihat bahwa total nilai transaksi yang paling besar selama tahun 2021 berada pada bulan Agustus, yaitu sebesar:</a:t>
            </a:r>
            <a:endParaRPr sz="13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91">
                <a:solidFill>
                  <a:srgbClr val="0000FF"/>
                </a:solidFill>
                <a:latin typeface="DM Sans Light"/>
                <a:ea typeface="DM Sans Light"/>
                <a:cs typeface="DM Sans Light"/>
                <a:sym typeface="DM Sans Light"/>
              </a:rPr>
              <a:t>Rp 227.862.744,0</a:t>
            </a:r>
            <a:endParaRPr sz="1600">
              <a:solidFill>
                <a:srgbClr val="000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86" name="Google Shape;1586;p1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39150"/>
            <a:ext cx="4558050" cy="307387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90"/>
          <p:cNvSpPr/>
          <p:nvPr/>
        </p:nvSpPr>
        <p:spPr>
          <a:xfrm>
            <a:off x="-57700" y="-121625"/>
            <a:ext cx="9460800" cy="5314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2" name="Google Shape;1592;p190"/>
          <p:cNvSpPr/>
          <p:nvPr/>
        </p:nvSpPr>
        <p:spPr>
          <a:xfrm>
            <a:off x="909000" y="34475"/>
            <a:ext cx="81444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DE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190"/>
          <p:cNvSpPr txBox="1"/>
          <p:nvPr/>
        </p:nvSpPr>
        <p:spPr>
          <a:xfrm>
            <a:off x="970675" y="103600"/>
            <a:ext cx="81444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latin typeface="DM Sans"/>
                <a:ea typeface="DM Sans"/>
                <a:cs typeface="DM Sans"/>
                <a:sym typeface="DM Sans"/>
              </a:rPr>
              <a:t>Q: Selama transaksi pada tahun 2022, kategori apa yang menghasilkan nilai transaksi paling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latin typeface="DM Sans"/>
                <a:ea typeface="DM Sans"/>
                <a:cs typeface="DM Sans"/>
                <a:sym typeface="DM Sans"/>
              </a:rPr>
              <a:t>besar? Gunakan is_valid = 1 untuk memfilter data transaksi.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latin typeface="DM Sans"/>
                <a:ea typeface="DM Sans"/>
                <a:cs typeface="DM Sans"/>
                <a:sym typeface="DM Sans"/>
              </a:rPr>
              <a:t>Source table: order_detail, sku_detail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4" name="Google Shape;1594;p190"/>
          <p:cNvSpPr/>
          <p:nvPr/>
        </p:nvSpPr>
        <p:spPr>
          <a:xfrm>
            <a:off x="4" y="34483"/>
            <a:ext cx="909000" cy="6132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2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5" name="Google Shape;1595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50" y="1779727"/>
            <a:ext cx="2714625" cy="2298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6" name="Google Shape;1596;p190"/>
          <p:cNvGraphicFramePr/>
          <p:nvPr/>
        </p:nvGraphicFramePr>
        <p:xfrm>
          <a:off x="3102050" y="75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{BD3EDBA6-8B1A-48BA-8A7B-041277E2EA4D}</a:tableStyleId>
              </a:tblPr>
              <a:tblGrid>
                <a:gridCol w="2627700"/>
                <a:gridCol w="3294875"/>
              </a:tblGrid>
              <a:tr h="34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Query Code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select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s.category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kategori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,</a:t>
                      </a:r>
                      <a:endParaRPr sz="700">
                        <a:solidFill>
                          <a:srgbClr val="202124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sum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o.after_discount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transaksi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elect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s.category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kategori: Mengambil kolom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category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dari tabel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sku_detail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serta memberikan alias kategori.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select sum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o.after_discount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transaksi: Menjumlahkan total nilai transaksi dari kolom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after_discount</a:t>
                      </a:r>
                      <a:r>
                        <a:rPr i="1"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dalam tabel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order_detail</a:t>
                      </a:r>
                      <a:r>
                        <a:rPr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dengan memberikan alias </a:t>
                      </a:r>
                      <a:r>
                        <a:rPr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transaksi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yang mewakili total transaksi setiap kategorinya.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from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`dataset_FinPro19.order_detail`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left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join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`dataset_FinPro19.sku_detail`</a:t>
                      </a:r>
                      <a:endParaRPr sz="7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ON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s.id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o.sku_id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from</a:t>
                      </a:r>
                      <a:r>
                        <a:rPr lang="en" sz="7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`dataset_FinPro19.order_detail`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o: Menentukan tabel yang digunakan yaitu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order_detail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pada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dataset_finpro19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left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join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`dataset_FinPro19.sku_detail`</a:t>
                      </a:r>
                      <a:endParaRPr sz="7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ON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s.id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o.sku_id: Query yang digunakan untuk menghubungkan tabel </a:t>
                      </a:r>
                      <a:r>
                        <a:rPr i="1" lang="en" sz="700">
                          <a:solidFill>
                            <a:srgbClr val="FB574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order_detail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dengan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sku_detail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 Berdasarkan kolom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sku_id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dari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order_detail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dengan kolom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dari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sku_detail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extract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YEAR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FROM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o.order_date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" sz="700">
                          <a:solidFill>
                            <a:srgbClr val="B06000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2022</a:t>
                      </a:r>
                      <a:endParaRPr sz="700">
                        <a:solidFill>
                          <a:srgbClr val="B06000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and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is_valid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" sz="700">
                          <a:solidFill>
                            <a:srgbClr val="B06000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700">
                        <a:solidFill>
                          <a:srgbClr val="B06000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extract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YEAR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FROM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o.order_date</a:t>
                      </a:r>
                      <a:r>
                        <a:rPr lang="en" sz="700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" sz="700">
                          <a:solidFill>
                            <a:srgbClr val="B06000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2022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: Memfilter data transaksi yang terjadi pada tahun 2022 dengan mengekstrak nilai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tahun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dari kolom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order_date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-158750" lvl="0" marL="11430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is_valid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" sz="700">
                          <a:solidFill>
                            <a:srgbClr val="B06000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: Menyertakan transaksi yang valid.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group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by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kategori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by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transaksi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DESC</a:t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1967D2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group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by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kategori: Kelompokkan data berdasarkan kategori (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s.category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 untuk menghitung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total nilai transaksi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per </a:t>
                      </a:r>
                      <a:r>
                        <a:rPr i="1" lang="en" sz="700">
                          <a:solidFill>
                            <a:schemeClr val="accent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kategori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-158750" lvl="0" marL="114300" rtl="0" algn="just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Roboto Mono"/>
                        <a:buChar char="●"/>
                      </a:pP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by 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transaksi</a:t>
                      </a:r>
                      <a:r>
                        <a:rPr lang="en" sz="7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" sz="700">
                          <a:solidFill>
                            <a:srgbClr val="1967D2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DESC</a:t>
                      </a:r>
                      <a:r>
                        <a:rPr lang="en" sz="7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: Mengurutkan hasil berdasarkan nilai transaksi dari urutan terbesar ke terkecil.</a:t>
                      </a:r>
                      <a:endParaRPr sz="7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97" name="Google Shape;1597;p190"/>
          <p:cNvSpPr txBox="1"/>
          <p:nvPr/>
        </p:nvSpPr>
        <p:spPr>
          <a:xfrm>
            <a:off x="907275" y="1279100"/>
            <a:ext cx="10503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latin typeface="DM Sans"/>
                <a:ea typeface="DM Sans"/>
                <a:cs typeface="DM Sans"/>
                <a:sym typeface="DM Sans"/>
              </a:rPr>
              <a:t>Query</a:t>
            </a:r>
            <a:endParaRPr b="1" i="1"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91"/>
          <p:cNvSpPr/>
          <p:nvPr/>
        </p:nvSpPr>
        <p:spPr>
          <a:xfrm>
            <a:off x="-93650" y="-128825"/>
            <a:ext cx="9460800" cy="5314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3" name="Google Shape;1603;p191"/>
          <p:cNvSpPr/>
          <p:nvPr/>
        </p:nvSpPr>
        <p:spPr>
          <a:xfrm>
            <a:off x="909000" y="34475"/>
            <a:ext cx="81444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DE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191"/>
          <p:cNvSpPr txBox="1"/>
          <p:nvPr/>
        </p:nvSpPr>
        <p:spPr>
          <a:xfrm>
            <a:off x="970675" y="256000"/>
            <a:ext cx="81444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Lexend"/>
                <a:ea typeface="Lexend"/>
                <a:cs typeface="Lexend"/>
                <a:sym typeface="Lexend"/>
              </a:rPr>
              <a:t>RESULT</a:t>
            </a:r>
            <a:endParaRPr b="1" sz="3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191"/>
          <p:cNvSpPr/>
          <p:nvPr/>
        </p:nvSpPr>
        <p:spPr>
          <a:xfrm>
            <a:off x="4" y="34483"/>
            <a:ext cx="909000" cy="6132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2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6" name="Google Shape;1606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75" y="837875"/>
            <a:ext cx="3790950" cy="3228975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7" name="Google Shape;1607;p191"/>
          <p:cNvSpPr/>
          <p:nvPr/>
        </p:nvSpPr>
        <p:spPr>
          <a:xfrm>
            <a:off x="4357275" y="848788"/>
            <a:ext cx="4522800" cy="1369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Berdasarkan hasil query dari tabel disamping, dapat dilihat bahwa  kategori yang menghasilkan transaksi paling besar adalah </a:t>
            </a:r>
            <a:r>
              <a:rPr b="1" lang="en" sz="139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Mobiles &amp; Tablets</a:t>
            </a:r>
            <a:r>
              <a:rPr lang="en" sz="1391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dengan total transaksi yaitu sebesar </a:t>
            </a:r>
            <a:r>
              <a:rPr b="1" lang="en" sz="139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Rp. 918.451.576.0,-</a:t>
            </a:r>
            <a:r>
              <a:rPr lang="en" sz="1391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 </a:t>
            </a:r>
            <a:endParaRPr sz="1391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id="1608" name="Google Shape;1608;p1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675" y="2371976"/>
            <a:ext cx="4089047" cy="2728025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192"/>
          <p:cNvGrpSpPr/>
          <p:nvPr/>
        </p:nvGrpSpPr>
        <p:grpSpPr>
          <a:xfrm>
            <a:off x="944025" y="198225"/>
            <a:ext cx="7789536" cy="1541786"/>
            <a:chOff x="1103964" y="219402"/>
            <a:chExt cx="8114100" cy="1541786"/>
          </a:xfrm>
        </p:grpSpPr>
        <p:sp>
          <p:nvSpPr>
            <p:cNvPr id="1614" name="Google Shape;1614;p192"/>
            <p:cNvSpPr/>
            <p:nvPr/>
          </p:nvSpPr>
          <p:spPr>
            <a:xfrm>
              <a:off x="1103964" y="219402"/>
              <a:ext cx="8114100" cy="1012500"/>
            </a:xfrm>
            <a:prstGeom prst="roundRect">
              <a:avLst>
                <a:gd fmla="val 16667" name="adj"/>
              </a:avLst>
            </a:prstGeom>
            <a:solidFill>
              <a:srgbClr val="DBEFF1"/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2DE9C"/>
                </a:solidFill>
              </a:endParaRPr>
            </a:p>
          </p:txBody>
        </p:sp>
        <p:sp>
          <p:nvSpPr>
            <p:cNvPr id="1615" name="Google Shape;1615;p192"/>
            <p:cNvSpPr txBox="1"/>
            <p:nvPr/>
          </p:nvSpPr>
          <p:spPr>
            <a:xfrm>
              <a:off x="1422925" y="229988"/>
              <a:ext cx="7257600" cy="15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Q:  Bandingkan nilai transaksi dari masing-masing kategori pada tahun 2021 dengan 2022. Sebutkan kategori apa saja yang mengalami peningkatan dan kategori apa yang mengalami penurunan nilai transaksi dari tahun 2021 ke 2022. Gunakan is_valid = 1 untuk memfilter data transaksi.</a:t>
              </a:r>
              <a:endParaRPr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16" name="Google Shape;1616;p192"/>
          <p:cNvSpPr/>
          <p:nvPr/>
        </p:nvSpPr>
        <p:spPr>
          <a:xfrm>
            <a:off x="249304" y="424308"/>
            <a:ext cx="909000" cy="6132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3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7" name="Google Shape;1617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5" y="1740000"/>
            <a:ext cx="4917475" cy="2838276"/>
          </a:xfrm>
          <a:prstGeom prst="rect">
            <a:avLst/>
          </a:prstGeom>
          <a:noFill/>
          <a:ln cap="flat" cmpd="sng" w="190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8" name="Google Shape;1618;p192"/>
          <p:cNvSpPr txBox="1"/>
          <p:nvPr/>
        </p:nvSpPr>
        <p:spPr>
          <a:xfrm>
            <a:off x="1868300" y="1133800"/>
            <a:ext cx="11925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QUERY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9" name="Google Shape;1619;p192"/>
          <p:cNvSpPr txBox="1"/>
          <p:nvPr/>
        </p:nvSpPr>
        <p:spPr>
          <a:xfrm>
            <a:off x="5248450" y="1591725"/>
            <a:ext cx="3485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Explanation 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Query berikut bertujuan untuk menghitung total penjualan setiap kategori produk pada tahun 2021 - 2022, dan membandingkan total penjualan kategori produk mana saja yang mengalami penurunan atau kenaikan.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 kategori_penjualan AS (...)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merupakan CTE (Common Table Expression) yang berfungsi untuk menyederhanakan query yang kompleks.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0" name="Google Shape;1620;p192"/>
          <p:cNvSpPr/>
          <p:nvPr/>
        </p:nvSpPr>
        <p:spPr>
          <a:xfrm>
            <a:off x="7812600" y="4533925"/>
            <a:ext cx="730200" cy="4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next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93"/>
          <p:cNvSpPr/>
          <p:nvPr/>
        </p:nvSpPr>
        <p:spPr>
          <a:xfrm>
            <a:off x="1137150" y="390075"/>
            <a:ext cx="7596600" cy="4884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2DE9C"/>
                </a:solidFill>
              </a:rPr>
              <a:t>	</a:t>
            </a:r>
            <a:r>
              <a:rPr b="1" lang="en">
                <a:solidFill>
                  <a:schemeClr val="dk1"/>
                </a:solidFill>
              </a:rPr>
              <a:t>QUERY EXPLANATION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26" name="Google Shape;1626;p193"/>
          <p:cNvSpPr/>
          <p:nvPr/>
        </p:nvSpPr>
        <p:spPr>
          <a:xfrm>
            <a:off x="418654" y="327683"/>
            <a:ext cx="909000" cy="6132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3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193"/>
          <p:cNvSpPr txBox="1"/>
          <p:nvPr/>
        </p:nvSpPr>
        <p:spPr>
          <a:xfrm>
            <a:off x="418650" y="1151675"/>
            <a:ext cx="3591000" cy="3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SELECT sku.category AS kategori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berfungsi untuk memanggil tabel kategori yang berada di dalam tabel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sku_detail</a:t>
            </a:r>
            <a:endParaRPr i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SUM(CASE WHEN EXTRACT (YEAR from od.order_date = 2021 then after_discount END) as penjualan_2021</a:t>
            </a: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… penjualan_2022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Menghitung jumlah total penjualan tahun 2021 hingga 2022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SUM(CASE WHEN EXTRACT (YEAR from od.order_date = 2022 then after_discount END) - … as differences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Menghitung selisih penjualan 2021 dan 2022 untuk setiap kategori produk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FROM order_detail as od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mengambil data dari tabel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order_detail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lalu memberi alias tabel sebagai od.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8" name="Google Shape;1628;p193"/>
          <p:cNvSpPr/>
          <p:nvPr/>
        </p:nvSpPr>
        <p:spPr>
          <a:xfrm>
            <a:off x="7812600" y="4533925"/>
            <a:ext cx="730200" cy="4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RESULT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9" name="Google Shape;1629;p193"/>
          <p:cNvSpPr txBox="1"/>
          <p:nvPr/>
        </p:nvSpPr>
        <p:spPr>
          <a:xfrm>
            <a:off x="4109550" y="1151675"/>
            <a:ext cx="45411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LEFT JOIN sku_detail as sku on od.sku_id = sku.id 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Menggabungkan tabel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sku_detail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order_detail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dengan mengambil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sku.id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dari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order_detail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dari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sku_detail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sebagai primary key.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WHERE EXTRACT(YEAR from od.order_date) IN (2021,2022) AND is_valid = 1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Memfilter data dari tahun 2021 - 2022 dan hanya berlaku untuk transaksi yang </a:t>
            </a:r>
            <a:r>
              <a:rPr i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GROUP BY sku.category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mengelompokkan data berdasarkan kategori produk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ORDER BY differences DESC </a:t>
            </a: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mengurutkan data berdasarkan hasil selisih penjualan tahun 2021 - 2022 dari yang terbesar ke terkecil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SELECT kategori, penjualan_2021, penjualan_2022, differences,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CASE WHEN penjualan_2022 &lt; penjualan_2021 THEN ‘Turun’ ELSE ‘Naik’ END as status FROM kategori_penjualan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Memanggil query CTE dan menampilkan data dengan kondisi jika penjualan 2022 lebih kecil dari tahun 2021 maka statusnya akan turun dan sebaliknya.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4" name="Google Shape;1634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1427700"/>
            <a:ext cx="5031101" cy="32090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5" name="Google Shape;1635;p194"/>
          <p:cNvSpPr/>
          <p:nvPr/>
        </p:nvSpPr>
        <p:spPr>
          <a:xfrm>
            <a:off x="1137150" y="390075"/>
            <a:ext cx="7596600" cy="4884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D2DE9C"/>
                </a:solidFill>
              </a:rPr>
              <a:t>	</a:t>
            </a:r>
            <a:r>
              <a:rPr b="1" lang="en" sz="2800">
                <a:solidFill>
                  <a:schemeClr val="dk1"/>
                </a:solidFill>
              </a:rPr>
              <a:t>QUERY RESULT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636" name="Google Shape;1636;p194"/>
          <p:cNvSpPr/>
          <p:nvPr/>
        </p:nvSpPr>
        <p:spPr>
          <a:xfrm>
            <a:off x="418654" y="327683"/>
            <a:ext cx="909000" cy="6132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/>
              <a:t>3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194"/>
          <p:cNvSpPr txBox="1"/>
          <p:nvPr/>
        </p:nvSpPr>
        <p:spPr>
          <a:xfrm>
            <a:off x="5354950" y="1381125"/>
            <a:ext cx="3295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Berdasarkan hasil query yang didapatkan, bahwa sebanyak 13 kategori produk mengalami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Kenaikan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penjualan pada tahun 2022.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Dimana kategori produk yang mengalami peningkatan penjualan secara signifikan adalah produk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Mobile &amp; Tablets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Sedangkan untuk kategori produk yang mengalami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penurunan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pada penjualan tahun 2022 adalah </a:t>
            </a: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Books &amp; Others.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8" name="Google Shape;1638;p194"/>
          <p:cNvSpPr txBox="1"/>
          <p:nvPr/>
        </p:nvSpPr>
        <p:spPr>
          <a:xfrm>
            <a:off x="1811150" y="809950"/>
            <a:ext cx="11925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95"/>
          <p:cNvSpPr/>
          <p:nvPr/>
        </p:nvSpPr>
        <p:spPr>
          <a:xfrm>
            <a:off x="1151313" y="141883"/>
            <a:ext cx="72237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Q: Tampilkan top 5 metode pembayaran yang paling populer digunakan selama 2022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(berdasarkan total unique order). Gunakan is_valid = 1 untuk memfilter data transaksi.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table: order_detail, payment_method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195"/>
          <p:cNvSpPr/>
          <p:nvPr/>
        </p:nvSpPr>
        <p:spPr>
          <a:xfrm>
            <a:off x="242454" y="141883"/>
            <a:ext cx="908858" cy="61319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5" name="Google Shape;1645;p195"/>
          <p:cNvGrpSpPr/>
          <p:nvPr/>
        </p:nvGrpSpPr>
        <p:grpSpPr>
          <a:xfrm>
            <a:off x="104584" y="1205347"/>
            <a:ext cx="3354542" cy="3203620"/>
            <a:chOff x="104584" y="1205347"/>
            <a:chExt cx="2555489" cy="2064328"/>
          </a:xfrm>
        </p:grpSpPr>
        <p:sp>
          <p:nvSpPr>
            <p:cNvPr id="1646" name="Google Shape;1646;p195"/>
            <p:cNvSpPr txBox="1"/>
            <p:nvPr/>
          </p:nvSpPr>
          <p:spPr>
            <a:xfrm>
              <a:off x="318655" y="1496291"/>
              <a:ext cx="105546" cy="163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7" name="Google Shape;1647;p1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6628" y="1205347"/>
              <a:ext cx="1024684" cy="20643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8" name="Google Shape;1648;p1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07185" y="1940676"/>
              <a:ext cx="952888" cy="484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9" name="Google Shape;1649;p195"/>
            <p:cNvSpPr/>
            <p:nvPr/>
          </p:nvSpPr>
          <p:spPr>
            <a:xfrm>
              <a:off x="1707185" y="2279073"/>
              <a:ext cx="952888" cy="145922"/>
            </a:xfrm>
            <a:prstGeom prst="rect">
              <a:avLst/>
            </a:prstGeom>
            <a:solidFill>
              <a:srgbClr val="FF0000">
                <a:alpha val="38823"/>
              </a:srgbClr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D2DE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95"/>
            <p:cNvSpPr/>
            <p:nvPr/>
          </p:nvSpPr>
          <p:spPr>
            <a:xfrm>
              <a:off x="140482" y="1375583"/>
              <a:ext cx="1010830" cy="145922"/>
            </a:xfrm>
            <a:prstGeom prst="rect">
              <a:avLst/>
            </a:prstGeom>
            <a:solidFill>
              <a:srgbClr val="FF0000">
                <a:alpha val="38823"/>
              </a:srgbClr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D2DE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95"/>
            <p:cNvSpPr/>
            <p:nvPr/>
          </p:nvSpPr>
          <p:spPr>
            <a:xfrm>
              <a:off x="126628" y="2830310"/>
              <a:ext cx="952888" cy="145922"/>
            </a:xfrm>
            <a:prstGeom prst="rect">
              <a:avLst/>
            </a:prstGeom>
            <a:solidFill>
              <a:srgbClr val="FF0000">
                <a:alpha val="38823"/>
              </a:srgbClr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D2DE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95"/>
            <p:cNvSpPr/>
            <p:nvPr/>
          </p:nvSpPr>
          <p:spPr>
            <a:xfrm>
              <a:off x="162526" y="1666171"/>
              <a:ext cx="952888" cy="145922"/>
            </a:xfrm>
            <a:prstGeom prst="rect">
              <a:avLst/>
            </a:prstGeom>
            <a:solidFill>
              <a:srgbClr val="FF0000">
                <a:alpha val="38823"/>
              </a:srgbClr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D2DE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95"/>
            <p:cNvSpPr/>
            <p:nvPr/>
          </p:nvSpPr>
          <p:spPr>
            <a:xfrm>
              <a:off x="104584" y="3120898"/>
              <a:ext cx="1010830" cy="145922"/>
            </a:xfrm>
            <a:prstGeom prst="rect">
              <a:avLst/>
            </a:prstGeom>
            <a:solidFill>
              <a:srgbClr val="2F79F3">
                <a:alpha val="40000"/>
              </a:srgbClr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D2DE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95"/>
            <p:cNvSpPr/>
            <p:nvPr/>
          </p:nvSpPr>
          <p:spPr>
            <a:xfrm>
              <a:off x="1707185" y="2109874"/>
              <a:ext cx="952888" cy="145922"/>
            </a:xfrm>
            <a:prstGeom prst="rect">
              <a:avLst/>
            </a:prstGeom>
            <a:solidFill>
              <a:srgbClr val="2F79F3">
                <a:alpha val="40000"/>
              </a:srgbClr>
            </a:solidFill>
            <a:ln cap="flat" cmpd="sng" w="25400">
              <a:solidFill>
                <a:srgbClr val="6A27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D2DE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5" name="Google Shape;1655;p195"/>
            <p:cNvCxnSpPr>
              <a:stCxn id="1654" idx="1"/>
              <a:endCxn id="1653" idx="3"/>
            </p:cNvCxnSpPr>
            <p:nvPr/>
          </p:nvCxnSpPr>
          <p:spPr>
            <a:xfrm flipH="1">
              <a:off x="1115285" y="2182835"/>
              <a:ext cx="591900" cy="10110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FB574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56" name="Google Shape;1656;p195"/>
          <p:cNvSpPr txBox="1"/>
          <p:nvPr/>
        </p:nvSpPr>
        <p:spPr>
          <a:xfrm>
            <a:off x="3842462" y="1162691"/>
            <a:ext cx="4915947" cy="28706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Dalam analisa kita membutuhkan data atas kolom yang </a:t>
            </a:r>
            <a:r>
              <a:rPr b="1" i="0" lang="en" sz="1400" u="none" cap="none" strike="noStrike">
                <a:solidFill>
                  <a:srgbClr val="FF9C9C"/>
                </a:solidFill>
                <a:latin typeface="Arial"/>
                <a:ea typeface="Arial"/>
                <a:cs typeface="Arial"/>
                <a:sym typeface="Arial"/>
              </a:rPr>
              <a:t>berwarna merah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Data-data yang akan diambil terpisah dalam 2 </a:t>
            </a:r>
            <a:r>
              <a:rPr lang="en"/>
              <a:t>tabel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berbeda, sehingga harus disatukan terlebih dahulu dengan mencari data yang sama antara 2 table yaitu kolom yang </a:t>
            </a:r>
            <a:r>
              <a:rPr b="1" i="0" lang="en" sz="1400" u="none" cap="none" strike="noStrike">
                <a:solidFill>
                  <a:srgbClr val="2170F2"/>
                </a:solidFill>
                <a:latin typeface="Arial"/>
                <a:ea typeface="Arial"/>
                <a:cs typeface="Arial"/>
                <a:sym typeface="Arial"/>
              </a:rPr>
              <a:t>berwarna biru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sebagai acuan</a:t>
            </a:r>
            <a:endParaRPr b="0" i="0" sz="1400" u="none" cap="none" strike="noStrike">
              <a:solidFill>
                <a:srgbClr val="2170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170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Kemudian </a:t>
            </a:r>
            <a:r>
              <a:rPr lang="en"/>
              <a:t>dikelompokkan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total banyaknya id unik ( tidak ada duplicate), dengan syarat </a:t>
            </a:r>
            <a:endParaRPr sz="1100"/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🡪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order_date tahun = 2022, </a:t>
            </a:r>
            <a:endParaRPr sz="1100"/>
          </a:p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🡪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is_valid =1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Pilih 5 paling besar total id unik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170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170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96"/>
          <p:cNvSpPr/>
          <p:nvPr/>
        </p:nvSpPr>
        <p:spPr>
          <a:xfrm>
            <a:off x="57151" y="34475"/>
            <a:ext cx="9058275" cy="52322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DE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2" name="Google Shape;1662;p196"/>
          <p:cNvPicPr preferRelativeResize="0"/>
          <p:nvPr/>
        </p:nvPicPr>
        <p:blipFill rotWithShape="1">
          <a:blip r:embed="rId3">
            <a:alphaModFix/>
          </a:blip>
          <a:srcRect b="58195" l="0" r="0" t="0"/>
          <a:stretch/>
        </p:blipFill>
        <p:spPr>
          <a:xfrm>
            <a:off x="5520" y="635906"/>
            <a:ext cx="4752508" cy="18297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196"/>
          <p:cNvSpPr txBox="1"/>
          <p:nvPr/>
        </p:nvSpPr>
        <p:spPr>
          <a:xfrm>
            <a:off x="580049" y="2752062"/>
            <a:ext cx="49158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Terlihat hasil query pada table dan kolom diatas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Menunjukkan bahwa metode bayar  5 terfavorit selama tahun 2022 adalah sebagai berikut :</a:t>
            </a:r>
            <a:endParaRPr sz="1100"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cod, 1809 transaksi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Payaxis, 181 transaksi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Customercredit,  75 transaksi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Easypay,  69 transaksi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Jazzwallet, 26 transaksi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170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17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4" name="Google Shape;1664;p196"/>
          <p:cNvPicPr preferRelativeResize="0"/>
          <p:nvPr/>
        </p:nvPicPr>
        <p:blipFill rotWithShape="1">
          <a:blip r:embed="rId3">
            <a:alphaModFix/>
          </a:blip>
          <a:srcRect b="0" l="0" r="0" t="48327"/>
          <a:stretch/>
        </p:blipFill>
        <p:spPr>
          <a:xfrm>
            <a:off x="4572000" y="635906"/>
            <a:ext cx="4336933" cy="206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96"/>
          <p:cNvSpPr/>
          <p:nvPr/>
        </p:nvSpPr>
        <p:spPr>
          <a:xfrm>
            <a:off x="-17607" y="2574021"/>
            <a:ext cx="9207900" cy="69600"/>
          </a:xfrm>
          <a:prstGeom prst="rect">
            <a:avLst/>
          </a:prstGeom>
          <a:solidFill>
            <a:srgbClr val="2170F2"/>
          </a:solidFill>
          <a:ln cap="flat" cmpd="sng" w="25400">
            <a:solidFill>
              <a:srgbClr val="2F7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DE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96"/>
          <p:cNvSpPr txBox="1"/>
          <p:nvPr/>
        </p:nvSpPr>
        <p:spPr>
          <a:xfrm>
            <a:off x="1012025" y="27390"/>
            <a:ext cx="4197927" cy="5000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RESULT</a:t>
            </a:r>
            <a:endParaRPr b="1" sz="1100"/>
          </a:p>
        </p:txBody>
      </p:sp>
      <p:sp>
        <p:nvSpPr>
          <p:cNvPr id="1667" name="Google Shape;1667;p196"/>
          <p:cNvSpPr/>
          <p:nvPr/>
        </p:nvSpPr>
        <p:spPr>
          <a:xfrm>
            <a:off x="66250" y="45725"/>
            <a:ext cx="777900" cy="5001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pic>
        <p:nvPicPr>
          <p:cNvPr id="1668" name="Google Shape;1668;p196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9949" y="2777945"/>
            <a:ext cx="3343350" cy="2067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97"/>
          <p:cNvSpPr/>
          <p:nvPr/>
        </p:nvSpPr>
        <p:spPr>
          <a:xfrm>
            <a:off x="57151" y="34475"/>
            <a:ext cx="9058275" cy="52322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2DE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197"/>
          <p:cNvSpPr/>
          <p:nvPr/>
        </p:nvSpPr>
        <p:spPr>
          <a:xfrm>
            <a:off x="66250" y="45725"/>
            <a:ext cx="777900" cy="5001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1675" name="Google Shape;1675;p197"/>
          <p:cNvSpPr txBox="1"/>
          <p:nvPr/>
        </p:nvSpPr>
        <p:spPr>
          <a:xfrm>
            <a:off x="1012025" y="27390"/>
            <a:ext cx="4197927" cy="5000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sz="1100"/>
          </a:p>
        </p:txBody>
      </p:sp>
      <p:graphicFrame>
        <p:nvGraphicFramePr>
          <p:cNvPr id="1676" name="Google Shape;1676;p197"/>
          <p:cNvGraphicFramePr/>
          <p:nvPr/>
        </p:nvGraphicFramePr>
        <p:xfrm>
          <a:off x="135314" y="679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{0D3CC8DC-BB13-4DF4-A02A-4B8F9686A3A0}</a:tableStyleId>
              </a:tblPr>
              <a:tblGrid>
                <a:gridCol w="3438450"/>
                <a:gridCol w="4922500"/>
              </a:tblGrid>
              <a:tr h="1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700" u="none" cap="none" strike="noStrike">
                        <a:solidFill>
                          <a:srgbClr val="1967D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SELECT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perintah untuk memanggil kolom dari sebuah table database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payment_method</a:t>
                      </a:r>
                      <a:r>
                        <a:rPr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,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Kolom yang dipanggil dengan judul payment_method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COUNT</a:t>
                      </a:r>
                      <a:r>
                        <a:rPr b="0" lang="en" sz="700" u="none" cap="none" strike="noStrike">
                          <a:solidFill>
                            <a:srgbClr val="3C40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DISTINCT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od.id</a:t>
                      </a:r>
                      <a:r>
                        <a:rPr b="0" lang="en" sz="700" u="none" cap="none" strike="noStrike">
                          <a:solidFill>
                            <a:srgbClr val="3C40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FREQUENCY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Kolom yang </a:t>
                      </a: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dipanggil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merupakan hasil hitung Uniq atas kolom id  dari table  order_detail dengan alias FREQUENCY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FROM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`Finpro_A194.order_detail`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od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Asal / sumber database yang dipanggil berasal dari table order_detail dengan alias od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INNER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JOIN</a:t>
                      </a:r>
                      <a:r>
                        <a:rPr b="0" lang="en" sz="7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`Finpro_A194.payment_detail`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pd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Perintah untuk  JOIN antara tabel  order_detail alias od dan payment_detail alias pd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ON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od.payment_id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=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pd.id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Mendefinisikan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data yang sama dalam 2 table berbeda atau irisan. Yaitu </a:t>
                      </a:r>
                      <a:endParaRPr sz="1100"/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payment_id didalam table order_detail dan id didalam table payment_detail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WHERE</a:t>
                      </a:r>
                      <a:r>
                        <a:rPr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FORMAT_TIMESTAMP </a:t>
                      </a:r>
                      <a:r>
                        <a:rPr b="0" lang="en" sz="700" u="none" cap="none" strike="noStrike">
                          <a:solidFill>
                            <a:srgbClr val="3C40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b="0" lang="en" sz="7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'%Y'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,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TIMESTAMP</a:t>
                      </a:r>
                      <a:r>
                        <a:rPr b="0" lang="en" sz="700" u="none" cap="none" strike="noStrike">
                          <a:solidFill>
                            <a:srgbClr val="3C40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order_date</a:t>
                      </a:r>
                      <a:r>
                        <a:rPr b="0" lang="en" sz="700" u="none" cap="none" strike="noStrike">
                          <a:solidFill>
                            <a:srgbClr val="3C404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))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b="0" lang="en" sz="7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'2022’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Perintah untuk melakukan filter, bahwa data yang </a:t>
                      </a: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diproses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hanya tahun 2022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endParaRPr sz="700">
                        <a:solidFill>
                          <a:srgbClr val="1967D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AND</a:t>
                      </a:r>
                      <a:r>
                        <a:rPr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is_valid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b="0" lang="en" sz="700" u="none" cap="none" strike="noStrike">
                          <a:solidFill>
                            <a:srgbClr val="B06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 dan data dalam kolom is_valid =1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GROUP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BY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payment_method</a:t>
                      </a:r>
                      <a:endParaRPr b="0" sz="700" u="none" cap="none" strike="noStrik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Perintah untuk melakukan </a:t>
                      </a: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pengelompokan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atas syntax diatasnya berdasarkan kolom payment_method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ORDER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BY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FREQUENCY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DESC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Perintah untuk melakukan pengurutan atas syntax diatasnya secara besar ke kecil dari data pada kolo</a:t>
                      </a: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 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FREQUENCY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1967D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LIMIT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b="0" lang="en" sz="700" u="none" cap="none" strike="noStrike">
                          <a:solidFill>
                            <a:srgbClr val="B06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r>
                        <a:rPr b="0" lang="en" sz="700" u="none" cap="none" strike="noStrike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 Perintah untuk membatasi data hasil syntax diatasnya dari atas sebanyak 5</a:t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5" marB="0" marR="4575" marL="4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98"/>
          <p:cNvSpPr/>
          <p:nvPr/>
        </p:nvSpPr>
        <p:spPr>
          <a:xfrm>
            <a:off x="-119100" y="-37225"/>
            <a:ext cx="9624600" cy="5225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2" name="Google Shape;1682;p198"/>
          <p:cNvSpPr/>
          <p:nvPr/>
        </p:nvSpPr>
        <p:spPr>
          <a:xfrm>
            <a:off x="66250" y="45725"/>
            <a:ext cx="777900" cy="5001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5</a:t>
            </a:r>
            <a:endParaRPr sz="1100"/>
          </a:p>
        </p:txBody>
      </p:sp>
      <p:sp>
        <p:nvSpPr>
          <p:cNvPr id="1683" name="Google Shape;1683;p198"/>
          <p:cNvSpPr/>
          <p:nvPr/>
        </p:nvSpPr>
        <p:spPr>
          <a:xfrm>
            <a:off x="0" y="978625"/>
            <a:ext cx="9207000" cy="228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4" name="Google Shape;1684;p198"/>
          <p:cNvSpPr/>
          <p:nvPr/>
        </p:nvSpPr>
        <p:spPr>
          <a:xfrm>
            <a:off x="1151313" y="141883"/>
            <a:ext cx="72237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Q: Urutkan dari ke-5 produk ini berdasarkan nilai transaksinya. 1. Samsung 2. Apple 3. Sony 4. Huawei 5. Lenovo Gunakan is_valid = 1 untuk memfilter data transaksi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98"/>
          <p:cNvSpPr/>
          <p:nvPr/>
        </p:nvSpPr>
        <p:spPr>
          <a:xfrm>
            <a:off x="6661975" y="1042100"/>
            <a:ext cx="2481900" cy="500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6" name="Google Shape;1686;p198"/>
          <p:cNvSpPr/>
          <p:nvPr/>
        </p:nvSpPr>
        <p:spPr>
          <a:xfrm>
            <a:off x="0" y="3312000"/>
            <a:ext cx="9207000" cy="228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87" name="Google Shape;1687;p198"/>
          <p:cNvPicPr preferRelativeResize="0"/>
          <p:nvPr/>
        </p:nvPicPr>
        <p:blipFill rotWithShape="1">
          <a:blip r:embed="rId3">
            <a:alphaModFix/>
          </a:blip>
          <a:srcRect b="23029" l="0" r="22582" t="0"/>
          <a:stretch/>
        </p:blipFill>
        <p:spPr>
          <a:xfrm>
            <a:off x="66250" y="1042075"/>
            <a:ext cx="6394750" cy="21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1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050" y="3417575"/>
            <a:ext cx="5532725" cy="17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198"/>
          <p:cNvSpPr txBox="1"/>
          <p:nvPr/>
        </p:nvSpPr>
        <p:spPr>
          <a:xfrm>
            <a:off x="7398900" y="1042075"/>
            <a:ext cx="777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Query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0" name="Google Shape;1690;p198"/>
          <p:cNvSpPr/>
          <p:nvPr/>
        </p:nvSpPr>
        <p:spPr>
          <a:xfrm>
            <a:off x="66250" y="3417575"/>
            <a:ext cx="3228000" cy="500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1" name="Google Shape;1691;p198"/>
          <p:cNvSpPr txBox="1"/>
          <p:nvPr/>
        </p:nvSpPr>
        <p:spPr>
          <a:xfrm>
            <a:off x="898600" y="3417575"/>
            <a:ext cx="1563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Query</a:t>
            </a: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 Result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2" name="Google Shape;1692;p198"/>
          <p:cNvSpPr txBox="1"/>
          <p:nvPr/>
        </p:nvSpPr>
        <p:spPr>
          <a:xfrm>
            <a:off x="6661975" y="1603875"/>
            <a:ext cx="2448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Query di BigQuery bertujuan untuk mengurutkan input informasi nilai transaksi produk dari merk samsung, apple, sony, huawei, dan lenovo dari yang tertinggi berdasarkan dengan ketentuan transaksi yang terjadi secara valid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3" name="Google Shape;1693;p198"/>
          <p:cNvSpPr txBox="1"/>
          <p:nvPr/>
        </p:nvSpPr>
        <p:spPr>
          <a:xfrm>
            <a:off x="110900" y="4004400"/>
            <a:ext cx="3228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Output yang diperoleh berupa klasifikasi total transaksi berdasarkan merk dengan total tertinggi yaitu merk samsung dan diikuti merk apple, sony, huawei, serta yang terakhir yaitu lenovo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99"/>
          <p:cNvSpPr/>
          <p:nvPr/>
        </p:nvSpPr>
        <p:spPr>
          <a:xfrm>
            <a:off x="-119100" y="-37225"/>
            <a:ext cx="9624600" cy="5225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9" name="Google Shape;1699;p199"/>
          <p:cNvSpPr/>
          <p:nvPr/>
        </p:nvSpPr>
        <p:spPr>
          <a:xfrm>
            <a:off x="66250" y="45725"/>
            <a:ext cx="777900" cy="5001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5</a:t>
            </a:r>
            <a:endParaRPr sz="1100"/>
          </a:p>
        </p:txBody>
      </p:sp>
      <p:sp>
        <p:nvSpPr>
          <p:cNvPr id="1700" name="Google Shape;1700;p199"/>
          <p:cNvSpPr/>
          <p:nvPr/>
        </p:nvSpPr>
        <p:spPr>
          <a:xfrm>
            <a:off x="0" y="978625"/>
            <a:ext cx="9207000" cy="228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1" name="Google Shape;1701;p199"/>
          <p:cNvSpPr/>
          <p:nvPr/>
        </p:nvSpPr>
        <p:spPr>
          <a:xfrm>
            <a:off x="1151313" y="141883"/>
            <a:ext cx="72237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Q: Urutkan dari ke-5 produk ini berdasarkan nilai transaksinya. 1. Samsung 2. Apple 3. Sony 4. Huawei 5. Lenovo Gunakan is_valid = 1 untuk memfilter data transaksi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99"/>
          <p:cNvSpPr/>
          <p:nvPr/>
        </p:nvSpPr>
        <p:spPr>
          <a:xfrm>
            <a:off x="0" y="3312000"/>
            <a:ext cx="9207000" cy="228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3" name="Google Shape;1703;p199"/>
          <p:cNvPicPr preferRelativeResize="0"/>
          <p:nvPr/>
        </p:nvPicPr>
        <p:blipFill rotWithShape="1">
          <a:blip r:embed="rId3">
            <a:alphaModFix/>
          </a:blip>
          <a:srcRect b="0" l="0" r="39838" t="0"/>
          <a:stretch/>
        </p:blipFill>
        <p:spPr>
          <a:xfrm>
            <a:off x="225850" y="1103412"/>
            <a:ext cx="3794576" cy="20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99"/>
          <p:cNvSpPr/>
          <p:nvPr/>
        </p:nvSpPr>
        <p:spPr>
          <a:xfrm>
            <a:off x="66250" y="3417575"/>
            <a:ext cx="3228000" cy="500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5" name="Google Shape;1705;p199"/>
          <p:cNvSpPr txBox="1"/>
          <p:nvPr/>
        </p:nvSpPr>
        <p:spPr>
          <a:xfrm>
            <a:off x="898600" y="3417575"/>
            <a:ext cx="1563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Query Result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6" name="Google Shape;1706;p199"/>
          <p:cNvSpPr txBox="1"/>
          <p:nvPr/>
        </p:nvSpPr>
        <p:spPr>
          <a:xfrm>
            <a:off x="110900" y="4004400"/>
            <a:ext cx="3228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Output yang diperoleh berupa klasifikasi total transaksi berdasarkan merk dengan total tertinggi yaitu merk samsung dan diikuti merk apple, sony, huawei, serta yang terakhir yaitu lenovo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7" name="Google Shape;1707;p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750" y="1320200"/>
            <a:ext cx="4472425" cy="3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200"/>
          <p:cNvSpPr/>
          <p:nvPr/>
        </p:nvSpPr>
        <p:spPr>
          <a:xfrm>
            <a:off x="-119100" y="-37225"/>
            <a:ext cx="9624600" cy="5225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3" name="Google Shape;1713;p200"/>
          <p:cNvSpPr/>
          <p:nvPr/>
        </p:nvSpPr>
        <p:spPr>
          <a:xfrm>
            <a:off x="66250" y="45725"/>
            <a:ext cx="777900" cy="500100"/>
          </a:xfrm>
          <a:prstGeom prst="roundRect">
            <a:avLst>
              <a:gd fmla="val 16667" name="adj"/>
            </a:avLst>
          </a:prstGeom>
          <a:solidFill>
            <a:srgbClr val="F3DF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5</a:t>
            </a:r>
            <a:endParaRPr sz="1100"/>
          </a:p>
        </p:txBody>
      </p:sp>
      <p:sp>
        <p:nvSpPr>
          <p:cNvPr id="1714" name="Google Shape;1714;p200"/>
          <p:cNvSpPr/>
          <p:nvPr/>
        </p:nvSpPr>
        <p:spPr>
          <a:xfrm>
            <a:off x="1151313" y="141883"/>
            <a:ext cx="7223700" cy="613200"/>
          </a:xfrm>
          <a:prstGeom prst="roundRect">
            <a:avLst>
              <a:gd fmla="val 16667" name="adj"/>
            </a:avLst>
          </a:prstGeom>
          <a:solidFill>
            <a:srgbClr val="DBEFF1"/>
          </a:solidFill>
          <a:ln cap="flat" cmpd="sng" w="25400">
            <a:solidFill>
              <a:srgbClr val="6A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Penjelasan Query</a:t>
            </a:r>
            <a:endParaRPr b="1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1715" name="Google Shape;1715;p200"/>
          <p:cNvSpPr txBox="1"/>
          <p:nvPr/>
        </p:nvSpPr>
        <p:spPr>
          <a:xfrm>
            <a:off x="6691750" y="1280300"/>
            <a:ext cx="2463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16" name="Google Shape;1716;p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100" y="1526963"/>
            <a:ext cx="3015100" cy="20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200"/>
          <p:cNvSpPr txBox="1"/>
          <p:nvPr/>
        </p:nvSpPr>
        <p:spPr>
          <a:xfrm>
            <a:off x="461500" y="840175"/>
            <a:ext cx="1779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DM Sans"/>
                <a:ea typeface="DM Sans"/>
                <a:cs typeface="DM Sans"/>
                <a:sym typeface="DM Sans"/>
              </a:rPr>
              <a:t>Query</a:t>
            </a:r>
            <a:endParaRPr b="1" sz="2700"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718" name="Google Shape;1718;p200"/>
          <p:cNvGraphicFramePr/>
          <p:nvPr/>
        </p:nvGraphicFramePr>
        <p:xfrm>
          <a:off x="2833550" y="84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{BD3EDBA6-8B1A-48BA-8A7B-041277E2EA4D}</a:tableStyleId>
              </a:tblPr>
              <a:tblGrid>
                <a:gridCol w="3366525"/>
                <a:gridCol w="3161100"/>
              </a:tblGrid>
              <a:tr h="1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Query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Deskripsi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32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0795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2F79F3"/>
                          </a:solidFill>
                        </a:rPr>
                        <a:t>with data_transaksi as (...</a:t>
                      </a:r>
                      <a:r>
                        <a:rPr lang="en" sz="800"/>
                        <a:t> digunakan untuk mendeskripsikan Common Table Expression (CTE)</a:t>
                      </a:r>
                      <a:endParaRPr sz="800"/>
                    </a:p>
                    <a:p>
                      <a:pPr indent="-10795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select</a:t>
                      </a:r>
                      <a:r>
                        <a:rPr lang="en" sz="800"/>
                        <a:t> digunakan untuk memilih data</a:t>
                      </a:r>
                      <a:endParaRPr sz="800"/>
                    </a:p>
                    <a:p>
                      <a:pPr indent="-10795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case when lower (s.sku_name) like ‘%samsung%’ then ‘samsung’... end as merk</a:t>
                      </a:r>
                      <a:r>
                        <a:rPr lang="en" sz="800"/>
                        <a:t> digunakan untuk membaca data dalam tabel sku_name dalam format lower case yang memiliki imbuhan di depan maupun di belakang kata samsung kemudian mengubahnya dengan kata samsung sebagai alias merk</a:t>
                      </a:r>
                      <a:endParaRPr sz="800"/>
                    </a:p>
                  </a:txBody>
                  <a:tcPr marT="91425" marB="91425" marR="91425" marL="457200"/>
                </a:tc>
              </a:tr>
              <a:tr h="72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sum(o.after_discount) as total_transaksi_tiap_merk </a:t>
                      </a:r>
                      <a:r>
                        <a:rPr lang="en" sz="800"/>
                        <a:t>digunakan untuk menjumlahkan total transaksi dengan memberikannya alias </a:t>
                      </a:r>
                      <a:endParaRPr sz="800"/>
                    </a:p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from `FinPro_dataset.order_detail o left join `FinPro_dataset.sku_detail` s on o.sku_id = s,id </a:t>
                      </a:r>
                      <a:r>
                        <a:rPr lang="en" sz="800"/>
                        <a:t>digunakan untuk menambahkan informasi yang terdapat dalam sku_detail namun belum ada di tabel order_detail seperti sku_name yang akan digunakan dalam pemilihan merk sebagai alias</a:t>
                      </a:r>
                      <a:endParaRPr sz="800"/>
                    </a:p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where o.is_valid = 1 </a:t>
                      </a:r>
                      <a:r>
                        <a:rPr lang="en" sz="800"/>
                        <a:t>digunakan untuk filter data transaksi yang valid</a:t>
                      </a:r>
                      <a:endParaRPr sz="800"/>
                    </a:p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group by 1</a:t>
                      </a:r>
                      <a:r>
                        <a:rPr lang="en" sz="800"/>
                        <a:t> digunakan untuk mengkategorikan data berdasarkan merk</a:t>
                      </a:r>
                      <a:endParaRPr sz="800"/>
                    </a:p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order by 2 desc</a:t>
                      </a:r>
                      <a:r>
                        <a:rPr lang="en" sz="800"/>
                        <a:t> digunakan untuk mengurutkan data total transaksi dari alias berdasarkan nilai terbesar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76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select * from data_transaksi </a:t>
                      </a:r>
                      <a:r>
                        <a:rPr lang="en" sz="800"/>
                        <a:t>digunakan untuk memilih data transaksi dari CTE yang dideskripsikan di tahap sebelumnya</a:t>
                      </a:r>
                      <a:endParaRPr sz="800"/>
                    </a:p>
                    <a:p>
                      <a:pPr indent="-10795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en" sz="800">
                          <a:solidFill>
                            <a:srgbClr val="1967D2"/>
                          </a:solidFill>
                        </a:rPr>
                        <a:t>where merk is not null</a:t>
                      </a:r>
                      <a:r>
                        <a:rPr lang="en" sz="800"/>
                        <a:t> digunakan untuk memilih data dengan ketentuan merk yang ditampilkan bukan data yang tidak memiliki nilai yang didefinisikan pada CTE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19" name="Google Shape;1719;p200"/>
          <p:cNvPicPr preferRelativeResize="0"/>
          <p:nvPr/>
        </p:nvPicPr>
        <p:blipFill rotWithShape="1">
          <a:blip r:embed="rId3">
            <a:alphaModFix/>
          </a:blip>
          <a:srcRect b="46088" l="0" r="0" t="0"/>
          <a:stretch/>
        </p:blipFill>
        <p:spPr>
          <a:xfrm>
            <a:off x="2977875" y="1206100"/>
            <a:ext cx="3215624" cy="12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200"/>
          <p:cNvPicPr preferRelativeResize="0"/>
          <p:nvPr/>
        </p:nvPicPr>
        <p:blipFill rotWithShape="1">
          <a:blip r:embed="rId3">
            <a:alphaModFix/>
          </a:blip>
          <a:srcRect b="13655" l="0" r="0" t="54108"/>
          <a:stretch/>
        </p:blipFill>
        <p:spPr>
          <a:xfrm>
            <a:off x="2977875" y="2602800"/>
            <a:ext cx="3266500" cy="7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200"/>
          <p:cNvPicPr preferRelativeResize="0"/>
          <p:nvPr/>
        </p:nvPicPr>
        <p:blipFill rotWithShape="1">
          <a:blip r:embed="rId3">
            <a:alphaModFix/>
          </a:blip>
          <a:srcRect b="0" l="0" r="28652" t="87762"/>
          <a:stretch/>
        </p:blipFill>
        <p:spPr>
          <a:xfrm>
            <a:off x="3054075" y="4496400"/>
            <a:ext cx="2515474" cy="2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