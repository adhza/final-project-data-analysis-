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Lst>
  <p:sldSz cy="5143500" cx="9144000"/>
  <p:notesSz cx="6858000" cy="9144000"/>
  <p:embeddedFontLst>
    <p:embeddedFont>
      <p:font typeface="Montserrat SemiBold"/>
      <p:regular r:id="rId40"/>
      <p:bold r:id="rId41"/>
      <p:italic r:id="rId42"/>
      <p:boldItalic r:id="rId43"/>
    </p:embeddedFont>
    <p:embeddedFont>
      <p:font typeface="Montserrat"/>
      <p:regular r:id="rId44"/>
      <p:bold r:id="rId45"/>
      <p:italic r:id="rId46"/>
      <p:boldItalic r:id="rId47"/>
    </p:embeddedFont>
    <p:embeddedFont>
      <p:font typeface="Lato"/>
      <p:regular r:id="rId48"/>
      <p:bold r:id="rId49"/>
      <p:italic r:id="rId50"/>
      <p:boldItalic r:id="rId51"/>
    </p:embeddedFont>
    <p:embeddedFont>
      <p:font typeface="DM Sans"/>
      <p:regular r:id="rId52"/>
      <p:bold r:id="rId53"/>
      <p:italic r:id="rId54"/>
      <p:boldItalic r:id="rId5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854F9D3-55A7-42A3-81B5-2CE03ECBDFAA}">
  <a:tblStyle styleId="{1854F9D3-55A7-42A3-81B5-2CE03ECBDFAA}"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MontserratSemiBold-regular.fntdata"/><Relationship Id="rId42" Type="http://schemas.openxmlformats.org/officeDocument/2006/relationships/font" Target="fonts/MontserratSemiBold-italic.fntdata"/><Relationship Id="rId41" Type="http://schemas.openxmlformats.org/officeDocument/2006/relationships/font" Target="fonts/MontserratSemiBold-bold.fntdata"/><Relationship Id="rId44" Type="http://schemas.openxmlformats.org/officeDocument/2006/relationships/font" Target="fonts/Montserrat-regular.fntdata"/><Relationship Id="rId43" Type="http://schemas.openxmlformats.org/officeDocument/2006/relationships/font" Target="fonts/MontserratSemiBold-boldItalic.fntdata"/><Relationship Id="rId46" Type="http://schemas.openxmlformats.org/officeDocument/2006/relationships/font" Target="fonts/Montserrat-italic.fntdata"/><Relationship Id="rId45" Type="http://schemas.openxmlformats.org/officeDocument/2006/relationships/font" Target="fonts/Montserrat-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Lato-regular.fntdata"/><Relationship Id="rId47" Type="http://schemas.openxmlformats.org/officeDocument/2006/relationships/font" Target="fonts/Montserrat-boldItalic.fntdata"/><Relationship Id="rId49" Type="http://schemas.openxmlformats.org/officeDocument/2006/relationships/font" Target="fonts/Lato-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Lato-boldItalic.fntdata"/><Relationship Id="rId50" Type="http://schemas.openxmlformats.org/officeDocument/2006/relationships/font" Target="fonts/Lato-italic.fntdata"/><Relationship Id="rId53" Type="http://schemas.openxmlformats.org/officeDocument/2006/relationships/font" Target="fonts/DMSans-bold.fntdata"/><Relationship Id="rId52" Type="http://schemas.openxmlformats.org/officeDocument/2006/relationships/font" Target="fonts/DMSans-regular.fntdata"/><Relationship Id="rId11" Type="http://schemas.openxmlformats.org/officeDocument/2006/relationships/slide" Target="slides/slide5.xml"/><Relationship Id="rId55" Type="http://schemas.openxmlformats.org/officeDocument/2006/relationships/font" Target="fonts/DMSans-boldItalic.fntdata"/><Relationship Id="rId10" Type="http://schemas.openxmlformats.org/officeDocument/2006/relationships/slide" Target="slides/slide4.xml"/><Relationship Id="rId54" Type="http://schemas.openxmlformats.org/officeDocument/2006/relationships/font" Target="fonts/DMSans-italic.fnt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1c52f2679b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1c52f2679b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1c52f2679b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1c52f2679b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1f337931ff_9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1f337931ff_9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1f337931ff_9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1f337931ff_9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1f337931ff_9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1f337931ff_9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1f337931ff_9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1f337931ff_9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1c52f2679b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1c52f2679b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1c52f2679b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1c52f2679b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1f495a1289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1f495a1289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1c52f2679b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1c52f2679b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1f337931ff_1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31f337931ff_1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1f337931ff_12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31f337931ff_12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1c52f2679b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31c52f2679b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1f337931ff_12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31f337931ff_12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1f337931ff_12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31f337931ff_12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1f337931ff_12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31f337931ff_12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1c52f2679b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31c52f2679b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1c52f2679b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31c52f2679b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1f337931ff_9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31f337931ff_9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31c52f2679b_0_2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31c52f2679b_0_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1c52f2679b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31c52f2679b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1f337931ff_4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31f337931ff_4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31f337931ff_4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31f337931ff_4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31f337931ff_4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31f337931ff_4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31f337931ff_1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31f337931ff_1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31f337931ff_11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31f337931ff_11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31f337931ff_11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31f337931ff_11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31f337931ff_11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31f337931ff_11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31c52f2679b_0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6" name="Google Shape;386;g31c52f2679b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31f337931ff_1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7" name="Google Shape;397;g31f337931ff_1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31f337931ff_1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5" name="Google Shape;405;g31f337931ff_1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31c52f2679b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1" name="Google Shape;411;g31c52f2679b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1.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7.png"/><Relationship Id="rId4" Type="http://schemas.openxmlformats.org/officeDocument/2006/relationships/image" Target="../media/image3.png"/><Relationship Id="rId5"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6.png"/><Relationship Id="rId4" Type="http://schemas.openxmlformats.org/officeDocument/2006/relationships/image" Target="../media/image12.png"/><Relationship Id="rId5"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xml"/><Relationship Id="rId3"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4.png"/><Relationship Id="rId4" Type="http://schemas.openxmlformats.org/officeDocument/2006/relationships/image" Target="../media/image4.png"/><Relationship Id="rId5"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2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Relationship Id="rId3" Type="http://schemas.openxmlformats.org/officeDocument/2006/relationships/image" Target="../media/image29.png"/><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Relationship Id="rId3" Type="http://schemas.openxmlformats.org/officeDocument/2006/relationships/image" Target="../media/image30.png"/><Relationship Id="rId4" Type="http://schemas.openxmlformats.org/officeDocument/2006/relationships/image" Target="../media/image3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0.xml"/><Relationship Id="rId3" Type="http://schemas.openxmlformats.org/officeDocument/2006/relationships/image" Target="../media/image23.png"/><Relationship Id="rId4" Type="http://schemas.openxmlformats.org/officeDocument/2006/relationships/image" Target="../media/image2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1.xml"/><Relationship Id="rId3" Type="http://schemas.openxmlformats.org/officeDocument/2006/relationships/hyperlink" Target="https://docs.google.com/spreadsheets/d/1-H4Ofc86ZvfeNtccZEdY_F7PVSuO4F1fpT7b6SVB0PU/edit?usp=sharing" TargetMode="External"/><Relationship Id="rId4" Type="http://schemas.openxmlformats.org/officeDocument/2006/relationships/image" Target="../media/image3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31.png"/><Relationship Id="rId4" Type="http://schemas.openxmlformats.org/officeDocument/2006/relationships/image" Target="../media/image2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35.png"/><Relationship Id="rId4" Type="http://schemas.openxmlformats.org/officeDocument/2006/relationships/image" Target="../media/image27.png"/><Relationship Id="rId5" Type="http://schemas.openxmlformats.org/officeDocument/2006/relationships/image" Target="../media/image40.png"/><Relationship Id="rId6" Type="http://schemas.openxmlformats.org/officeDocument/2006/relationships/image" Target="../media/image3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4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3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3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3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0.xml"/><Relationship Id="rId3" Type="http://schemas.openxmlformats.org/officeDocument/2006/relationships/image" Target="../media/image39.png"/><Relationship Id="rId4" Type="http://schemas.openxmlformats.org/officeDocument/2006/relationships/image" Target="../media/image44.png"/><Relationship Id="rId5" Type="http://schemas.openxmlformats.org/officeDocument/2006/relationships/image" Target="../media/image4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1.xml"/><Relationship Id="rId3" Type="http://schemas.openxmlformats.org/officeDocument/2006/relationships/image" Target="../media/image4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2.xml"/><Relationship Id="rId3" Type="http://schemas.openxmlformats.org/officeDocument/2006/relationships/image" Target="../media/image3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3"/>
          <p:cNvSpPr txBox="1"/>
          <p:nvPr>
            <p:ph type="ctrTitle"/>
          </p:nvPr>
        </p:nvSpPr>
        <p:spPr>
          <a:xfrm>
            <a:off x="3547725" y="575725"/>
            <a:ext cx="5017500" cy="2349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FINAL PROJECT</a:t>
            </a:r>
            <a:endParaRPr b="1"/>
          </a:p>
          <a:p>
            <a:pPr indent="0" lvl="0" marL="0" rtl="0" algn="l">
              <a:spcBef>
                <a:spcPts val="0"/>
              </a:spcBef>
              <a:spcAft>
                <a:spcPts val="0"/>
              </a:spcAft>
              <a:buNone/>
            </a:pPr>
            <a:r>
              <a:t/>
            </a:r>
            <a:endParaRPr/>
          </a:p>
          <a:p>
            <a:pPr indent="0" lvl="0" marL="0" rtl="0" algn="l">
              <a:spcBef>
                <a:spcPts val="0"/>
              </a:spcBef>
              <a:spcAft>
                <a:spcPts val="0"/>
              </a:spcAft>
              <a:buNone/>
            </a:pPr>
            <a:r>
              <a:rPr lang="en"/>
              <a:t>Data Analysis with Python</a:t>
            </a:r>
            <a:endParaRPr/>
          </a:p>
        </p:txBody>
      </p:sp>
      <p:sp>
        <p:nvSpPr>
          <p:cNvPr id="135" name="Google Shape;135;p13"/>
          <p:cNvSpPr txBox="1"/>
          <p:nvPr>
            <p:ph idx="1" type="subTitle"/>
          </p:nvPr>
        </p:nvSpPr>
        <p:spPr>
          <a:xfrm>
            <a:off x="4701125" y="3301475"/>
            <a:ext cx="4022100" cy="709200"/>
          </a:xfrm>
          <a:prstGeom prst="rect">
            <a:avLst/>
          </a:prstGeom>
        </p:spPr>
        <p:txBody>
          <a:bodyPr anchorCtr="0" anchor="t" bIns="91425" lIns="91425" spcFirstLastPara="1" rIns="91425" wrap="square" tIns="91425">
            <a:noAutofit/>
          </a:bodyPr>
          <a:lstStyle/>
          <a:p>
            <a:pPr indent="0" lvl="0" marL="0" rtl="0" algn="l">
              <a:lnSpc>
                <a:spcPct val="80000"/>
              </a:lnSpc>
              <a:spcBef>
                <a:spcPts val="0"/>
              </a:spcBef>
              <a:spcAft>
                <a:spcPts val="0"/>
              </a:spcAft>
              <a:buNone/>
            </a:pPr>
            <a:r>
              <a:rPr b="1" lang="en" sz="1500"/>
              <a:t>KELOMPOK 3B BATCH 19</a:t>
            </a:r>
            <a:br>
              <a:rPr b="1" lang="en" sz="1500"/>
            </a:br>
            <a:endParaRPr b="1" sz="1500"/>
          </a:p>
          <a:p>
            <a:pPr indent="0" lvl="0" marL="0" rtl="0" algn="l">
              <a:lnSpc>
                <a:spcPct val="80000"/>
              </a:lnSpc>
              <a:spcBef>
                <a:spcPts val="0"/>
              </a:spcBef>
              <a:spcAft>
                <a:spcPts val="0"/>
              </a:spcAft>
              <a:buNone/>
            </a:pPr>
            <a:r>
              <a:rPr b="1" lang="en" sz="1500">
                <a:solidFill>
                  <a:schemeClr val="lt2"/>
                </a:solidFill>
              </a:rPr>
              <a:t>MySkill </a:t>
            </a:r>
            <a:r>
              <a:rPr b="1" lang="en" sz="1500"/>
              <a:t>Final Project Data Analyst Batch 19</a:t>
            </a:r>
            <a:endParaRPr b="1" sz="1500"/>
          </a:p>
        </p:txBody>
      </p:sp>
      <p:pic>
        <p:nvPicPr>
          <p:cNvPr id="136" name="Google Shape;136;p13"/>
          <p:cNvPicPr preferRelativeResize="0"/>
          <p:nvPr/>
        </p:nvPicPr>
        <p:blipFill>
          <a:blip r:embed="rId3">
            <a:alphaModFix/>
          </a:blip>
          <a:stretch>
            <a:fillRect/>
          </a:stretch>
        </p:blipFill>
        <p:spPr>
          <a:xfrm>
            <a:off x="5401125" y="2311370"/>
            <a:ext cx="646163" cy="709202"/>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4"/>
          <p:cNvSpPr txBox="1"/>
          <p:nvPr>
            <p:ph type="title"/>
          </p:nvPr>
        </p:nvSpPr>
        <p:spPr>
          <a:xfrm>
            <a:off x="506350" y="105825"/>
            <a:ext cx="4587000" cy="1148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Anggota Kelompok </a:t>
            </a:r>
            <a:endParaRPr/>
          </a:p>
        </p:txBody>
      </p:sp>
      <p:sp>
        <p:nvSpPr>
          <p:cNvPr id="142" name="Google Shape;142;p14"/>
          <p:cNvSpPr txBox="1"/>
          <p:nvPr>
            <p:ph type="title"/>
          </p:nvPr>
        </p:nvSpPr>
        <p:spPr>
          <a:xfrm>
            <a:off x="506350" y="1360350"/>
            <a:ext cx="4587000" cy="3640800"/>
          </a:xfrm>
          <a:prstGeom prst="rect">
            <a:avLst/>
          </a:prstGeom>
          <a:noFill/>
          <a:ln>
            <a:noFill/>
          </a:ln>
        </p:spPr>
        <p:txBody>
          <a:bodyPr anchorCtr="0" anchor="ctr" bIns="91425" lIns="91425" spcFirstLastPara="1" rIns="91425" wrap="square" tIns="91425">
            <a:normAutofit fontScale="90000"/>
          </a:bodyPr>
          <a:lstStyle/>
          <a:p>
            <a:pPr indent="-331470" lvl="0" marL="457200" rtl="0" algn="l">
              <a:lnSpc>
                <a:spcPct val="150000"/>
              </a:lnSpc>
              <a:spcBef>
                <a:spcPts val="0"/>
              </a:spcBef>
              <a:spcAft>
                <a:spcPts val="0"/>
              </a:spcAft>
              <a:buSzPct val="100000"/>
              <a:buFont typeface="DM Sans"/>
              <a:buChar char="●"/>
            </a:pPr>
            <a:r>
              <a:rPr lang="en" sz="1800">
                <a:latin typeface="DM Sans"/>
                <a:ea typeface="DM Sans"/>
                <a:cs typeface="DM Sans"/>
                <a:sym typeface="DM Sans"/>
              </a:rPr>
              <a:t>Ahmad Noval</a:t>
            </a:r>
            <a:endParaRPr sz="1800">
              <a:latin typeface="DM Sans"/>
              <a:ea typeface="DM Sans"/>
              <a:cs typeface="DM Sans"/>
              <a:sym typeface="DM Sans"/>
            </a:endParaRPr>
          </a:p>
          <a:p>
            <a:pPr indent="-331470" lvl="0" marL="457200" rtl="0" algn="l">
              <a:lnSpc>
                <a:spcPct val="150000"/>
              </a:lnSpc>
              <a:spcBef>
                <a:spcPts val="0"/>
              </a:spcBef>
              <a:spcAft>
                <a:spcPts val="0"/>
              </a:spcAft>
              <a:buSzPct val="100000"/>
              <a:buFont typeface="DM Sans"/>
              <a:buChar char="●"/>
            </a:pPr>
            <a:r>
              <a:rPr lang="en" sz="1800">
                <a:latin typeface="DM Sans"/>
                <a:ea typeface="DM Sans"/>
                <a:cs typeface="DM Sans"/>
                <a:sym typeface="DM Sans"/>
              </a:rPr>
              <a:t>Bre Syarestaji</a:t>
            </a:r>
            <a:endParaRPr sz="1800">
              <a:latin typeface="DM Sans"/>
              <a:ea typeface="DM Sans"/>
              <a:cs typeface="DM Sans"/>
              <a:sym typeface="DM Sans"/>
            </a:endParaRPr>
          </a:p>
          <a:p>
            <a:pPr indent="-331470" lvl="0" marL="457200" rtl="0" algn="l">
              <a:lnSpc>
                <a:spcPct val="150000"/>
              </a:lnSpc>
              <a:spcBef>
                <a:spcPts val="0"/>
              </a:spcBef>
              <a:spcAft>
                <a:spcPts val="0"/>
              </a:spcAft>
              <a:buSzPct val="100000"/>
              <a:buFont typeface="DM Sans"/>
              <a:buChar char="●"/>
            </a:pPr>
            <a:r>
              <a:rPr lang="en" sz="1800">
                <a:latin typeface="DM Sans"/>
                <a:ea typeface="DM Sans"/>
                <a:cs typeface="DM Sans"/>
                <a:sym typeface="DM Sans"/>
              </a:rPr>
              <a:t>Imaduddin Nugraha</a:t>
            </a:r>
            <a:endParaRPr sz="1800">
              <a:latin typeface="DM Sans"/>
              <a:ea typeface="DM Sans"/>
              <a:cs typeface="DM Sans"/>
              <a:sym typeface="DM Sans"/>
            </a:endParaRPr>
          </a:p>
          <a:p>
            <a:pPr indent="-331470" lvl="0" marL="457200" rtl="0" algn="l">
              <a:lnSpc>
                <a:spcPct val="150000"/>
              </a:lnSpc>
              <a:spcBef>
                <a:spcPts val="0"/>
              </a:spcBef>
              <a:spcAft>
                <a:spcPts val="0"/>
              </a:spcAft>
              <a:buSzPct val="100000"/>
              <a:buFont typeface="DM Sans"/>
              <a:buChar char="●"/>
            </a:pPr>
            <a:r>
              <a:rPr lang="en" sz="1800">
                <a:latin typeface="DM Sans"/>
                <a:ea typeface="DM Sans"/>
                <a:cs typeface="DM Sans"/>
                <a:sym typeface="DM Sans"/>
              </a:rPr>
              <a:t>Adhitama Ihza Pangestu</a:t>
            </a:r>
            <a:endParaRPr sz="1800">
              <a:latin typeface="DM Sans"/>
              <a:ea typeface="DM Sans"/>
              <a:cs typeface="DM Sans"/>
              <a:sym typeface="DM Sans"/>
            </a:endParaRPr>
          </a:p>
          <a:p>
            <a:pPr indent="-331470" lvl="0" marL="457200" rtl="0" algn="l">
              <a:lnSpc>
                <a:spcPct val="150000"/>
              </a:lnSpc>
              <a:spcBef>
                <a:spcPts val="0"/>
              </a:spcBef>
              <a:spcAft>
                <a:spcPts val="0"/>
              </a:spcAft>
              <a:buSzPct val="100000"/>
              <a:buFont typeface="DM Sans"/>
              <a:buChar char="●"/>
            </a:pPr>
            <a:r>
              <a:rPr lang="en" sz="1800">
                <a:latin typeface="DM Sans"/>
                <a:ea typeface="DM Sans"/>
                <a:cs typeface="DM Sans"/>
                <a:sym typeface="DM Sans"/>
              </a:rPr>
              <a:t>Dian Novi</a:t>
            </a:r>
            <a:endParaRPr sz="1800">
              <a:latin typeface="DM Sans"/>
              <a:ea typeface="DM Sans"/>
              <a:cs typeface="DM Sans"/>
              <a:sym typeface="DM Sans"/>
            </a:endParaRPr>
          </a:p>
          <a:p>
            <a:pPr indent="-331470" lvl="0" marL="457200" rtl="0" algn="l">
              <a:lnSpc>
                <a:spcPct val="150000"/>
              </a:lnSpc>
              <a:spcBef>
                <a:spcPts val="0"/>
              </a:spcBef>
              <a:spcAft>
                <a:spcPts val="0"/>
              </a:spcAft>
              <a:buSzPct val="100000"/>
              <a:buFont typeface="DM Sans"/>
              <a:buChar char="●"/>
            </a:pPr>
            <a:r>
              <a:rPr lang="en" sz="1800">
                <a:latin typeface="DM Sans"/>
                <a:ea typeface="DM Sans"/>
                <a:cs typeface="DM Sans"/>
                <a:sym typeface="DM Sans"/>
              </a:rPr>
              <a:t>Hafizhoh Nur Azimah</a:t>
            </a:r>
            <a:endParaRPr sz="1800">
              <a:latin typeface="DM Sans"/>
              <a:ea typeface="DM Sans"/>
              <a:cs typeface="DM Sans"/>
              <a:sym typeface="DM Sans"/>
            </a:endParaRPr>
          </a:p>
          <a:p>
            <a:pPr indent="-331470" lvl="0" marL="457200" rtl="0" algn="l">
              <a:lnSpc>
                <a:spcPct val="150000"/>
              </a:lnSpc>
              <a:spcBef>
                <a:spcPts val="0"/>
              </a:spcBef>
              <a:spcAft>
                <a:spcPts val="0"/>
              </a:spcAft>
              <a:buSzPct val="100000"/>
              <a:buFont typeface="DM Sans"/>
              <a:buChar char="●"/>
            </a:pPr>
            <a:r>
              <a:rPr lang="en" sz="1800">
                <a:latin typeface="DM Sans"/>
                <a:ea typeface="DM Sans"/>
                <a:cs typeface="DM Sans"/>
                <a:sym typeface="DM Sans"/>
              </a:rPr>
              <a:t>Marcellin Suciadi Wijaya</a:t>
            </a:r>
            <a:endParaRPr sz="1800">
              <a:latin typeface="DM Sans"/>
              <a:ea typeface="DM Sans"/>
              <a:cs typeface="DM Sans"/>
              <a:sym typeface="DM Sans"/>
            </a:endParaRPr>
          </a:p>
          <a:p>
            <a:pPr indent="-331470" lvl="0" marL="457200" rtl="0" algn="l">
              <a:lnSpc>
                <a:spcPct val="150000"/>
              </a:lnSpc>
              <a:spcBef>
                <a:spcPts val="0"/>
              </a:spcBef>
              <a:spcAft>
                <a:spcPts val="0"/>
              </a:spcAft>
              <a:buSzPct val="100000"/>
              <a:buFont typeface="DM Sans"/>
              <a:buChar char="●"/>
            </a:pPr>
            <a:r>
              <a:rPr lang="en" sz="1800">
                <a:latin typeface="DM Sans"/>
                <a:ea typeface="DM Sans"/>
                <a:cs typeface="DM Sans"/>
                <a:sym typeface="DM Sans"/>
              </a:rPr>
              <a:t>Nabila Ayu Kusuma</a:t>
            </a:r>
            <a:endParaRPr sz="1800">
              <a:latin typeface="DM Sans"/>
              <a:ea typeface="DM Sans"/>
              <a:cs typeface="DM Sans"/>
              <a:sym typeface="DM Sans"/>
            </a:endParaRPr>
          </a:p>
          <a:p>
            <a:pPr indent="-331470" lvl="0" marL="457200" rtl="0" algn="l">
              <a:lnSpc>
                <a:spcPct val="150000"/>
              </a:lnSpc>
              <a:spcBef>
                <a:spcPts val="0"/>
              </a:spcBef>
              <a:spcAft>
                <a:spcPts val="0"/>
              </a:spcAft>
              <a:buSzPct val="100000"/>
              <a:buFont typeface="DM Sans"/>
              <a:buChar char="●"/>
            </a:pPr>
            <a:r>
              <a:rPr lang="en" sz="1800">
                <a:latin typeface="DM Sans"/>
                <a:ea typeface="DM Sans"/>
                <a:cs typeface="DM Sans"/>
                <a:sym typeface="DM Sans"/>
              </a:rPr>
              <a:t>Revy Rafsanjani</a:t>
            </a:r>
            <a:endParaRPr sz="1800">
              <a:latin typeface="DM Sans"/>
              <a:ea typeface="DM Sans"/>
              <a:cs typeface="DM Sans"/>
              <a:sym typeface="DM Sans"/>
            </a:endParaRPr>
          </a:p>
          <a:p>
            <a:pPr indent="-331470" lvl="0" marL="457200" rtl="0" algn="l">
              <a:lnSpc>
                <a:spcPct val="150000"/>
              </a:lnSpc>
              <a:spcBef>
                <a:spcPts val="0"/>
              </a:spcBef>
              <a:spcAft>
                <a:spcPts val="0"/>
              </a:spcAft>
              <a:buSzPct val="100000"/>
              <a:buFont typeface="DM Sans"/>
              <a:buChar char="●"/>
            </a:pPr>
            <a:r>
              <a:rPr lang="en" sz="1800">
                <a:latin typeface="DM Sans"/>
                <a:ea typeface="DM Sans"/>
                <a:cs typeface="DM Sans"/>
                <a:sym typeface="DM Sans"/>
              </a:rPr>
              <a:t>Muh. Abi Hidayat</a:t>
            </a:r>
            <a:endParaRPr sz="1800">
              <a:latin typeface="DM Sans"/>
              <a:ea typeface="DM Sans"/>
              <a:cs typeface="DM Sans"/>
              <a:sym typeface="DM Sans"/>
            </a:endParaRPr>
          </a:p>
          <a:p>
            <a:pPr indent="0" lvl="0" marL="0" rtl="0" algn="l">
              <a:spcBef>
                <a:spcPts val="1200"/>
              </a:spcBef>
              <a:spcAft>
                <a:spcPts val="0"/>
              </a:spcAft>
              <a:buNone/>
            </a:pPr>
            <a:r>
              <a:t/>
            </a:r>
            <a:endParaRPr sz="16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5"/>
          <p:cNvSpPr txBox="1"/>
          <p:nvPr>
            <p:ph type="title"/>
          </p:nvPr>
        </p:nvSpPr>
        <p:spPr>
          <a:xfrm>
            <a:off x="1096400" y="192650"/>
            <a:ext cx="7038900" cy="6264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a:solidFill>
                  <a:schemeClr val="lt2"/>
                </a:solidFill>
              </a:rPr>
              <a:t>DATA PREPARATION</a:t>
            </a:r>
            <a:endParaRPr b="1">
              <a:solidFill>
                <a:schemeClr val="lt2"/>
              </a:solidFill>
            </a:endParaRPr>
          </a:p>
        </p:txBody>
      </p:sp>
      <p:sp>
        <p:nvSpPr>
          <p:cNvPr id="148" name="Google Shape;148;p15"/>
          <p:cNvSpPr txBox="1"/>
          <p:nvPr>
            <p:ph idx="1" type="body"/>
          </p:nvPr>
        </p:nvSpPr>
        <p:spPr>
          <a:xfrm>
            <a:off x="1461950" y="2399950"/>
            <a:ext cx="6307800" cy="2303400"/>
          </a:xfrm>
          <a:prstGeom prst="rect">
            <a:avLst/>
          </a:prstGeom>
        </p:spPr>
        <p:txBody>
          <a:bodyPr anchorCtr="0" anchor="t" bIns="91425" lIns="91425" spcFirstLastPara="1" rIns="91425" wrap="square" tIns="91425">
            <a:noAutofit/>
          </a:bodyPr>
          <a:lstStyle/>
          <a:p>
            <a:pPr indent="0" lvl="0" marL="0" rtl="0" algn="just">
              <a:lnSpc>
                <a:spcPct val="105000"/>
              </a:lnSpc>
              <a:spcBef>
                <a:spcPts val="0"/>
              </a:spcBef>
              <a:spcAft>
                <a:spcPts val="0"/>
              </a:spcAft>
              <a:buSzPts val="935"/>
              <a:buNone/>
            </a:pPr>
            <a:r>
              <a:rPr lang="en" sz="1290"/>
              <a:t>Sebelum mulai mengolah data, perlu mengimport Library yang dibutuhkan untuk menganalisis data, dan visualisasi data sebagai berikut :</a:t>
            </a:r>
            <a:endParaRPr sz="1290"/>
          </a:p>
          <a:p>
            <a:pPr indent="-310515" lvl="0" marL="457200" rtl="0" algn="just">
              <a:lnSpc>
                <a:spcPct val="105000"/>
              </a:lnSpc>
              <a:spcBef>
                <a:spcPts val="1200"/>
              </a:spcBef>
              <a:spcAft>
                <a:spcPts val="0"/>
              </a:spcAft>
              <a:buSzPts val="1290"/>
              <a:buChar char="●"/>
            </a:pPr>
            <a:r>
              <a:rPr b="1" lang="en" sz="1290"/>
              <a:t>Pandas : Library yang digunakan untuk manipulasi dan menganalisis data</a:t>
            </a:r>
            <a:endParaRPr b="1" sz="1290"/>
          </a:p>
          <a:p>
            <a:pPr indent="-310515" lvl="0" marL="457200" rtl="0" algn="just">
              <a:lnSpc>
                <a:spcPct val="105000"/>
              </a:lnSpc>
              <a:spcBef>
                <a:spcPts val="0"/>
              </a:spcBef>
              <a:spcAft>
                <a:spcPts val="0"/>
              </a:spcAft>
              <a:buSzPts val="1290"/>
              <a:buChar char="●"/>
            </a:pPr>
            <a:r>
              <a:rPr b="1" lang="en" sz="1290"/>
              <a:t>Numpy : </a:t>
            </a:r>
            <a:r>
              <a:rPr b="1" lang="en" sz="1290"/>
              <a:t>Library yang digunakan untuk fungsi numerik dengan array</a:t>
            </a:r>
            <a:endParaRPr b="1" sz="1290"/>
          </a:p>
          <a:p>
            <a:pPr indent="-310515" lvl="0" marL="457200" rtl="0" algn="just">
              <a:lnSpc>
                <a:spcPct val="105000"/>
              </a:lnSpc>
              <a:spcBef>
                <a:spcPts val="0"/>
              </a:spcBef>
              <a:spcAft>
                <a:spcPts val="0"/>
              </a:spcAft>
              <a:buSzPts val="1290"/>
              <a:buChar char="●"/>
            </a:pPr>
            <a:r>
              <a:rPr b="1" lang="en" sz="1290"/>
              <a:t>Matplotlib &amp; Seaborn : Library yang digunakan untuk membuat visualisasi statistik analisis data</a:t>
            </a:r>
            <a:endParaRPr b="1" sz="1290"/>
          </a:p>
          <a:p>
            <a:pPr indent="-310515" lvl="0" marL="457200" rtl="0" algn="just">
              <a:lnSpc>
                <a:spcPct val="105000"/>
              </a:lnSpc>
              <a:spcBef>
                <a:spcPts val="0"/>
              </a:spcBef>
              <a:spcAft>
                <a:spcPts val="0"/>
              </a:spcAft>
              <a:buSzPts val="1290"/>
              <a:buChar char="●"/>
            </a:pPr>
            <a:r>
              <a:rPr b="1" lang="en" sz="1290"/>
              <a:t>BDay from ‘pandas.tseries.offsets : Library yang digunakan untuk operasi manipulasi tanggal (date) agar mampu  menganalisis dan visualisasi data secara efisien</a:t>
            </a:r>
            <a:endParaRPr b="1" sz="1290"/>
          </a:p>
          <a:p>
            <a:pPr indent="0" lvl="0" marL="0" rtl="0" algn="just">
              <a:lnSpc>
                <a:spcPct val="105000"/>
              </a:lnSpc>
              <a:spcBef>
                <a:spcPts val="1200"/>
              </a:spcBef>
              <a:spcAft>
                <a:spcPts val="1200"/>
              </a:spcAft>
              <a:buSzPts val="935"/>
              <a:buNone/>
            </a:pPr>
            <a:r>
              <a:t/>
            </a:r>
            <a:endParaRPr sz="1290"/>
          </a:p>
        </p:txBody>
      </p:sp>
      <p:pic>
        <p:nvPicPr>
          <p:cNvPr id="149" name="Google Shape;149;p15"/>
          <p:cNvPicPr preferRelativeResize="0"/>
          <p:nvPr/>
        </p:nvPicPr>
        <p:blipFill>
          <a:blip r:embed="rId3">
            <a:alphaModFix/>
          </a:blip>
          <a:stretch>
            <a:fillRect/>
          </a:stretch>
        </p:blipFill>
        <p:spPr>
          <a:xfrm>
            <a:off x="2627838" y="914296"/>
            <a:ext cx="3888325" cy="1337425"/>
          </a:xfrm>
          <a:prstGeom prst="rect">
            <a:avLst/>
          </a:prstGeom>
          <a:noFill/>
          <a:ln>
            <a:noFill/>
          </a:ln>
        </p:spPr>
      </p:pic>
      <p:sp>
        <p:nvSpPr>
          <p:cNvPr id="150" name="Google Shape;150;p15"/>
          <p:cNvSpPr/>
          <p:nvPr/>
        </p:nvSpPr>
        <p:spPr>
          <a:xfrm>
            <a:off x="3574500" y="4576275"/>
            <a:ext cx="1995000" cy="370500"/>
          </a:xfrm>
          <a:prstGeom prst="roundRect">
            <a:avLst>
              <a:gd fmla="val 16667" name="adj"/>
            </a:avLst>
          </a:prstGeom>
          <a:solidFill>
            <a:srgbClr val="1C458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51" name="Google Shape;151;p15"/>
          <p:cNvSpPr txBox="1"/>
          <p:nvPr>
            <p:ph idx="1" type="body"/>
          </p:nvPr>
        </p:nvSpPr>
        <p:spPr>
          <a:xfrm>
            <a:off x="3673400" y="4576275"/>
            <a:ext cx="1884900" cy="370500"/>
          </a:xfrm>
          <a:prstGeom prst="rect">
            <a:avLst/>
          </a:prstGeom>
          <a:ln>
            <a:noFill/>
          </a:ln>
        </p:spPr>
        <p:txBody>
          <a:bodyPr anchorCtr="0" anchor="t" bIns="91425" lIns="91425" spcFirstLastPara="1" rIns="91425" wrap="square" tIns="91425">
            <a:normAutofit fontScale="85000" lnSpcReduction="20000"/>
          </a:bodyPr>
          <a:lstStyle/>
          <a:p>
            <a:pPr indent="0" lvl="0" marL="0" rtl="0" algn="l">
              <a:spcBef>
                <a:spcPts val="0"/>
              </a:spcBef>
              <a:spcAft>
                <a:spcPts val="1200"/>
              </a:spcAft>
              <a:buNone/>
            </a:pPr>
            <a:r>
              <a:rPr b="1" lang="en" sz="1500">
                <a:solidFill>
                  <a:srgbClr val="B6D7A8"/>
                </a:solidFill>
                <a:latin typeface="Montserrat"/>
                <a:ea typeface="Montserrat"/>
                <a:cs typeface="Montserrat"/>
                <a:sym typeface="Montserrat"/>
              </a:rPr>
              <a:t>IMPORT LIBRARIES</a:t>
            </a:r>
            <a:endParaRPr>
              <a:solidFill>
                <a:srgbClr val="B6D7A8"/>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6"/>
          <p:cNvSpPr txBox="1"/>
          <p:nvPr>
            <p:ph type="title"/>
          </p:nvPr>
        </p:nvSpPr>
        <p:spPr>
          <a:xfrm>
            <a:off x="1096400" y="287900"/>
            <a:ext cx="7038900" cy="6264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a:solidFill>
                  <a:schemeClr val="lt2"/>
                </a:solidFill>
              </a:rPr>
              <a:t>DATA PREPARATION</a:t>
            </a:r>
            <a:endParaRPr b="1">
              <a:solidFill>
                <a:schemeClr val="lt2"/>
              </a:solidFill>
            </a:endParaRPr>
          </a:p>
        </p:txBody>
      </p:sp>
      <p:sp>
        <p:nvSpPr>
          <p:cNvPr id="157" name="Google Shape;157;p16"/>
          <p:cNvSpPr txBox="1"/>
          <p:nvPr>
            <p:ph idx="1" type="body"/>
          </p:nvPr>
        </p:nvSpPr>
        <p:spPr>
          <a:xfrm>
            <a:off x="1209875" y="2622963"/>
            <a:ext cx="6551100" cy="1792800"/>
          </a:xfrm>
          <a:prstGeom prst="rect">
            <a:avLst/>
          </a:prstGeom>
        </p:spPr>
        <p:txBody>
          <a:bodyPr anchorCtr="0" anchor="t" bIns="91425" lIns="91425" spcFirstLastPara="1" rIns="91425" wrap="square" tIns="91425">
            <a:noAutofit/>
          </a:bodyPr>
          <a:lstStyle/>
          <a:p>
            <a:pPr indent="-317500" lvl="0" marL="457200" rtl="0" algn="just">
              <a:lnSpc>
                <a:spcPct val="105000"/>
              </a:lnSpc>
              <a:spcBef>
                <a:spcPts val="0"/>
              </a:spcBef>
              <a:spcAft>
                <a:spcPts val="0"/>
              </a:spcAft>
              <a:buSzPts val="1400"/>
              <a:buChar char="●"/>
            </a:pPr>
            <a:r>
              <a:rPr lang="en" sz="1400"/>
              <a:t>Dataset diimport dari sumber Open Source yang tersedia secara online berekstensi </a:t>
            </a:r>
            <a:r>
              <a:rPr b="1" lang="en" sz="1400"/>
              <a:t>.csv </a:t>
            </a:r>
            <a:r>
              <a:rPr lang="en" sz="1400"/>
              <a:t>ke DataFrame.</a:t>
            </a:r>
            <a:endParaRPr sz="1400"/>
          </a:p>
          <a:p>
            <a:pPr indent="-317500" lvl="0" marL="457200" rtl="0" algn="just">
              <a:lnSpc>
                <a:spcPct val="105000"/>
              </a:lnSpc>
              <a:spcBef>
                <a:spcPts val="0"/>
              </a:spcBef>
              <a:spcAft>
                <a:spcPts val="0"/>
              </a:spcAft>
              <a:buSzPts val="1400"/>
              <a:buChar char="●"/>
            </a:pPr>
            <a:r>
              <a:rPr lang="en" sz="1400"/>
              <a:t>Setiap variabel </a:t>
            </a:r>
            <a:r>
              <a:rPr b="1" lang="en" sz="1400"/>
              <a:t>‘path_’ </a:t>
            </a:r>
            <a:r>
              <a:rPr lang="en" sz="1400"/>
              <a:t>menyimpan data dari file CSV yang terdiri dari order_detail.csv, payment_detail.csv, customer_detail.csv, dan sku_detail.csv</a:t>
            </a:r>
            <a:endParaRPr sz="1400"/>
          </a:p>
          <a:p>
            <a:pPr indent="-317500" lvl="0" marL="457200" rtl="0" algn="just">
              <a:lnSpc>
                <a:spcPct val="105000"/>
              </a:lnSpc>
              <a:spcBef>
                <a:spcPts val="0"/>
              </a:spcBef>
              <a:spcAft>
                <a:spcPts val="0"/>
              </a:spcAft>
              <a:buSzPts val="1400"/>
              <a:buChar char="●"/>
            </a:pPr>
            <a:r>
              <a:rPr lang="en" sz="1400"/>
              <a:t>Fungsi </a:t>
            </a:r>
            <a:r>
              <a:rPr b="1" lang="en" sz="1400"/>
              <a:t>‘pd.read_csv()’</a:t>
            </a:r>
            <a:r>
              <a:rPr lang="en" sz="1400"/>
              <a:t> adalah membaca setiap file CSV, dan menyimpan hasil ke dalam DataFrame yang variabelnya bernama df_od, df_pd, df_cd, dan df_sd. </a:t>
            </a:r>
            <a:endParaRPr sz="1400"/>
          </a:p>
        </p:txBody>
      </p:sp>
      <p:pic>
        <p:nvPicPr>
          <p:cNvPr id="158" name="Google Shape;158;p16"/>
          <p:cNvPicPr preferRelativeResize="0"/>
          <p:nvPr/>
        </p:nvPicPr>
        <p:blipFill>
          <a:blip r:embed="rId3">
            <a:alphaModFix/>
          </a:blip>
          <a:stretch>
            <a:fillRect/>
          </a:stretch>
        </p:blipFill>
        <p:spPr>
          <a:xfrm>
            <a:off x="1169375" y="914300"/>
            <a:ext cx="6632125" cy="1548144"/>
          </a:xfrm>
          <a:prstGeom prst="rect">
            <a:avLst/>
          </a:prstGeom>
          <a:noFill/>
          <a:ln>
            <a:noFill/>
          </a:ln>
        </p:spPr>
      </p:pic>
      <p:sp>
        <p:nvSpPr>
          <p:cNvPr id="159" name="Google Shape;159;p16"/>
          <p:cNvSpPr/>
          <p:nvPr/>
        </p:nvSpPr>
        <p:spPr>
          <a:xfrm>
            <a:off x="3574500" y="4576275"/>
            <a:ext cx="1983900" cy="370500"/>
          </a:xfrm>
          <a:prstGeom prst="roundRect">
            <a:avLst>
              <a:gd fmla="val 16667" name="adj"/>
            </a:avLst>
          </a:prstGeom>
          <a:solidFill>
            <a:srgbClr val="1C458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60" name="Google Shape;160;p16"/>
          <p:cNvSpPr txBox="1"/>
          <p:nvPr>
            <p:ph idx="1" type="body"/>
          </p:nvPr>
        </p:nvSpPr>
        <p:spPr>
          <a:xfrm>
            <a:off x="3629550" y="4576275"/>
            <a:ext cx="1884900" cy="370500"/>
          </a:xfrm>
          <a:prstGeom prst="rect">
            <a:avLst/>
          </a:prstGeom>
          <a:ln>
            <a:noFill/>
          </a:ln>
        </p:spPr>
        <p:txBody>
          <a:bodyPr anchorCtr="0" anchor="t" bIns="91425" lIns="91425" spcFirstLastPara="1" rIns="91425" wrap="square" tIns="91425">
            <a:normAutofit fontScale="85000" lnSpcReduction="20000"/>
          </a:bodyPr>
          <a:lstStyle/>
          <a:p>
            <a:pPr indent="0" lvl="0" marL="0" rtl="0" algn="ctr">
              <a:spcBef>
                <a:spcPts val="0"/>
              </a:spcBef>
              <a:spcAft>
                <a:spcPts val="1200"/>
              </a:spcAft>
              <a:buNone/>
            </a:pPr>
            <a:r>
              <a:rPr b="1" lang="en" sz="1500">
                <a:solidFill>
                  <a:srgbClr val="D9EAD3"/>
                </a:solidFill>
                <a:latin typeface="Montserrat"/>
                <a:ea typeface="Montserrat"/>
                <a:cs typeface="Montserrat"/>
                <a:sym typeface="Montserrat"/>
              </a:rPr>
              <a:t>IMPORT DATASET</a:t>
            </a:r>
            <a:endParaRPr>
              <a:solidFill>
                <a:srgbClr val="D9EAD3"/>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7"/>
          <p:cNvSpPr txBox="1"/>
          <p:nvPr>
            <p:ph type="title"/>
          </p:nvPr>
        </p:nvSpPr>
        <p:spPr>
          <a:xfrm>
            <a:off x="1096400" y="287900"/>
            <a:ext cx="7038900" cy="6264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a:solidFill>
                  <a:schemeClr val="lt2"/>
                </a:solidFill>
              </a:rPr>
              <a:t>DATA PREPARATION</a:t>
            </a:r>
            <a:endParaRPr b="1">
              <a:solidFill>
                <a:schemeClr val="lt2"/>
              </a:solidFill>
            </a:endParaRPr>
          </a:p>
        </p:txBody>
      </p:sp>
      <p:sp>
        <p:nvSpPr>
          <p:cNvPr id="166" name="Google Shape;166;p17"/>
          <p:cNvSpPr txBox="1"/>
          <p:nvPr>
            <p:ph idx="1" type="body"/>
          </p:nvPr>
        </p:nvSpPr>
        <p:spPr>
          <a:xfrm>
            <a:off x="947450" y="2571750"/>
            <a:ext cx="7336800" cy="1947300"/>
          </a:xfrm>
          <a:prstGeom prst="rect">
            <a:avLst/>
          </a:prstGeom>
        </p:spPr>
        <p:txBody>
          <a:bodyPr anchorCtr="0" anchor="t" bIns="91425" lIns="91425" spcFirstLastPara="1" rIns="91425" wrap="square" tIns="91425">
            <a:noAutofit/>
          </a:bodyPr>
          <a:lstStyle/>
          <a:p>
            <a:pPr indent="0" lvl="0" marL="0" rtl="0" algn="just">
              <a:lnSpc>
                <a:spcPct val="105000"/>
              </a:lnSpc>
              <a:spcBef>
                <a:spcPts val="0"/>
              </a:spcBef>
              <a:spcAft>
                <a:spcPts val="0"/>
              </a:spcAft>
              <a:buNone/>
            </a:pPr>
            <a:r>
              <a:rPr lang="en"/>
              <a:t>Agar bisa mengolah dan menganalisis data menggunakan SQL maka perlu mengimport Library  SQL sebagai berikut : </a:t>
            </a:r>
            <a:endParaRPr/>
          </a:p>
          <a:p>
            <a:pPr indent="-311150" lvl="0" marL="457200" rtl="0" algn="just">
              <a:lnSpc>
                <a:spcPct val="105000"/>
              </a:lnSpc>
              <a:spcBef>
                <a:spcPts val="1200"/>
              </a:spcBef>
              <a:spcAft>
                <a:spcPts val="0"/>
              </a:spcAft>
              <a:buSzPts val="1300"/>
              <a:buChar char="-"/>
            </a:pPr>
            <a:r>
              <a:rPr b="1" lang="en"/>
              <a:t>SQLite3</a:t>
            </a:r>
            <a:r>
              <a:rPr lang="en"/>
              <a:t> : Bertujuan untuk mengimport fungsi </a:t>
            </a:r>
            <a:r>
              <a:rPr b="1" i="1" lang="en"/>
              <a:t>connect</a:t>
            </a:r>
            <a:r>
              <a:rPr b="1" lang="en"/>
              <a:t> </a:t>
            </a:r>
            <a:r>
              <a:rPr lang="en"/>
              <a:t>dari Library SQL untuk membuat koneksi di database memory Google Colab</a:t>
            </a:r>
            <a:endParaRPr/>
          </a:p>
          <a:p>
            <a:pPr indent="-311150" lvl="0" marL="457200" rtl="0" algn="just">
              <a:lnSpc>
                <a:spcPct val="105000"/>
              </a:lnSpc>
              <a:spcBef>
                <a:spcPts val="0"/>
              </a:spcBef>
              <a:spcAft>
                <a:spcPts val="0"/>
              </a:spcAft>
              <a:buSzPts val="1300"/>
              <a:buChar char="-"/>
            </a:pPr>
            <a:r>
              <a:rPr b="1" lang="en"/>
              <a:t>Connect</a:t>
            </a:r>
            <a:r>
              <a:rPr lang="en"/>
              <a:t>(‘:memory:’) : Mengkoneksikan database memory sementara (RAM) untuk menjalankan SQL</a:t>
            </a:r>
            <a:endParaRPr/>
          </a:p>
          <a:p>
            <a:pPr indent="-311150" lvl="0" marL="457200" rtl="0" algn="just">
              <a:lnSpc>
                <a:spcPct val="105000"/>
              </a:lnSpc>
              <a:spcBef>
                <a:spcPts val="0"/>
              </a:spcBef>
              <a:spcAft>
                <a:spcPts val="0"/>
              </a:spcAft>
              <a:buSzPts val="1300"/>
              <a:buChar char="-"/>
            </a:pPr>
            <a:r>
              <a:rPr b="1" lang="en"/>
              <a:t>To_sql() : </a:t>
            </a:r>
            <a:r>
              <a:rPr lang="en"/>
              <a:t>Fungsi dari Library Pandas untuk menyimpan DataFrame sebagai tabel dalam database SQLite</a:t>
            </a:r>
            <a:endParaRPr/>
          </a:p>
        </p:txBody>
      </p:sp>
      <p:sp>
        <p:nvSpPr>
          <p:cNvPr id="167" name="Google Shape;167;p17"/>
          <p:cNvSpPr/>
          <p:nvPr/>
        </p:nvSpPr>
        <p:spPr>
          <a:xfrm>
            <a:off x="3574500" y="4576275"/>
            <a:ext cx="1983900" cy="370500"/>
          </a:xfrm>
          <a:prstGeom prst="roundRect">
            <a:avLst>
              <a:gd fmla="val 16667" name="adj"/>
            </a:avLst>
          </a:prstGeom>
          <a:solidFill>
            <a:srgbClr val="1C458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68" name="Google Shape;168;p17"/>
          <p:cNvSpPr txBox="1"/>
          <p:nvPr>
            <p:ph idx="1" type="body"/>
          </p:nvPr>
        </p:nvSpPr>
        <p:spPr>
          <a:xfrm>
            <a:off x="3629550" y="4576275"/>
            <a:ext cx="1884900" cy="370500"/>
          </a:xfrm>
          <a:prstGeom prst="rect">
            <a:avLst/>
          </a:prstGeom>
          <a:ln>
            <a:noFill/>
          </a:ln>
        </p:spPr>
        <p:txBody>
          <a:bodyPr anchorCtr="0" anchor="t" bIns="91425" lIns="91425" spcFirstLastPara="1" rIns="91425" wrap="square" tIns="91425">
            <a:normAutofit fontScale="77500"/>
          </a:bodyPr>
          <a:lstStyle/>
          <a:p>
            <a:pPr indent="0" lvl="0" marL="0" rtl="0" algn="ctr">
              <a:spcBef>
                <a:spcPts val="0"/>
              </a:spcBef>
              <a:spcAft>
                <a:spcPts val="1200"/>
              </a:spcAft>
              <a:buNone/>
            </a:pPr>
            <a:r>
              <a:rPr b="1" lang="en" sz="1500">
                <a:solidFill>
                  <a:srgbClr val="D0E0E3"/>
                </a:solidFill>
                <a:latin typeface="Montserrat"/>
                <a:ea typeface="Montserrat"/>
                <a:cs typeface="Montserrat"/>
                <a:sym typeface="Montserrat"/>
              </a:rPr>
              <a:t>IMPORT LIBRARY SQL</a:t>
            </a:r>
            <a:endParaRPr>
              <a:solidFill>
                <a:srgbClr val="D0E0E3"/>
              </a:solidFill>
            </a:endParaRPr>
          </a:p>
        </p:txBody>
      </p:sp>
      <p:pic>
        <p:nvPicPr>
          <p:cNvPr id="169" name="Google Shape;169;p17"/>
          <p:cNvPicPr preferRelativeResize="0"/>
          <p:nvPr/>
        </p:nvPicPr>
        <p:blipFill>
          <a:blip r:embed="rId3">
            <a:alphaModFix/>
          </a:blip>
          <a:stretch>
            <a:fillRect/>
          </a:stretch>
        </p:blipFill>
        <p:spPr>
          <a:xfrm>
            <a:off x="1782225" y="914300"/>
            <a:ext cx="5579550" cy="15372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8"/>
          <p:cNvSpPr txBox="1"/>
          <p:nvPr>
            <p:ph type="title"/>
          </p:nvPr>
        </p:nvSpPr>
        <p:spPr>
          <a:xfrm>
            <a:off x="1096400" y="287900"/>
            <a:ext cx="7038900" cy="6264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a:solidFill>
                  <a:schemeClr val="lt2"/>
                </a:solidFill>
              </a:rPr>
              <a:t>DATA PREPARATION</a:t>
            </a:r>
            <a:endParaRPr b="1">
              <a:solidFill>
                <a:schemeClr val="lt2"/>
              </a:solidFill>
            </a:endParaRPr>
          </a:p>
        </p:txBody>
      </p:sp>
      <p:sp>
        <p:nvSpPr>
          <p:cNvPr id="175" name="Google Shape;175;p18"/>
          <p:cNvSpPr/>
          <p:nvPr/>
        </p:nvSpPr>
        <p:spPr>
          <a:xfrm>
            <a:off x="3574500" y="4576275"/>
            <a:ext cx="1983900" cy="370500"/>
          </a:xfrm>
          <a:prstGeom prst="roundRect">
            <a:avLst>
              <a:gd fmla="val 16667" name="adj"/>
            </a:avLst>
          </a:prstGeom>
          <a:solidFill>
            <a:srgbClr val="1C458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76" name="Google Shape;176;p18"/>
          <p:cNvSpPr txBox="1"/>
          <p:nvPr>
            <p:ph idx="1" type="body"/>
          </p:nvPr>
        </p:nvSpPr>
        <p:spPr>
          <a:xfrm>
            <a:off x="3629550" y="4576275"/>
            <a:ext cx="1884900" cy="370500"/>
          </a:xfrm>
          <a:prstGeom prst="rect">
            <a:avLst/>
          </a:prstGeom>
          <a:ln>
            <a:noFill/>
          </a:ln>
        </p:spPr>
        <p:txBody>
          <a:bodyPr anchorCtr="0" anchor="t" bIns="91425" lIns="91425" spcFirstLastPara="1" rIns="91425" wrap="square" tIns="91425">
            <a:normAutofit fontScale="85000" lnSpcReduction="20000"/>
          </a:bodyPr>
          <a:lstStyle/>
          <a:p>
            <a:pPr indent="0" lvl="0" marL="0" rtl="0" algn="ctr">
              <a:spcBef>
                <a:spcPts val="0"/>
              </a:spcBef>
              <a:spcAft>
                <a:spcPts val="1200"/>
              </a:spcAft>
              <a:buNone/>
            </a:pPr>
            <a:r>
              <a:rPr b="1" lang="en" sz="1500">
                <a:solidFill>
                  <a:srgbClr val="D0E0E3"/>
                </a:solidFill>
                <a:latin typeface="Montserrat"/>
                <a:ea typeface="Montserrat"/>
                <a:cs typeface="Montserrat"/>
                <a:sym typeface="Montserrat"/>
              </a:rPr>
              <a:t>MERGE DATA</a:t>
            </a:r>
            <a:endParaRPr>
              <a:solidFill>
                <a:srgbClr val="D0E0E3"/>
              </a:solidFill>
            </a:endParaRPr>
          </a:p>
        </p:txBody>
      </p:sp>
      <p:pic>
        <p:nvPicPr>
          <p:cNvPr id="177" name="Google Shape;177;p18"/>
          <p:cNvPicPr preferRelativeResize="0"/>
          <p:nvPr/>
        </p:nvPicPr>
        <p:blipFill>
          <a:blip r:embed="rId3">
            <a:alphaModFix/>
          </a:blip>
          <a:stretch>
            <a:fillRect/>
          </a:stretch>
        </p:blipFill>
        <p:spPr>
          <a:xfrm>
            <a:off x="598700" y="1021275"/>
            <a:ext cx="3924251" cy="3226500"/>
          </a:xfrm>
          <a:prstGeom prst="rect">
            <a:avLst/>
          </a:prstGeom>
          <a:noFill/>
          <a:ln cap="flat" cmpd="sng" w="9525">
            <a:solidFill>
              <a:schemeClr val="lt1"/>
            </a:solidFill>
            <a:prstDash val="solid"/>
            <a:round/>
            <a:headEnd len="sm" w="sm" type="none"/>
            <a:tailEnd len="sm" w="sm" type="none"/>
          </a:ln>
        </p:spPr>
      </p:pic>
      <p:sp>
        <p:nvSpPr>
          <p:cNvPr id="178" name="Google Shape;178;p18"/>
          <p:cNvSpPr txBox="1"/>
          <p:nvPr>
            <p:ph idx="1" type="body"/>
          </p:nvPr>
        </p:nvSpPr>
        <p:spPr>
          <a:xfrm>
            <a:off x="4817525" y="1021275"/>
            <a:ext cx="3873600" cy="3226500"/>
          </a:xfrm>
          <a:prstGeom prst="rect">
            <a:avLst/>
          </a:prstGeom>
        </p:spPr>
        <p:txBody>
          <a:bodyPr anchorCtr="0" anchor="t" bIns="91425" lIns="91425" spcFirstLastPara="1" rIns="91425" wrap="square" tIns="91425">
            <a:noAutofit/>
          </a:bodyPr>
          <a:lstStyle/>
          <a:p>
            <a:pPr indent="0" lvl="0" marL="0" rtl="0" algn="just">
              <a:lnSpc>
                <a:spcPct val="105000"/>
              </a:lnSpc>
              <a:spcBef>
                <a:spcPts val="0"/>
              </a:spcBef>
              <a:spcAft>
                <a:spcPts val="0"/>
              </a:spcAft>
              <a:buNone/>
            </a:pPr>
            <a:r>
              <a:rPr lang="en"/>
              <a:t>Berikut ini adalah fungsi Query untuk menggabungkan tabel-tabel yang telah disimpan ke dalam database SQLite di memory.</a:t>
            </a:r>
            <a:endParaRPr/>
          </a:p>
          <a:p>
            <a:pPr indent="0" lvl="0" marL="0" rtl="0" algn="just">
              <a:lnSpc>
                <a:spcPct val="105000"/>
              </a:lnSpc>
              <a:spcBef>
                <a:spcPts val="1200"/>
              </a:spcBef>
              <a:spcAft>
                <a:spcPts val="0"/>
              </a:spcAft>
              <a:buNone/>
            </a:pPr>
            <a:r>
              <a:rPr lang="en"/>
              <a:t>Menggunakan fungsi </a:t>
            </a:r>
            <a:r>
              <a:rPr b="1" i="1" lang="en"/>
              <a:t>pd.read_sql</a:t>
            </a:r>
            <a:r>
              <a:rPr b="1" lang="en"/>
              <a:t>() </a:t>
            </a:r>
            <a:r>
              <a:rPr lang="en"/>
              <a:t>untuk memilih semua isi dari tabel </a:t>
            </a:r>
            <a:r>
              <a:rPr i="1" lang="en"/>
              <a:t>order_detail, </a:t>
            </a:r>
            <a:r>
              <a:rPr lang="en"/>
              <a:t>dan kolom tertentu dari tabel lainnya.</a:t>
            </a:r>
            <a:endParaRPr/>
          </a:p>
          <a:p>
            <a:pPr indent="0" lvl="0" marL="0" rtl="0" algn="just">
              <a:lnSpc>
                <a:spcPct val="105000"/>
              </a:lnSpc>
              <a:spcBef>
                <a:spcPts val="1200"/>
              </a:spcBef>
              <a:spcAft>
                <a:spcPts val="0"/>
              </a:spcAft>
              <a:buNone/>
            </a:pPr>
            <a:r>
              <a:rPr lang="en"/>
              <a:t>Data tabel digabungkan dengan fungsi </a:t>
            </a:r>
            <a:r>
              <a:rPr b="1" lang="en"/>
              <a:t>LEFT JOIN </a:t>
            </a:r>
            <a:r>
              <a:rPr lang="en"/>
              <a:t>berdasarkan ID kolom tabel yang memiliki hubungan dengan kolom yang ada di tabel </a:t>
            </a:r>
            <a:r>
              <a:rPr i="1" lang="en"/>
              <a:t>order_detail</a:t>
            </a:r>
            <a:r>
              <a:rPr lang="en"/>
              <a:t>.</a:t>
            </a:r>
            <a:endParaRPr/>
          </a:p>
          <a:p>
            <a:pPr indent="0" lvl="0" marL="0" rtl="0" algn="just">
              <a:lnSpc>
                <a:spcPct val="105000"/>
              </a:lnSpc>
              <a:spcBef>
                <a:spcPts val="1200"/>
              </a:spcBef>
              <a:spcAft>
                <a:spcPts val="1200"/>
              </a:spcAft>
              <a:buNone/>
            </a:pPr>
            <a:r>
              <a:rPr lang="en"/>
              <a:t>Hasil disimpan ke dalam DataFrame yang bervariabel ‘df’</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9"/>
          <p:cNvSpPr txBox="1"/>
          <p:nvPr>
            <p:ph type="title"/>
          </p:nvPr>
        </p:nvSpPr>
        <p:spPr>
          <a:xfrm>
            <a:off x="1096400" y="287900"/>
            <a:ext cx="7038900" cy="6264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a:solidFill>
                  <a:schemeClr val="lt2"/>
                </a:solidFill>
              </a:rPr>
              <a:t>DATA PREPARATION</a:t>
            </a:r>
            <a:endParaRPr b="1">
              <a:solidFill>
                <a:schemeClr val="lt2"/>
              </a:solidFill>
            </a:endParaRPr>
          </a:p>
        </p:txBody>
      </p:sp>
      <p:sp>
        <p:nvSpPr>
          <p:cNvPr id="184" name="Google Shape;184;p19"/>
          <p:cNvSpPr/>
          <p:nvPr/>
        </p:nvSpPr>
        <p:spPr>
          <a:xfrm>
            <a:off x="3623900" y="4461975"/>
            <a:ext cx="1983900" cy="370500"/>
          </a:xfrm>
          <a:prstGeom prst="roundRect">
            <a:avLst>
              <a:gd fmla="val 16667" name="adj"/>
            </a:avLst>
          </a:prstGeom>
          <a:solidFill>
            <a:srgbClr val="1C458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85" name="Google Shape;185;p19"/>
          <p:cNvSpPr txBox="1"/>
          <p:nvPr>
            <p:ph idx="1" type="body"/>
          </p:nvPr>
        </p:nvSpPr>
        <p:spPr>
          <a:xfrm>
            <a:off x="3678950" y="4461975"/>
            <a:ext cx="1884900" cy="370500"/>
          </a:xfrm>
          <a:prstGeom prst="rect">
            <a:avLst/>
          </a:prstGeom>
          <a:ln>
            <a:noFill/>
          </a:ln>
        </p:spPr>
        <p:txBody>
          <a:bodyPr anchorCtr="0" anchor="t" bIns="91425" lIns="91425" spcFirstLastPara="1" rIns="91425" wrap="square" tIns="91425">
            <a:normAutofit fontScale="77500"/>
          </a:bodyPr>
          <a:lstStyle/>
          <a:p>
            <a:pPr indent="0" lvl="0" marL="0" rtl="0" algn="ctr">
              <a:spcBef>
                <a:spcPts val="0"/>
              </a:spcBef>
              <a:spcAft>
                <a:spcPts val="1200"/>
              </a:spcAft>
              <a:buNone/>
            </a:pPr>
            <a:r>
              <a:rPr b="1" lang="en" sz="1500">
                <a:solidFill>
                  <a:srgbClr val="D0E0E3"/>
                </a:solidFill>
                <a:latin typeface="Montserrat"/>
                <a:ea typeface="Montserrat"/>
                <a:cs typeface="Montserrat"/>
                <a:sym typeface="Montserrat"/>
              </a:rPr>
              <a:t>CHANGE DATA TYPES</a:t>
            </a:r>
            <a:endParaRPr>
              <a:solidFill>
                <a:srgbClr val="D0E0E3"/>
              </a:solidFill>
            </a:endParaRPr>
          </a:p>
        </p:txBody>
      </p:sp>
      <p:sp>
        <p:nvSpPr>
          <p:cNvPr id="186" name="Google Shape;186;p19"/>
          <p:cNvSpPr txBox="1"/>
          <p:nvPr>
            <p:ph idx="1" type="body"/>
          </p:nvPr>
        </p:nvSpPr>
        <p:spPr>
          <a:xfrm>
            <a:off x="4817525" y="1021275"/>
            <a:ext cx="3873600" cy="1493100"/>
          </a:xfrm>
          <a:prstGeom prst="rect">
            <a:avLst/>
          </a:prstGeom>
        </p:spPr>
        <p:txBody>
          <a:bodyPr anchorCtr="0" anchor="t" bIns="91425" lIns="91425" spcFirstLastPara="1" rIns="91425" wrap="square" tIns="91425">
            <a:noAutofit/>
          </a:bodyPr>
          <a:lstStyle/>
          <a:p>
            <a:pPr indent="0" lvl="0" marL="0" rtl="0" algn="just">
              <a:lnSpc>
                <a:spcPct val="105000"/>
              </a:lnSpc>
              <a:spcBef>
                <a:spcPts val="0"/>
              </a:spcBef>
              <a:spcAft>
                <a:spcPts val="0"/>
              </a:spcAft>
              <a:buNone/>
            </a:pPr>
            <a:r>
              <a:rPr lang="en"/>
              <a:t>Mengubah tipe data dari kolom tertentu agar bisa menjadi lebih sesuai untuk diolah dan dianalisis. </a:t>
            </a:r>
            <a:endParaRPr/>
          </a:p>
          <a:p>
            <a:pPr indent="0" lvl="0" marL="0" rtl="0" algn="just">
              <a:lnSpc>
                <a:spcPct val="105000"/>
              </a:lnSpc>
              <a:spcBef>
                <a:spcPts val="1200"/>
              </a:spcBef>
              <a:spcAft>
                <a:spcPts val="0"/>
              </a:spcAft>
              <a:buNone/>
            </a:pPr>
            <a:r>
              <a:rPr lang="en"/>
              <a:t>Dengan fungsi </a:t>
            </a:r>
            <a:r>
              <a:rPr b="1" lang="en"/>
              <a:t>astype() </a:t>
            </a:r>
            <a:r>
              <a:rPr lang="en"/>
              <a:t>kolom </a:t>
            </a:r>
            <a:r>
              <a:rPr b="1" i="1" lang="en"/>
              <a:t>before_discount, discount_amount, after_discount, </a:t>
            </a:r>
            <a:r>
              <a:rPr b="1" lang="en"/>
              <a:t>dan </a:t>
            </a:r>
            <a:r>
              <a:rPr b="1" i="1" lang="en"/>
              <a:t>base_price</a:t>
            </a:r>
            <a:r>
              <a:rPr b="1" lang="en"/>
              <a:t> </a:t>
            </a:r>
            <a:r>
              <a:rPr lang="en"/>
              <a:t>diubah menjadi tipe data </a:t>
            </a:r>
            <a:r>
              <a:rPr b="1" lang="en"/>
              <a:t>Integer.</a:t>
            </a:r>
            <a:endParaRPr b="1"/>
          </a:p>
          <a:p>
            <a:pPr indent="0" lvl="0" marL="0" rtl="0" algn="just">
              <a:lnSpc>
                <a:spcPct val="105000"/>
              </a:lnSpc>
              <a:spcBef>
                <a:spcPts val="1200"/>
              </a:spcBef>
              <a:spcAft>
                <a:spcPts val="1200"/>
              </a:spcAft>
              <a:buNone/>
            </a:pPr>
            <a:r>
              <a:t/>
            </a:r>
            <a:endParaRPr b="1"/>
          </a:p>
        </p:txBody>
      </p:sp>
      <p:pic>
        <p:nvPicPr>
          <p:cNvPr id="187" name="Google Shape;187;p19"/>
          <p:cNvPicPr preferRelativeResize="0"/>
          <p:nvPr/>
        </p:nvPicPr>
        <p:blipFill>
          <a:blip r:embed="rId3">
            <a:alphaModFix/>
          </a:blip>
          <a:stretch>
            <a:fillRect/>
          </a:stretch>
        </p:blipFill>
        <p:spPr>
          <a:xfrm>
            <a:off x="238125" y="1076225"/>
            <a:ext cx="4459601" cy="1600200"/>
          </a:xfrm>
          <a:prstGeom prst="rect">
            <a:avLst/>
          </a:prstGeom>
          <a:noFill/>
          <a:ln>
            <a:noFill/>
          </a:ln>
        </p:spPr>
      </p:pic>
      <p:pic>
        <p:nvPicPr>
          <p:cNvPr id="188" name="Google Shape;188;p19"/>
          <p:cNvPicPr preferRelativeResize="0"/>
          <p:nvPr/>
        </p:nvPicPr>
        <p:blipFill>
          <a:blip r:embed="rId4">
            <a:alphaModFix/>
          </a:blip>
          <a:stretch>
            <a:fillRect/>
          </a:stretch>
        </p:blipFill>
        <p:spPr>
          <a:xfrm>
            <a:off x="238125" y="2926150"/>
            <a:ext cx="5069700" cy="1238350"/>
          </a:xfrm>
          <a:prstGeom prst="rect">
            <a:avLst/>
          </a:prstGeom>
          <a:noFill/>
          <a:ln>
            <a:noFill/>
          </a:ln>
        </p:spPr>
      </p:pic>
      <p:sp>
        <p:nvSpPr>
          <p:cNvPr id="189" name="Google Shape;189;p19"/>
          <p:cNvSpPr txBox="1"/>
          <p:nvPr>
            <p:ph idx="1" type="body"/>
          </p:nvPr>
        </p:nvSpPr>
        <p:spPr>
          <a:xfrm>
            <a:off x="5514450" y="3048675"/>
            <a:ext cx="3380400" cy="993300"/>
          </a:xfrm>
          <a:prstGeom prst="rect">
            <a:avLst/>
          </a:prstGeom>
        </p:spPr>
        <p:txBody>
          <a:bodyPr anchorCtr="0" anchor="t" bIns="91425" lIns="91425" spcFirstLastPara="1" rIns="91425" wrap="square" tIns="91425">
            <a:noAutofit/>
          </a:bodyPr>
          <a:lstStyle/>
          <a:p>
            <a:pPr indent="0" lvl="0" marL="0" rtl="0" algn="just">
              <a:lnSpc>
                <a:spcPct val="105000"/>
              </a:lnSpc>
              <a:spcBef>
                <a:spcPts val="0"/>
              </a:spcBef>
              <a:spcAft>
                <a:spcPts val="1200"/>
              </a:spcAft>
              <a:buNone/>
            </a:pPr>
            <a:r>
              <a:rPr lang="en"/>
              <a:t>Mengubah tipe data pada kolom </a:t>
            </a:r>
            <a:r>
              <a:rPr b="1" i="1" lang="en"/>
              <a:t>order_date</a:t>
            </a:r>
            <a:r>
              <a:rPr b="1" lang="en"/>
              <a:t>, dan </a:t>
            </a:r>
            <a:r>
              <a:rPr b="1" i="1" lang="en"/>
              <a:t>registered_date</a:t>
            </a:r>
            <a:r>
              <a:rPr b="1" lang="en"/>
              <a:t> </a:t>
            </a:r>
            <a:r>
              <a:rPr lang="en"/>
              <a:t>menjadi tipe data Date Time dengan fungsi </a:t>
            </a:r>
            <a:r>
              <a:rPr b="1" lang="en"/>
              <a:t>to_datetime().</a:t>
            </a:r>
            <a:endParaRPr b="1"/>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0"/>
          <p:cNvSpPr txBox="1"/>
          <p:nvPr>
            <p:ph type="title"/>
          </p:nvPr>
        </p:nvSpPr>
        <p:spPr>
          <a:xfrm>
            <a:off x="1297500" y="393750"/>
            <a:ext cx="7038900" cy="59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rgbClr val="6D9EEB"/>
                </a:solidFill>
              </a:rPr>
              <a:t>PROBLEM - 1 :</a:t>
            </a:r>
            <a:endParaRPr b="1">
              <a:solidFill>
                <a:srgbClr val="6D9EEB"/>
              </a:solidFill>
            </a:endParaRPr>
          </a:p>
        </p:txBody>
      </p:sp>
      <p:sp>
        <p:nvSpPr>
          <p:cNvPr id="195" name="Google Shape;195;p20"/>
          <p:cNvSpPr txBox="1"/>
          <p:nvPr>
            <p:ph idx="1" type="body"/>
          </p:nvPr>
        </p:nvSpPr>
        <p:spPr>
          <a:xfrm>
            <a:off x="1297500" y="1136650"/>
            <a:ext cx="7038900" cy="3342000"/>
          </a:xfrm>
          <a:prstGeom prst="rect">
            <a:avLst/>
          </a:prstGeom>
          <a:noFill/>
        </p:spPr>
        <p:txBody>
          <a:bodyPr anchorCtr="0" anchor="t" bIns="91425" lIns="91425" spcFirstLastPara="1" rIns="91425" wrap="square" tIns="91425">
            <a:normAutofit lnSpcReduction="20000"/>
          </a:bodyPr>
          <a:lstStyle/>
          <a:p>
            <a:pPr indent="0" lvl="0" marL="0" rtl="0" algn="just">
              <a:spcBef>
                <a:spcPts val="0"/>
              </a:spcBef>
              <a:spcAft>
                <a:spcPts val="0"/>
              </a:spcAft>
              <a:buNone/>
            </a:pPr>
            <a:r>
              <a:rPr lang="en" sz="1400">
                <a:solidFill>
                  <a:schemeClr val="lt2"/>
                </a:solidFill>
                <a:latin typeface="Montserrat SemiBold"/>
                <a:ea typeface="Montserrat SemiBold"/>
                <a:cs typeface="Montserrat SemiBold"/>
                <a:sym typeface="Montserrat SemiBold"/>
              </a:rPr>
              <a:t>Dear Data Analyst,</a:t>
            </a:r>
            <a:endParaRPr sz="1400">
              <a:solidFill>
                <a:schemeClr val="lt2"/>
              </a:solidFill>
              <a:latin typeface="Montserrat SemiBold"/>
              <a:ea typeface="Montserrat SemiBold"/>
              <a:cs typeface="Montserrat SemiBold"/>
              <a:sym typeface="Montserrat SemiBold"/>
            </a:endParaRPr>
          </a:p>
          <a:p>
            <a:pPr indent="0" lvl="0" marL="0" rtl="0" algn="just">
              <a:spcBef>
                <a:spcPts val="1200"/>
              </a:spcBef>
              <a:spcAft>
                <a:spcPts val="0"/>
              </a:spcAft>
              <a:buNone/>
            </a:pPr>
            <a:r>
              <a:rPr lang="en" sz="1400">
                <a:solidFill>
                  <a:schemeClr val="lt2"/>
                </a:solidFill>
                <a:latin typeface="Montserrat SemiBold"/>
                <a:ea typeface="Montserrat SemiBold"/>
                <a:cs typeface="Montserrat SemiBold"/>
                <a:sym typeface="Montserrat SemiBold"/>
              </a:rPr>
              <a:t>Akhir tahun ini, perusahaan akan memberikan hadiah bagi pelanggan yang memenangkan kompetisi Festival Akhir Tahun. Tim Marketing membutuhkan bantuan untuk menentukan perkiraan hadiah yang akan diberikan pada pemenang kompetisi nantinya. Hadiah tersebut akan diambil dari TOP 5 Produk dari Kategori Mobiles &amp; Tablets selama tahun 2022, dengan jumlah kuantitas penjualan (valid = 1) paling tinggi.</a:t>
            </a:r>
            <a:endParaRPr sz="1400">
              <a:solidFill>
                <a:schemeClr val="lt2"/>
              </a:solidFill>
              <a:latin typeface="Montserrat SemiBold"/>
              <a:ea typeface="Montserrat SemiBold"/>
              <a:cs typeface="Montserrat SemiBold"/>
              <a:sym typeface="Montserrat SemiBold"/>
            </a:endParaRPr>
          </a:p>
          <a:p>
            <a:pPr indent="0" lvl="0" marL="0" rtl="0" algn="just">
              <a:spcBef>
                <a:spcPts val="1200"/>
              </a:spcBef>
              <a:spcAft>
                <a:spcPts val="0"/>
              </a:spcAft>
              <a:buNone/>
            </a:pPr>
            <a:r>
              <a:rPr lang="en" sz="1400">
                <a:solidFill>
                  <a:schemeClr val="lt2"/>
                </a:solidFill>
                <a:latin typeface="Montserrat SemiBold"/>
                <a:ea typeface="Montserrat SemiBold"/>
                <a:cs typeface="Montserrat SemiBold"/>
                <a:sym typeface="Montserrat SemiBold"/>
              </a:rPr>
              <a:t>Mohon bantuan, untuk mengirimkan data tersebut sebelum akhir bulan ini ke Tim Marketing. Atas bantuan yang diberikan, kami mengucapkan terima kasih.</a:t>
            </a:r>
            <a:endParaRPr sz="1400">
              <a:solidFill>
                <a:schemeClr val="lt2"/>
              </a:solidFill>
              <a:latin typeface="Montserrat SemiBold"/>
              <a:ea typeface="Montserrat SemiBold"/>
              <a:cs typeface="Montserrat SemiBold"/>
              <a:sym typeface="Montserrat SemiBold"/>
            </a:endParaRPr>
          </a:p>
          <a:p>
            <a:pPr indent="0" lvl="0" marL="0" rtl="0" algn="just">
              <a:spcBef>
                <a:spcPts val="1200"/>
              </a:spcBef>
              <a:spcAft>
                <a:spcPts val="0"/>
              </a:spcAft>
              <a:buNone/>
            </a:pPr>
            <a:r>
              <a:rPr lang="en" sz="1400">
                <a:solidFill>
                  <a:schemeClr val="lt2"/>
                </a:solidFill>
                <a:latin typeface="Montserrat SemiBold"/>
                <a:ea typeface="Montserrat SemiBold"/>
                <a:cs typeface="Montserrat SemiBold"/>
                <a:sym typeface="Montserrat SemiBold"/>
              </a:rPr>
              <a:t>Regards</a:t>
            </a:r>
            <a:endParaRPr sz="1400">
              <a:solidFill>
                <a:schemeClr val="lt2"/>
              </a:solidFill>
              <a:latin typeface="Montserrat SemiBold"/>
              <a:ea typeface="Montserrat SemiBold"/>
              <a:cs typeface="Montserrat SemiBold"/>
              <a:sym typeface="Montserrat SemiBold"/>
            </a:endParaRPr>
          </a:p>
          <a:p>
            <a:pPr indent="0" lvl="0" marL="0" rtl="0" algn="just">
              <a:spcBef>
                <a:spcPts val="1200"/>
              </a:spcBef>
              <a:spcAft>
                <a:spcPts val="1200"/>
              </a:spcAft>
              <a:buNone/>
            </a:pPr>
            <a:r>
              <a:rPr lang="en" sz="1400">
                <a:solidFill>
                  <a:schemeClr val="lt2"/>
                </a:solidFill>
                <a:latin typeface="Montserrat SemiBold"/>
                <a:ea typeface="Montserrat SemiBold"/>
                <a:cs typeface="Montserrat SemiBold"/>
                <a:sym typeface="Montserrat SemiBold"/>
              </a:rPr>
              <a:t>Tim Marketing</a:t>
            </a:r>
            <a:endParaRPr sz="1400">
              <a:solidFill>
                <a:schemeClr val="lt2"/>
              </a:solidFill>
              <a:latin typeface="Montserrat SemiBold"/>
              <a:ea typeface="Montserrat SemiBold"/>
              <a:cs typeface="Montserrat SemiBold"/>
              <a:sym typeface="Montserrat SemiBo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1"/>
          <p:cNvSpPr/>
          <p:nvPr/>
        </p:nvSpPr>
        <p:spPr>
          <a:xfrm>
            <a:off x="785275" y="4396325"/>
            <a:ext cx="3609000" cy="370500"/>
          </a:xfrm>
          <a:prstGeom prst="roundRect">
            <a:avLst>
              <a:gd fmla="val 16667" name="adj"/>
            </a:avLst>
          </a:prstGeom>
          <a:solidFill>
            <a:srgbClr val="1C458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01" name="Google Shape;201;p21"/>
          <p:cNvSpPr txBox="1"/>
          <p:nvPr>
            <p:ph idx="1" type="body"/>
          </p:nvPr>
        </p:nvSpPr>
        <p:spPr>
          <a:xfrm>
            <a:off x="895375" y="4396325"/>
            <a:ext cx="3388800" cy="370500"/>
          </a:xfrm>
          <a:prstGeom prst="rect">
            <a:avLst/>
          </a:prstGeom>
          <a:ln>
            <a:noFill/>
          </a:ln>
        </p:spPr>
        <p:txBody>
          <a:bodyPr anchorCtr="0" anchor="ctr" bIns="91425" lIns="91425" spcFirstLastPara="1" rIns="91425" wrap="square" tIns="91425">
            <a:normAutofit fontScale="92500" lnSpcReduction="20000"/>
          </a:bodyPr>
          <a:lstStyle/>
          <a:p>
            <a:pPr indent="0" lvl="0" marL="0" rtl="0" algn="l">
              <a:spcBef>
                <a:spcPts val="0"/>
              </a:spcBef>
              <a:spcAft>
                <a:spcPts val="0"/>
              </a:spcAft>
              <a:buNone/>
            </a:pPr>
            <a:r>
              <a:rPr b="1" lang="en" sz="1500">
                <a:solidFill>
                  <a:srgbClr val="B6D7A8"/>
                </a:solidFill>
                <a:latin typeface="Montserrat"/>
                <a:ea typeface="Montserrat"/>
                <a:cs typeface="Montserrat"/>
                <a:sym typeface="Montserrat"/>
              </a:rPr>
              <a:t>ANALYSIS &amp; INSIGHT PROBLEM - 1</a:t>
            </a:r>
            <a:endParaRPr>
              <a:solidFill>
                <a:srgbClr val="B6D7A8"/>
              </a:solidFill>
            </a:endParaRPr>
          </a:p>
        </p:txBody>
      </p:sp>
      <p:sp>
        <p:nvSpPr>
          <p:cNvPr id="202" name="Google Shape;202;p21"/>
          <p:cNvSpPr txBox="1"/>
          <p:nvPr/>
        </p:nvSpPr>
        <p:spPr>
          <a:xfrm>
            <a:off x="114300" y="523775"/>
            <a:ext cx="6300000" cy="36282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b="1" lang="en" sz="1200">
                <a:solidFill>
                  <a:schemeClr val="lt2"/>
                </a:solidFill>
                <a:highlight>
                  <a:srgbClr val="1E1E1E"/>
                </a:highlight>
                <a:latin typeface="Montserrat"/>
                <a:ea typeface="Montserrat"/>
                <a:cs typeface="Montserrat"/>
                <a:sym typeface="Montserrat"/>
              </a:rPr>
              <a:t>#1. </a:t>
            </a:r>
            <a:r>
              <a:rPr lang="en" sz="1200">
                <a:solidFill>
                  <a:schemeClr val="lt2"/>
                </a:solidFill>
                <a:highlight>
                  <a:srgbClr val="1E1E1E"/>
                </a:highlight>
                <a:latin typeface="Montserrat"/>
                <a:ea typeface="Montserrat"/>
                <a:cs typeface="Montserrat"/>
                <a:sym typeface="Montserrat"/>
              </a:rPr>
              <a:t> </a:t>
            </a:r>
            <a:r>
              <a:rPr b="1" lang="en" sz="1200">
                <a:solidFill>
                  <a:schemeClr val="lt2"/>
                </a:solidFill>
                <a:highlight>
                  <a:srgbClr val="1E1E1E"/>
                </a:highlight>
                <a:latin typeface="Montserrat"/>
                <a:ea typeface="Montserrat"/>
                <a:cs typeface="Montserrat"/>
                <a:sym typeface="Montserrat"/>
              </a:rPr>
              <a:t>Membuat Dataframe atas filer kolom 'is_valid' =1 dari dataframe [df], dan diberikan alias baru [dfnomor1]</a:t>
            </a:r>
            <a:endParaRPr b="1" sz="1200">
              <a:solidFill>
                <a:schemeClr val="lt2"/>
              </a:solidFill>
              <a:highlight>
                <a:srgbClr val="1E1E1E"/>
              </a:highlight>
              <a:latin typeface="Montserrat"/>
              <a:ea typeface="Montserrat"/>
              <a:cs typeface="Montserrat"/>
              <a:sym typeface="Montserrat"/>
            </a:endParaRPr>
          </a:p>
          <a:p>
            <a:pPr indent="0" lvl="0" marL="0" rtl="0" algn="l">
              <a:lnSpc>
                <a:spcPct val="135714"/>
              </a:lnSpc>
              <a:spcBef>
                <a:spcPts val="0"/>
              </a:spcBef>
              <a:spcAft>
                <a:spcPts val="0"/>
              </a:spcAft>
              <a:buNone/>
            </a:pPr>
            <a:r>
              <a:rPr b="1" lang="en" sz="1200">
                <a:solidFill>
                  <a:schemeClr val="lt1"/>
                </a:solidFill>
                <a:highlight>
                  <a:srgbClr val="1E1E1E"/>
                </a:highlight>
                <a:latin typeface="Courier New"/>
                <a:ea typeface="Courier New"/>
                <a:cs typeface="Courier New"/>
                <a:sym typeface="Courier New"/>
              </a:rPr>
              <a:t>dfnomor1 = df</a:t>
            </a:r>
            <a:r>
              <a:rPr b="1" lang="en" sz="1200">
                <a:solidFill>
                  <a:srgbClr val="FFFF00"/>
                </a:solidFill>
                <a:highlight>
                  <a:srgbClr val="1E1E1E"/>
                </a:highlight>
                <a:latin typeface="Courier New"/>
                <a:ea typeface="Courier New"/>
                <a:cs typeface="Courier New"/>
                <a:sym typeface="Courier New"/>
              </a:rPr>
              <a:t>[</a:t>
            </a:r>
            <a:r>
              <a:rPr b="1" lang="en" sz="1200">
                <a:solidFill>
                  <a:srgbClr val="FF00FF"/>
                </a:solidFill>
                <a:highlight>
                  <a:srgbClr val="1E1E1E"/>
                </a:highlight>
                <a:latin typeface="Courier New"/>
                <a:ea typeface="Courier New"/>
                <a:cs typeface="Courier New"/>
                <a:sym typeface="Courier New"/>
              </a:rPr>
              <a:t>(</a:t>
            </a:r>
            <a:r>
              <a:rPr b="1" lang="en" sz="1200">
                <a:solidFill>
                  <a:schemeClr val="lt1"/>
                </a:solidFill>
                <a:highlight>
                  <a:srgbClr val="1E1E1E"/>
                </a:highlight>
                <a:latin typeface="Courier New"/>
                <a:ea typeface="Courier New"/>
                <a:cs typeface="Courier New"/>
                <a:sym typeface="Courier New"/>
              </a:rPr>
              <a:t>df</a:t>
            </a:r>
            <a:r>
              <a:rPr b="1" lang="en" sz="1200">
                <a:solidFill>
                  <a:srgbClr val="00FFFF"/>
                </a:solidFill>
                <a:highlight>
                  <a:srgbClr val="1E1E1E"/>
                </a:highlight>
                <a:latin typeface="Courier New"/>
                <a:ea typeface="Courier New"/>
                <a:cs typeface="Courier New"/>
                <a:sym typeface="Courier New"/>
              </a:rPr>
              <a:t>[</a:t>
            </a:r>
            <a:r>
              <a:rPr b="1" lang="en" sz="1200">
                <a:solidFill>
                  <a:srgbClr val="CE9178"/>
                </a:solidFill>
                <a:highlight>
                  <a:srgbClr val="1E1E1E"/>
                </a:highlight>
                <a:latin typeface="Courier New"/>
                <a:ea typeface="Courier New"/>
                <a:cs typeface="Courier New"/>
                <a:sym typeface="Courier New"/>
              </a:rPr>
              <a:t>'is_valid'</a:t>
            </a:r>
            <a:r>
              <a:rPr b="1" lang="en" sz="1200">
                <a:solidFill>
                  <a:srgbClr val="00FFFF"/>
                </a:solidFill>
                <a:highlight>
                  <a:srgbClr val="1E1E1E"/>
                </a:highlight>
                <a:latin typeface="Courier New"/>
                <a:ea typeface="Courier New"/>
                <a:cs typeface="Courier New"/>
                <a:sym typeface="Courier New"/>
              </a:rPr>
              <a:t>]</a:t>
            </a:r>
            <a:r>
              <a:rPr b="1" lang="en" sz="1200">
                <a:solidFill>
                  <a:schemeClr val="lt1"/>
                </a:solidFill>
                <a:highlight>
                  <a:srgbClr val="1E1E1E"/>
                </a:highlight>
                <a:latin typeface="Courier New"/>
                <a:ea typeface="Courier New"/>
                <a:cs typeface="Courier New"/>
                <a:sym typeface="Courier New"/>
              </a:rPr>
              <a:t>==1</a:t>
            </a:r>
            <a:r>
              <a:rPr b="1" lang="en" sz="1200">
                <a:solidFill>
                  <a:srgbClr val="FF00FF"/>
                </a:solidFill>
                <a:highlight>
                  <a:srgbClr val="1E1E1E"/>
                </a:highlight>
                <a:latin typeface="Courier New"/>
                <a:ea typeface="Courier New"/>
                <a:cs typeface="Courier New"/>
                <a:sym typeface="Courier New"/>
              </a:rPr>
              <a:t>)</a:t>
            </a:r>
            <a:r>
              <a:rPr b="1" lang="en" sz="1200">
                <a:solidFill>
                  <a:srgbClr val="FFFF00"/>
                </a:solidFill>
                <a:highlight>
                  <a:srgbClr val="1E1E1E"/>
                </a:highlight>
                <a:latin typeface="Courier New"/>
                <a:ea typeface="Courier New"/>
                <a:cs typeface="Courier New"/>
                <a:sym typeface="Courier New"/>
              </a:rPr>
              <a:t>]</a:t>
            </a:r>
            <a:endParaRPr b="1" sz="1200">
              <a:solidFill>
                <a:srgbClr val="FFFF00"/>
              </a:solidFill>
              <a:highlight>
                <a:srgbClr val="1E1E1E"/>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200">
              <a:solidFill>
                <a:srgbClr val="D4D4D4"/>
              </a:solidFill>
              <a:highlight>
                <a:srgbClr val="1E1E1E"/>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200">
                <a:solidFill>
                  <a:schemeClr val="lt2"/>
                </a:solidFill>
                <a:highlight>
                  <a:srgbClr val="1E1E1E"/>
                </a:highlight>
                <a:latin typeface="Montserrat"/>
                <a:ea typeface="Montserrat"/>
                <a:cs typeface="Montserrat"/>
                <a:sym typeface="Montserrat"/>
              </a:rPr>
              <a:t>#2. Membuat dataframe dengan filter kolom 'category' = Mobiles &amp; Tablet</a:t>
            </a:r>
            <a:endParaRPr b="1" sz="1200">
              <a:solidFill>
                <a:schemeClr val="lt2"/>
              </a:solidFill>
              <a:highlight>
                <a:srgbClr val="1E1E1E"/>
              </a:highlight>
              <a:latin typeface="Montserrat"/>
              <a:ea typeface="Montserrat"/>
              <a:cs typeface="Montserrat"/>
              <a:sym typeface="Montserrat"/>
            </a:endParaRPr>
          </a:p>
          <a:p>
            <a:pPr indent="0" lvl="0" marL="0" rtl="0" algn="l">
              <a:lnSpc>
                <a:spcPct val="135714"/>
              </a:lnSpc>
              <a:spcBef>
                <a:spcPts val="0"/>
              </a:spcBef>
              <a:spcAft>
                <a:spcPts val="0"/>
              </a:spcAft>
              <a:buNone/>
            </a:pPr>
            <a:r>
              <a:rPr lang="en" sz="1200">
                <a:solidFill>
                  <a:srgbClr val="D4D4D4"/>
                </a:solidFill>
                <a:highlight>
                  <a:srgbClr val="1E1E1E"/>
                </a:highlight>
                <a:latin typeface="Courier New"/>
                <a:ea typeface="Courier New"/>
                <a:cs typeface="Courier New"/>
                <a:sym typeface="Courier New"/>
              </a:rPr>
              <a:t>d</a:t>
            </a:r>
            <a:r>
              <a:rPr b="1" lang="en" sz="1200">
                <a:solidFill>
                  <a:schemeClr val="lt1"/>
                </a:solidFill>
                <a:highlight>
                  <a:srgbClr val="1E1E1E"/>
                </a:highlight>
                <a:latin typeface="Courier New"/>
                <a:ea typeface="Courier New"/>
                <a:cs typeface="Courier New"/>
                <a:sym typeface="Courier New"/>
              </a:rPr>
              <a:t>fnomor1= dfnomor1</a:t>
            </a:r>
            <a:r>
              <a:rPr b="1" lang="en" sz="1200">
                <a:solidFill>
                  <a:srgbClr val="FFFF00"/>
                </a:solidFill>
                <a:highlight>
                  <a:srgbClr val="1E1E1E"/>
                </a:highlight>
                <a:latin typeface="Courier New"/>
                <a:ea typeface="Courier New"/>
                <a:cs typeface="Courier New"/>
                <a:sym typeface="Courier New"/>
              </a:rPr>
              <a:t>[</a:t>
            </a:r>
            <a:r>
              <a:rPr b="1" lang="en" sz="1200">
                <a:solidFill>
                  <a:srgbClr val="FF00FF"/>
                </a:solidFill>
                <a:highlight>
                  <a:srgbClr val="1E1E1E"/>
                </a:highlight>
                <a:latin typeface="Courier New"/>
                <a:ea typeface="Courier New"/>
                <a:cs typeface="Courier New"/>
                <a:sym typeface="Courier New"/>
              </a:rPr>
              <a:t>(</a:t>
            </a:r>
            <a:r>
              <a:rPr b="1" lang="en" sz="1200">
                <a:solidFill>
                  <a:schemeClr val="lt1"/>
                </a:solidFill>
                <a:highlight>
                  <a:srgbClr val="1E1E1E"/>
                </a:highlight>
                <a:latin typeface="Courier New"/>
                <a:ea typeface="Courier New"/>
                <a:cs typeface="Courier New"/>
                <a:sym typeface="Courier New"/>
              </a:rPr>
              <a:t>dfnomor1</a:t>
            </a:r>
            <a:r>
              <a:rPr b="1" lang="en" sz="1200">
                <a:solidFill>
                  <a:srgbClr val="00FFFF"/>
                </a:solidFill>
                <a:highlight>
                  <a:srgbClr val="1E1E1E"/>
                </a:highlight>
                <a:latin typeface="Courier New"/>
                <a:ea typeface="Courier New"/>
                <a:cs typeface="Courier New"/>
                <a:sym typeface="Courier New"/>
              </a:rPr>
              <a:t>[</a:t>
            </a:r>
            <a:r>
              <a:rPr b="1" lang="en" sz="1200">
                <a:solidFill>
                  <a:srgbClr val="CE9178"/>
                </a:solidFill>
                <a:highlight>
                  <a:srgbClr val="1E1E1E"/>
                </a:highlight>
                <a:latin typeface="Courier New"/>
                <a:ea typeface="Courier New"/>
                <a:cs typeface="Courier New"/>
                <a:sym typeface="Courier New"/>
              </a:rPr>
              <a:t>'category'</a:t>
            </a:r>
            <a:r>
              <a:rPr b="1" lang="en" sz="1200">
                <a:solidFill>
                  <a:srgbClr val="00FFFF"/>
                </a:solidFill>
                <a:highlight>
                  <a:srgbClr val="1E1E1E"/>
                </a:highlight>
                <a:latin typeface="Courier New"/>
                <a:ea typeface="Courier New"/>
                <a:cs typeface="Courier New"/>
                <a:sym typeface="Courier New"/>
              </a:rPr>
              <a:t>]</a:t>
            </a:r>
            <a:r>
              <a:rPr b="1" lang="en" sz="1200">
                <a:solidFill>
                  <a:schemeClr val="lt1"/>
                </a:solidFill>
                <a:highlight>
                  <a:srgbClr val="1E1E1E"/>
                </a:highlight>
                <a:latin typeface="Courier New"/>
                <a:ea typeface="Courier New"/>
                <a:cs typeface="Courier New"/>
                <a:sym typeface="Courier New"/>
              </a:rPr>
              <a:t>==</a:t>
            </a:r>
            <a:r>
              <a:rPr b="1" lang="en" sz="1200">
                <a:solidFill>
                  <a:srgbClr val="CE9178"/>
                </a:solidFill>
                <a:highlight>
                  <a:srgbClr val="1E1E1E"/>
                </a:highlight>
                <a:latin typeface="Courier New"/>
                <a:ea typeface="Courier New"/>
                <a:cs typeface="Courier New"/>
                <a:sym typeface="Courier New"/>
              </a:rPr>
              <a:t>'Mobiles &amp; Tablets'</a:t>
            </a:r>
            <a:r>
              <a:rPr b="1" lang="en" sz="1200">
                <a:solidFill>
                  <a:srgbClr val="FF00FF"/>
                </a:solidFill>
                <a:highlight>
                  <a:srgbClr val="1E1E1E"/>
                </a:highlight>
                <a:latin typeface="Courier New"/>
                <a:ea typeface="Courier New"/>
                <a:cs typeface="Courier New"/>
                <a:sym typeface="Courier New"/>
              </a:rPr>
              <a:t>)</a:t>
            </a:r>
            <a:r>
              <a:rPr b="1" lang="en" sz="1200">
                <a:solidFill>
                  <a:srgbClr val="FFFF00"/>
                </a:solidFill>
                <a:highlight>
                  <a:srgbClr val="1E1E1E"/>
                </a:highlight>
                <a:latin typeface="Courier New"/>
                <a:ea typeface="Courier New"/>
                <a:cs typeface="Courier New"/>
                <a:sym typeface="Courier New"/>
              </a:rPr>
              <a:t>]</a:t>
            </a:r>
            <a:endParaRPr b="1" sz="1200">
              <a:solidFill>
                <a:srgbClr val="FFFF00"/>
              </a:solidFill>
              <a:highlight>
                <a:srgbClr val="1E1E1E"/>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200">
              <a:solidFill>
                <a:srgbClr val="D4D4D4"/>
              </a:solidFill>
              <a:highlight>
                <a:srgbClr val="1E1E1E"/>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200">
                <a:solidFill>
                  <a:schemeClr val="lt2"/>
                </a:solidFill>
                <a:highlight>
                  <a:srgbClr val="1E1E1E"/>
                </a:highlight>
                <a:latin typeface="Montserrat"/>
                <a:ea typeface="Montserrat"/>
                <a:cs typeface="Montserrat"/>
                <a:sym typeface="Montserrat"/>
              </a:rPr>
              <a:t>#3.Membuat dataframe dengan filter  year pada kolom 'order_date' =2022</a:t>
            </a:r>
            <a:endParaRPr b="1" sz="1200">
              <a:solidFill>
                <a:schemeClr val="lt2"/>
              </a:solidFill>
              <a:highlight>
                <a:srgbClr val="1E1E1E"/>
              </a:highlight>
              <a:latin typeface="Montserrat"/>
              <a:ea typeface="Montserrat"/>
              <a:cs typeface="Montserrat"/>
              <a:sym typeface="Montserrat"/>
            </a:endParaRPr>
          </a:p>
          <a:p>
            <a:pPr indent="0" lvl="0" marL="0" rtl="0" algn="l">
              <a:lnSpc>
                <a:spcPct val="135714"/>
              </a:lnSpc>
              <a:spcBef>
                <a:spcPts val="0"/>
              </a:spcBef>
              <a:spcAft>
                <a:spcPts val="0"/>
              </a:spcAft>
              <a:buNone/>
            </a:pPr>
            <a:r>
              <a:rPr b="1" lang="en" sz="1200">
                <a:solidFill>
                  <a:schemeClr val="lt1"/>
                </a:solidFill>
                <a:highlight>
                  <a:srgbClr val="1E1E1E"/>
                </a:highlight>
                <a:latin typeface="Courier New"/>
                <a:ea typeface="Courier New"/>
                <a:cs typeface="Courier New"/>
                <a:sym typeface="Courier New"/>
              </a:rPr>
              <a:t>dfnomor1= dfnomor1</a:t>
            </a:r>
            <a:r>
              <a:rPr b="1" lang="en" sz="1200">
                <a:solidFill>
                  <a:srgbClr val="FFFF00"/>
                </a:solidFill>
                <a:highlight>
                  <a:srgbClr val="1E1E1E"/>
                </a:highlight>
                <a:latin typeface="Courier New"/>
                <a:ea typeface="Courier New"/>
                <a:cs typeface="Courier New"/>
                <a:sym typeface="Courier New"/>
              </a:rPr>
              <a:t>[</a:t>
            </a:r>
            <a:r>
              <a:rPr b="1" lang="en" sz="1200">
                <a:solidFill>
                  <a:srgbClr val="FF00FF"/>
                </a:solidFill>
                <a:highlight>
                  <a:srgbClr val="1E1E1E"/>
                </a:highlight>
                <a:latin typeface="Courier New"/>
                <a:ea typeface="Courier New"/>
                <a:cs typeface="Courier New"/>
                <a:sym typeface="Courier New"/>
              </a:rPr>
              <a:t>(</a:t>
            </a:r>
            <a:r>
              <a:rPr b="1" lang="en" sz="1200">
                <a:solidFill>
                  <a:schemeClr val="lt1"/>
                </a:solidFill>
                <a:highlight>
                  <a:srgbClr val="1E1E1E"/>
                </a:highlight>
                <a:latin typeface="Courier New"/>
                <a:ea typeface="Courier New"/>
                <a:cs typeface="Courier New"/>
                <a:sym typeface="Courier New"/>
              </a:rPr>
              <a:t>dfnomor1</a:t>
            </a:r>
            <a:r>
              <a:rPr b="1" lang="en" sz="1200">
                <a:solidFill>
                  <a:srgbClr val="00FFFF"/>
                </a:solidFill>
                <a:highlight>
                  <a:srgbClr val="1E1E1E"/>
                </a:highlight>
                <a:latin typeface="Courier New"/>
                <a:ea typeface="Courier New"/>
                <a:cs typeface="Courier New"/>
                <a:sym typeface="Courier New"/>
              </a:rPr>
              <a:t>[</a:t>
            </a:r>
            <a:r>
              <a:rPr b="1" lang="en" sz="1200">
                <a:solidFill>
                  <a:srgbClr val="CE9178"/>
                </a:solidFill>
                <a:highlight>
                  <a:srgbClr val="1E1E1E"/>
                </a:highlight>
                <a:latin typeface="Courier New"/>
                <a:ea typeface="Courier New"/>
                <a:cs typeface="Courier New"/>
                <a:sym typeface="Courier New"/>
              </a:rPr>
              <a:t>'order_date'</a:t>
            </a:r>
            <a:r>
              <a:rPr b="1" lang="en" sz="1200">
                <a:solidFill>
                  <a:srgbClr val="00FFFF"/>
                </a:solidFill>
                <a:highlight>
                  <a:srgbClr val="1E1E1E"/>
                </a:highlight>
                <a:latin typeface="Courier New"/>
                <a:ea typeface="Courier New"/>
                <a:cs typeface="Courier New"/>
                <a:sym typeface="Courier New"/>
              </a:rPr>
              <a:t>]</a:t>
            </a:r>
            <a:r>
              <a:rPr b="1" lang="en" sz="1200">
                <a:solidFill>
                  <a:schemeClr val="lt1"/>
                </a:solidFill>
                <a:highlight>
                  <a:srgbClr val="1E1E1E"/>
                </a:highlight>
                <a:latin typeface="Courier New"/>
                <a:ea typeface="Courier New"/>
                <a:cs typeface="Courier New"/>
                <a:sym typeface="Courier New"/>
              </a:rPr>
              <a:t>.dt.year== 2022</a:t>
            </a:r>
            <a:r>
              <a:rPr b="1" lang="en" sz="1200">
                <a:solidFill>
                  <a:srgbClr val="FF00FF"/>
                </a:solidFill>
                <a:highlight>
                  <a:srgbClr val="1E1E1E"/>
                </a:highlight>
                <a:latin typeface="Courier New"/>
                <a:ea typeface="Courier New"/>
                <a:cs typeface="Courier New"/>
                <a:sym typeface="Courier New"/>
              </a:rPr>
              <a:t>)</a:t>
            </a:r>
            <a:r>
              <a:rPr b="1" lang="en" sz="1200">
                <a:solidFill>
                  <a:srgbClr val="FFFF00"/>
                </a:solidFill>
                <a:highlight>
                  <a:srgbClr val="1E1E1E"/>
                </a:highlight>
                <a:latin typeface="Courier New"/>
                <a:ea typeface="Courier New"/>
                <a:cs typeface="Courier New"/>
                <a:sym typeface="Courier New"/>
              </a:rPr>
              <a:t>]</a:t>
            </a:r>
            <a:endParaRPr b="1" sz="1200">
              <a:solidFill>
                <a:srgbClr val="FFFF00"/>
              </a:solidFill>
              <a:highlight>
                <a:srgbClr val="1E1E1E"/>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200">
              <a:solidFill>
                <a:schemeClr val="lt2"/>
              </a:solidFill>
              <a:highlight>
                <a:srgbClr val="1E1E1E"/>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200">
                <a:solidFill>
                  <a:schemeClr val="lt2"/>
                </a:solidFill>
                <a:highlight>
                  <a:srgbClr val="1E1E1E"/>
                </a:highlight>
                <a:latin typeface="Montserrat"/>
                <a:ea typeface="Montserrat"/>
                <a:cs typeface="Montserrat"/>
                <a:sym typeface="Montserrat"/>
              </a:rPr>
              <a:t>#4. Membuat Group berdasarkan kolom 'sku_name' dan jumlah pada kolom 'qty_ordered' dan dtampilkan hanya  5 terbesar</a:t>
            </a:r>
            <a:endParaRPr b="1" sz="1200">
              <a:solidFill>
                <a:schemeClr val="lt2"/>
              </a:solidFill>
              <a:highlight>
                <a:srgbClr val="1E1E1E"/>
              </a:highlight>
              <a:latin typeface="Montserrat"/>
              <a:ea typeface="Montserrat"/>
              <a:cs typeface="Montserrat"/>
              <a:sym typeface="Montserrat"/>
            </a:endParaRPr>
          </a:p>
          <a:p>
            <a:pPr indent="0" lvl="0" marL="0" rtl="0" algn="l">
              <a:lnSpc>
                <a:spcPct val="135714"/>
              </a:lnSpc>
              <a:spcBef>
                <a:spcPts val="0"/>
              </a:spcBef>
              <a:spcAft>
                <a:spcPts val="0"/>
              </a:spcAft>
              <a:buNone/>
            </a:pPr>
            <a:r>
              <a:rPr b="1" lang="en" sz="1200">
                <a:solidFill>
                  <a:schemeClr val="lt1"/>
                </a:solidFill>
                <a:highlight>
                  <a:srgbClr val="1E1E1E"/>
                </a:highlight>
                <a:latin typeface="Courier New"/>
                <a:ea typeface="Courier New"/>
                <a:cs typeface="Courier New"/>
                <a:sym typeface="Courier New"/>
              </a:rPr>
              <a:t>dfnomor1.groupby</a:t>
            </a:r>
            <a:r>
              <a:rPr b="1" lang="en" sz="1200">
                <a:solidFill>
                  <a:srgbClr val="FFFF00"/>
                </a:solidFill>
                <a:highlight>
                  <a:srgbClr val="1E1E1E"/>
                </a:highlight>
                <a:latin typeface="Courier New"/>
                <a:ea typeface="Courier New"/>
                <a:cs typeface="Courier New"/>
                <a:sym typeface="Courier New"/>
              </a:rPr>
              <a:t>(</a:t>
            </a:r>
            <a:r>
              <a:rPr b="1" lang="en" sz="1200">
                <a:solidFill>
                  <a:srgbClr val="FF00FF"/>
                </a:solidFill>
                <a:highlight>
                  <a:srgbClr val="1E1E1E"/>
                </a:highlight>
                <a:latin typeface="Courier New"/>
                <a:ea typeface="Courier New"/>
                <a:cs typeface="Courier New"/>
                <a:sym typeface="Courier New"/>
              </a:rPr>
              <a:t>[</a:t>
            </a:r>
            <a:r>
              <a:rPr b="1" lang="en" sz="1200">
                <a:solidFill>
                  <a:srgbClr val="CE9178"/>
                </a:solidFill>
                <a:highlight>
                  <a:srgbClr val="1E1E1E"/>
                </a:highlight>
                <a:latin typeface="Courier New"/>
                <a:ea typeface="Courier New"/>
                <a:cs typeface="Courier New"/>
                <a:sym typeface="Courier New"/>
              </a:rPr>
              <a:t>'sku_name'</a:t>
            </a:r>
            <a:r>
              <a:rPr b="1" lang="en" sz="1200">
                <a:solidFill>
                  <a:srgbClr val="FF00FF"/>
                </a:solidFill>
                <a:highlight>
                  <a:srgbClr val="1E1E1E"/>
                </a:highlight>
                <a:latin typeface="Courier New"/>
                <a:ea typeface="Courier New"/>
                <a:cs typeface="Courier New"/>
                <a:sym typeface="Courier New"/>
              </a:rPr>
              <a:t>]</a:t>
            </a:r>
            <a:r>
              <a:rPr b="1" lang="en" sz="1200">
                <a:solidFill>
                  <a:srgbClr val="FFFF00"/>
                </a:solidFill>
                <a:highlight>
                  <a:srgbClr val="1E1E1E"/>
                </a:highlight>
                <a:latin typeface="Courier New"/>
                <a:ea typeface="Courier New"/>
                <a:cs typeface="Courier New"/>
                <a:sym typeface="Courier New"/>
              </a:rPr>
              <a:t>)[</a:t>
            </a:r>
            <a:r>
              <a:rPr b="1" lang="en" sz="1200">
                <a:solidFill>
                  <a:srgbClr val="CE9178"/>
                </a:solidFill>
                <a:highlight>
                  <a:srgbClr val="1E1E1E"/>
                </a:highlight>
                <a:latin typeface="Courier New"/>
                <a:ea typeface="Courier New"/>
                <a:cs typeface="Courier New"/>
                <a:sym typeface="Courier New"/>
              </a:rPr>
              <a:t>'qty_ordered'</a:t>
            </a:r>
            <a:r>
              <a:rPr b="1" lang="en" sz="1200">
                <a:solidFill>
                  <a:srgbClr val="FFFF00"/>
                </a:solidFill>
                <a:highlight>
                  <a:srgbClr val="1E1E1E"/>
                </a:highlight>
                <a:latin typeface="Courier New"/>
                <a:ea typeface="Courier New"/>
                <a:cs typeface="Courier New"/>
                <a:sym typeface="Courier New"/>
              </a:rPr>
              <a:t>]</a:t>
            </a:r>
            <a:r>
              <a:rPr b="1" lang="en" sz="1200">
                <a:solidFill>
                  <a:schemeClr val="lt1"/>
                </a:solidFill>
                <a:highlight>
                  <a:srgbClr val="1E1E1E"/>
                </a:highlight>
                <a:latin typeface="Courier New"/>
                <a:ea typeface="Courier New"/>
                <a:cs typeface="Courier New"/>
                <a:sym typeface="Courier New"/>
              </a:rPr>
              <a:t>.sum</a:t>
            </a:r>
            <a:r>
              <a:rPr b="1" lang="en" sz="1200">
                <a:solidFill>
                  <a:srgbClr val="FFFF00"/>
                </a:solidFill>
                <a:highlight>
                  <a:srgbClr val="1E1E1E"/>
                </a:highlight>
                <a:latin typeface="Courier New"/>
                <a:ea typeface="Courier New"/>
                <a:cs typeface="Courier New"/>
                <a:sym typeface="Courier New"/>
              </a:rPr>
              <a:t>()</a:t>
            </a:r>
            <a:r>
              <a:rPr b="1" lang="en" sz="1200">
                <a:solidFill>
                  <a:schemeClr val="lt1"/>
                </a:solidFill>
                <a:highlight>
                  <a:srgbClr val="1E1E1E"/>
                </a:highlight>
                <a:latin typeface="Courier New"/>
                <a:ea typeface="Courier New"/>
                <a:cs typeface="Courier New"/>
                <a:sym typeface="Courier New"/>
              </a:rPr>
              <a:t>.nlargest</a:t>
            </a:r>
            <a:r>
              <a:rPr b="1" lang="en" sz="1200">
                <a:solidFill>
                  <a:srgbClr val="FFFF00"/>
                </a:solidFill>
                <a:highlight>
                  <a:srgbClr val="1E1E1E"/>
                </a:highlight>
                <a:latin typeface="Courier New"/>
                <a:ea typeface="Courier New"/>
                <a:cs typeface="Courier New"/>
                <a:sym typeface="Courier New"/>
              </a:rPr>
              <a:t>(</a:t>
            </a:r>
            <a:r>
              <a:rPr b="1" lang="en" sz="1200">
                <a:solidFill>
                  <a:schemeClr val="lt1"/>
                </a:solidFill>
                <a:highlight>
                  <a:srgbClr val="1E1E1E"/>
                </a:highlight>
                <a:latin typeface="Courier New"/>
                <a:ea typeface="Courier New"/>
                <a:cs typeface="Courier New"/>
                <a:sym typeface="Courier New"/>
              </a:rPr>
              <a:t>5</a:t>
            </a:r>
            <a:r>
              <a:rPr b="1" lang="en" sz="1200">
                <a:solidFill>
                  <a:srgbClr val="FFFF00"/>
                </a:solidFill>
                <a:highlight>
                  <a:srgbClr val="1E1E1E"/>
                </a:highlight>
                <a:latin typeface="Courier New"/>
                <a:ea typeface="Courier New"/>
                <a:cs typeface="Courier New"/>
                <a:sym typeface="Courier New"/>
              </a:rPr>
              <a:t>)</a:t>
            </a:r>
            <a:endParaRPr b="1" sz="1200">
              <a:solidFill>
                <a:srgbClr val="FFFF00"/>
              </a:solidFill>
              <a:highlight>
                <a:srgbClr val="1E1E1E"/>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200">
              <a:solidFill>
                <a:srgbClr val="6AA94F"/>
              </a:solidFill>
              <a:highlight>
                <a:srgbClr val="1E1E1E"/>
              </a:highlight>
              <a:latin typeface="Courier New"/>
              <a:ea typeface="Courier New"/>
              <a:cs typeface="Courier New"/>
              <a:sym typeface="Courier New"/>
            </a:endParaRPr>
          </a:p>
        </p:txBody>
      </p:sp>
      <p:sp>
        <p:nvSpPr>
          <p:cNvPr id="203" name="Google Shape;203;p21"/>
          <p:cNvSpPr txBox="1"/>
          <p:nvPr/>
        </p:nvSpPr>
        <p:spPr>
          <a:xfrm>
            <a:off x="0" y="0"/>
            <a:ext cx="3000000" cy="389400"/>
          </a:xfrm>
          <a:prstGeom prst="rect">
            <a:avLst/>
          </a:prstGeom>
          <a:noFill/>
          <a:ln>
            <a:noFill/>
          </a:ln>
        </p:spPr>
        <p:txBody>
          <a:bodyPr anchorCtr="0" anchor="t" bIns="91425" lIns="91425" spcFirstLastPara="1" rIns="91425" wrap="square" tIns="91425">
            <a:spAutoFit/>
          </a:bodyPr>
          <a:lstStyle/>
          <a:p>
            <a:pPr indent="0" lvl="0" marL="0" rtl="0" algn="just">
              <a:lnSpc>
                <a:spcPct val="95000"/>
              </a:lnSpc>
              <a:spcBef>
                <a:spcPts val="0"/>
              </a:spcBef>
              <a:spcAft>
                <a:spcPts val="1200"/>
              </a:spcAft>
              <a:buNone/>
            </a:pPr>
            <a:r>
              <a:t/>
            </a:r>
            <a:endParaRPr/>
          </a:p>
        </p:txBody>
      </p:sp>
      <p:pic>
        <p:nvPicPr>
          <p:cNvPr id="204" name="Google Shape;204;p21"/>
          <p:cNvPicPr preferRelativeResize="0"/>
          <p:nvPr/>
        </p:nvPicPr>
        <p:blipFill>
          <a:blip r:embed="rId3">
            <a:alphaModFix/>
          </a:blip>
          <a:stretch>
            <a:fillRect/>
          </a:stretch>
        </p:blipFill>
        <p:spPr>
          <a:xfrm>
            <a:off x="6647225" y="615325"/>
            <a:ext cx="2442950" cy="22278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22"/>
          <p:cNvSpPr/>
          <p:nvPr/>
        </p:nvSpPr>
        <p:spPr>
          <a:xfrm>
            <a:off x="785275" y="4396325"/>
            <a:ext cx="3609000" cy="370500"/>
          </a:xfrm>
          <a:prstGeom prst="roundRect">
            <a:avLst>
              <a:gd fmla="val 16667" name="adj"/>
            </a:avLst>
          </a:prstGeom>
          <a:solidFill>
            <a:srgbClr val="1C458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10" name="Google Shape;210;p22"/>
          <p:cNvSpPr txBox="1"/>
          <p:nvPr>
            <p:ph idx="1" type="body"/>
          </p:nvPr>
        </p:nvSpPr>
        <p:spPr>
          <a:xfrm>
            <a:off x="895375" y="4396325"/>
            <a:ext cx="3388800" cy="370500"/>
          </a:xfrm>
          <a:prstGeom prst="rect">
            <a:avLst/>
          </a:prstGeom>
          <a:ln>
            <a:noFill/>
          </a:ln>
        </p:spPr>
        <p:txBody>
          <a:bodyPr anchorCtr="0" anchor="ctr" bIns="91425" lIns="91425" spcFirstLastPara="1" rIns="91425" wrap="square" tIns="91425">
            <a:normAutofit fontScale="92500" lnSpcReduction="20000"/>
          </a:bodyPr>
          <a:lstStyle/>
          <a:p>
            <a:pPr indent="0" lvl="0" marL="0" rtl="0" algn="l">
              <a:spcBef>
                <a:spcPts val="0"/>
              </a:spcBef>
              <a:spcAft>
                <a:spcPts val="0"/>
              </a:spcAft>
              <a:buNone/>
            </a:pPr>
            <a:r>
              <a:rPr b="1" lang="en" sz="1500">
                <a:solidFill>
                  <a:srgbClr val="B6D7A8"/>
                </a:solidFill>
                <a:latin typeface="Montserrat"/>
                <a:ea typeface="Montserrat"/>
                <a:cs typeface="Montserrat"/>
                <a:sym typeface="Montserrat"/>
              </a:rPr>
              <a:t>ANALYSIS &amp; INSIGHT PROBLEM - 1</a:t>
            </a:r>
            <a:endParaRPr>
              <a:solidFill>
                <a:srgbClr val="B6D7A8"/>
              </a:solidFill>
            </a:endParaRPr>
          </a:p>
        </p:txBody>
      </p:sp>
      <p:sp>
        <p:nvSpPr>
          <p:cNvPr id="211" name="Google Shape;211;p22"/>
          <p:cNvSpPr txBox="1"/>
          <p:nvPr/>
        </p:nvSpPr>
        <p:spPr>
          <a:xfrm>
            <a:off x="0" y="0"/>
            <a:ext cx="3000000" cy="389400"/>
          </a:xfrm>
          <a:prstGeom prst="rect">
            <a:avLst/>
          </a:prstGeom>
          <a:noFill/>
          <a:ln>
            <a:noFill/>
          </a:ln>
        </p:spPr>
        <p:txBody>
          <a:bodyPr anchorCtr="0" anchor="t" bIns="91425" lIns="91425" spcFirstLastPara="1" rIns="91425" wrap="square" tIns="91425">
            <a:spAutoFit/>
          </a:bodyPr>
          <a:lstStyle/>
          <a:p>
            <a:pPr indent="0" lvl="0" marL="0" rtl="0" algn="just">
              <a:lnSpc>
                <a:spcPct val="95000"/>
              </a:lnSpc>
              <a:spcBef>
                <a:spcPts val="0"/>
              </a:spcBef>
              <a:spcAft>
                <a:spcPts val="1200"/>
              </a:spcAft>
              <a:buNone/>
            </a:pPr>
            <a:r>
              <a:t/>
            </a:r>
            <a:endParaRPr/>
          </a:p>
        </p:txBody>
      </p:sp>
      <p:pic>
        <p:nvPicPr>
          <p:cNvPr id="212" name="Google Shape;212;p22" title="Points scored"/>
          <p:cNvPicPr preferRelativeResize="0"/>
          <p:nvPr/>
        </p:nvPicPr>
        <p:blipFill>
          <a:blip r:embed="rId3">
            <a:alphaModFix/>
          </a:blip>
          <a:stretch>
            <a:fillRect/>
          </a:stretch>
        </p:blipFill>
        <p:spPr>
          <a:xfrm>
            <a:off x="186100" y="389408"/>
            <a:ext cx="6623676" cy="34222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3"/>
          <p:cNvSpPr txBox="1"/>
          <p:nvPr>
            <p:ph idx="1" type="body"/>
          </p:nvPr>
        </p:nvSpPr>
        <p:spPr>
          <a:xfrm>
            <a:off x="1297500" y="893350"/>
            <a:ext cx="7038900" cy="3735900"/>
          </a:xfrm>
          <a:prstGeom prst="rect">
            <a:avLst/>
          </a:prstGeom>
        </p:spPr>
        <p:txBody>
          <a:bodyPr anchorCtr="0" anchor="t" bIns="91425" lIns="91425" spcFirstLastPara="1" rIns="91425" wrap="square" tIns="91425">
            <a:noAutofit/>
          </a:bodyPr>
          <a:lstStyle/>
          <a:p>
            <a:pPr indent="0" lvl="0" marL="0" rtl="0" algn="just">
              <a:lnSpc>
                <a:spcPct val="95000"/>
              </a:lnSpc>
              <a:spcBef>
                <a:spcPts val="0"/>
              </a:spcBef>
              <a:spcAft>
                <a:spcPts val="0"/>
              </a:spcAft>
              <a:buSzPts val="1018"/>
              <a:buNone/>
            </a:pPr>
            <a:r>
              <a:rPr b="1" lang="en" sz="1202">
                <a:solidFill>
                  <a:schemeClr val="lt2"/>
                </a:solidFill>
                <a:latin typeface="Montserrat"/>
                <a:ea typeface="Montserrat"/>
                <a:cs typeface="Montserrat"/>
                <a:sym typeface="Montserrat"/>
              </a:rPr>
              <a:t>Dear Data Analyst,</a:t>
            </a:r>
            <a:endParaRPr b="1" sz="1202">
              <a:solidFill>
                <a:schemeClr val="lt2"/>
              </a:solidFill>
              <a:latin typeface="Montserrat"/>
              <a:ea typeface="Montserrat"/>
              <a:cs typeface="Montserrat"/>
              <a:sym typeface="Montserrat"/>
            </a:endParaRPr>
          </a:p>
          <a:p>
            <a:pPr indent="0" lvl="0" marL="0" rtl="0" algn="just">
              <a:lnSpc>
                <a:spcPct val="95000"/>
              </a:lnSpc>
              <a:spcBef>
                <a:spcPts val="1200"/>
              </a:spcBef>
              <a:spcAft>
                <a:spcPts val="0"/>
              </a:spcAft>
              <a:buSzPts val="1018"/>
              <a:buNone/>
            </a:pPr>
            <a:r>
              <a:rPr b="1" lang="en" sz="1202">
                <a:solidFill>
                  <a:schemeClr val="lt2"/>
                </a:solidFill>
                <a:latin typeface="Montserrat"/>
                <a:ea typeface="Montserrat"/>
                <a:cs typeface="Montserrat"/>
                <a:sym typeface="Montserrat"/>
              </a:rPr>
              <a:t>Menindaklanjuti meeting gabungan Tim Warehouse dan Tim Marketing, kami menemukan bahwa ketersediaan stock produk dengan Kategori Others pada akhir 2022 kemarin masih banyak.</a:t>
            </a:r>
            <a:endParaRPr b="1" sz="1202">
              <a:solidFill>
                <a:schemeClr val="lt2"/>
              </a:solidFill>
              <a:latin typeface="Montserrat"/>
              <a:ea typeface="Montserrat"/>
              <a:cs typeface="Montserrat"/>
              <a:sym typeface="Montserrat"/>
            </a:endParaRPr>
          </a:p>
          <a:p>
            <a:pPr indent="0" lvl="0" marL="0" rtl="0" algn="just">
              <a:lnSpc>
                <a:spcPct val="95000"/>
              </a:lnSpc>
              <a:spcBef>
                <a:spcPts val="1200"/>
              </a:spcBef>
              <a:spcAft>
                <a:spcPts val="0"/>
              </a:spcAft>
              <a:buSzPts val="1018"/>
              <a:buNone/>
            </a:pPr>
            <a:r>
              <a:rPr b="1" lang="en" sz="1202">
                <a:solidFill>
                  <a:schemeClr val="lt2"/>
                </a:solidFill>
                <a:latin typeface="Montserrat"/>
                <a:ea typeface="Montserrat"/>
                <a:cs typeface="Montserrat"/>
                <a:sym typeface="Montserrat"/>
              </a:rPr>
              <a:t>K</a:t>
            </a:r>
            <a:r>
              <a:rPr b="1" lang="en" sz="1202">
                <a:solidFill>
                  <a:schemeClr val="lt2"/>
                </a:solidFill>
                <a:latin typeface="Montserrat"/>
                <a:ea typeface="Montserrat"/>
                <a:cs typeface="Montserrat"/>
                <a:sym typeface="Montserrat"/>
              </a:rPr>
              <a:t>ami mohon bantuan untuk melakukan pengecekan data penjualan kategori tersebut dengan tahun 2021 secara kuantitas penjualan. Dugaan sementara kami, telah terjadi penurunan kuantitas penjualan pada 2022 dibandingkan 2021. (Mohon juga menampilkan data ke-15 kategori)</a:t>
            </a:r>
            <a:endParaRPr b="1" sz="1202">
              <a:solidFill>
                <a:schemeClr val="lt2"/>
              </a:solidFill>
              <a:latin typeface="Montserrat"/>
              <a:ea typeface="Montserrat"/>
              <a:cs typeface="Montserrat"/>
              <a:sym typeface="Montserrat"/>
            </a:endParaRPr>
          </a:p>
          <a:p>
            <a:pPr indent="0" lvl="0" marL="0" rtl="0" algn="just">
              <a:lnSpc>
                <a:spcPct val="95000"/>
              </a:lnSpc>
              <a:spcBef>
                <a:spcPts val="1200"/>
              </a:spcBef>
              <a:spcAft>
                <a:spcPts val="0"/>
              </a:spcAft>
              <a:buSzPts val="1018"/>
              <a:buNone/>
            </a:pPr>
            <a:r>
              <a:rPr b="1" lang="en" sz="1202">
                <a:solidFill>
                  <a:schemeClr val="lt2"/>
                </a:solidFill>
                <a:latin typeface="Montserrat"/>
                <a:ea typeface="Montserrat"/>
                <a:cs typeface="Montserrat"/>
                <a:sym typeface="Montserrat"/>
              </a:rPr>
              <a:t>Apabila memang terjadi penurunan kuantitas penjualan pada kategori Others, kami mohon bantuan untuk menyediakan data TOP 20 nama produk yang mengalami penurunan paling tinggi pada 2022 jika dibanding dengan 2021. Hal ini kami gunakan sebagai bahan diskusi pada meeting selanjutnya.</a:t>
            </a:r>
            <a:endParaRPr b="1" sz="1202">
              <a:solidFill>
                <a:schemeClr val="lt2"/>
              </a:solidFill>
              <a:latin typeface="Montserrat"/>
              <a:ea typeface="Montserrat"/>
              <a:cs typeface="Montserrat"/>
              <a:sym typeface="Montserrat"/>
            </a:endParaRPr>
          </a:p>
          <a:p>
            <a:pPr indent="0" lvl="0" marL="0" rtl="0" algn="just">
              <a:lnSpc>
                <a:spcPct val="95000"/>
              </a:lnSpc>
              <a:spcBef>
                <a:spcPts val="1200"/>
              </a:spcBef>
              <a:spcAft>
                <a:spcPts val="0"/>
              </a:spcAft>
              <a:buSzPts val="1018"/>
              <a:buNone/>
            </a:pPr>
            <a:r>
              <a:rPr b="1" lang="en" sz="1202">
                <a:solidFill>
                  <a:schemeClr val="lt2"/>
                </a:solidFill>
                <a:latin typeface="Montserrat"/>
                <a:ea typeface="Montserrat"/>
                <a:cs typeface="Montserrat"/>
                <a:sym typeface="Montserrat"/>
              </a:rPr>
              <a:t>Mohon bantuan untuk mengirimkan data tersebut paling lambat 4 hari dari hari ini. Atas bantuan yang diberikan, kami mengucapkan terima kasih.</a:t>
            </a:r>
            <a:endParaRPr b="1" sz="1202">
              <a:solidFill>
                <a:schemeClr val="lt2"/>
              </a:solidFill>
              <a:latin typeface="Montserrat"/>
              <a:ea typeface="Montserrat"/>
              <a:cs typeface="Montserrat"/>
              <a:sym typeface="Montserrat"/>
            </a:endParaRPr>
          </a:p>
          <a:p>
            <a:pPr indent="0" lvl="0" marL="0" rtl="0" algn="just">
              <a:lnSpc>
                <a:spcPct val="95000"/>
              </a:lnSpc>
              <a:spcBef>
                <a:spcPts val="1200"/>
              </a:spcBef>
              <a:spcAft>
                <a:spcPts val="0"/>
              </a:spcAft>
              <a:buSzPts val="1018"/>
              <a:buNone/>
            </a:pPr>
            <a:r>
              <a:rPr b="1" lang="en" sz="1202">
                <a:solidFill>
                  <a:schemeClr val="lt2"/>
                </a:solidFill>
                <a:latin typeface="Montserrat"/>
                <a:ea typeface="Montserrat"/>
                <a:cs typeface="Montserrat"/>
                <a:sym typeface="Montserrat"/>
              </a:rPr>
              <a:t>Regards</a:t>
            </a:r>
            <a:endParaRPr b="1" sz="1202">
              <a:solidFill>
                <a:schemeClr val="lt2"/>
              </a:solidFill>
              <a:latin typeface="Montserrat"/>
              <a:ea typeface="Montserrat"/>
              <a:cs typeface="Montserrat"/>
              <a:sym typeface="Montserrat"/>
            </a:endParaRPr>
          </a:p>
          <a:p>
            <a:pPr indent="0" lvl="0" marL="0" rtl="0" algn="just">
              <a:lnSpc>
                <a:spcPct val="95000"/>
              </a:lnSpc>
              <a:spcBef>
                <a:spcPts val="1200"/>
              </a:spcBef>
              <a:spcAft>
                <a:spcPts val="1200"/>
              </a:spcAft>
              <a:buSzPts val="1018"/>
              <a:buNone/>
            </a:pPr>
            <a:r>
              <a:rPr b="1" lang="en" sz="1202">
                <a:solidFill>
                  <a:schemeClr val="lt2"/>
                </a:solidFill>
                <a:latin typeface="Montserrat"/>
                <a:ea typeface="Montserrat"/>
                <a:cs typeface="Montserrat"/>
                <a:sym typeface="Montserrat"/>
              </a:rPr>
              <a:t>Tim </a:t>
            </a:r>
            <a:r>
              <a:rPr b="1" lang="en" sz="1202">
                <a:solidFill>
                  <a:schemeClr val="lt2"/>
                </a:solidFill>
                <a:latin typeface="Montserrat"/>
                <a:ea typeface="Montserrat"/>
                <a:cs typeface="Montserrat"/>
                <a:sym typeface="Montserrat"/>
              </a:rPr>
              <a:t>Warehouse</a:t>
            </a:r>
            <a:endParaRPr b="1" sz="1202">
              <a:solidFill>
                <a:schemeClr val="lt2"/>
              </a:solidFill>
              <a:latin typeface="Montserrat"/>
              <a:ea typeface="Montserrat"/>
              <a:cs typeface="Montserrat"/>
              <a:sym typeface="Montserrat"/>
            </a:endParaRPr>
          </a:p>
        </p:txBody>
      </p:sp>
      <p:sp>
        <p:nvSpPr>
          <p:cNvPr id="218" name="Google Shape;218;p23"/>
          <p:cNvSpPr txBox="1"/>
          <p:nvPr>
            <p:ph type="title"/>
          </p:nvPr>
        </p:nvSpPr>
        <p:spPr>
          <a:xfrm>
            <a:off x="1297500" y="330250"/>
            <a:ext cx="7038900" cy="563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rgbClr val="A4C2F4"/>
                </a:solidFill>
              </a:rPr>
              <a:t>PROBLEM - 2 :</a:t>
            </a:r>
            <a:endParaRPr b="1">
              <a:solidFill>
                <a:srgbClr val="A4C2F4"/>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4"/>
          <p:cNvSpPr/>
          <p:nvPr/>
        </p:nvSpPr>
        <p:spPr>
          <a:xfrm>
            <a:off x="785275" y="4396325"/>
            <a:ext cx="3609000" cy="370500"/>
          </a:xfrm>
          <a:prstGeom prst="roundRect">
            <a:avLst>
              <a:gd fmla="val 16667" name="adj"/>
            </a:avLst>
          </a:prstGeom>
          <a:solidFill>
            <a:srgbClr val="1C458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24" name="Google Shape;224;p24"/>
          <p:cNvSpPr txBox="1"/>
          <p:nvPr>
            <p:ph idx="1" type="body"/>
          </p:nvPr>
        </p:nvSpPr>
        <p:spPr>
          <a:xfrm>
            <a:off x="320100" y="1307850"/>
            <a:ext cx="8503800" cy="3304500"/>
          </a:xfrm>
          <a:prstGeom prst="rect">
            <a:avLst/>
          </a:prstGeom>
          <a:ln>
            <a:noFill/>
          </a:ln>
        </p:spPr>
        <p:txBody>
          <a:bodyPr anchorCtr="0" anchor="t" bIns="91425" lIns="91425" spcFirstLastPara="1" rIns="91425" wrap="square" tIns="91425">
            <a:normAutofit/>
          </a:bodyPr>
          <a:lstStyle/>
          <a:p>
            <a:pPr indent="-190500" lvl="0" marL="228600" rtl="0" algn="l">
              <a:spcBef>
                <a:spcPts val="0"/>
              </a:spcBef>
              <a:spcAft>
                <a:spcPts val="0"/>
              </a:spcAft>
              <a:buClr>
                <a:srgbClr val="B6D7A8"/>
              </a:buClr>
              <a:buSzPts val="1200"/>
              <a:buFont typeface="Montserrat"/>
              <a:buAutoNum type="arabicPeriod"/>
            </a:pPr>
            <a:r>
              <a:rPr b="1" lang="en" sz="1200">
                <a:solidFill>
                  <a:srgbClr val="B6D7A8"/>
                </a:solidFill>
                <a:latin typeface="Montserrat"/>
                <a:ea typeface="Montserrat"/>
                <a:cs typeface="Montserrat"/>
                <a:sym typeface="Montserrat"/>
              </a:rPr>
              <a:t>Memfilter data is_valid = 1, dan dataframe diberi nama menjadi ‘df_nomor21’</a:t>
            </a:r>
            <a:endParaRPr b="1" sz="1200">
              <a:solidFill>
                <a:srgbClr val="B6D7A8"/>
              </a:solidFill>
              <a:latin typeface="Montserrat"/>
              <a:ea typeface="Montserrat"/>
              <a:cs typeface="Montserrat"/>
              <a:sym typeface="Montserrat"/>
            </a:endParaRPr>
          </a:p>
          <a:p>
            <a:pPr indent="0" lvl="0" marL="457200" rtl="0" algn="l">
              <a:spcBef>
                <a:spcPts val="0"/>
              </a:spcBef>
              <a:spcAft>
                <a:spcPts val="0"/>
              </a:spcAft>
              <a:buNone/>
            </a:pPr>
            <a:r>
              <a:t/>
            </a:r>
            <a:endParaRPr b="1">
              <a:solidFill>
                <a:srgbClr val="B6D7A8"/>
              </a:solidFill>
              <a:latin typeface="Montserrat"/>
              <a:ea typeface="Montserrat"/>
              <a:cs typeface="Montserrat"/>
              <a:sym typeface="Montserrat"/>
            </a:endParaRPr>
          </a:p>
          <a:p>
            <a:pPr indent="-190500" lvl="0" marL="228600" rtl="0" algn="l">
              <a:spcBef>
                <a:spcPts val="1200"/>
              </a:spcBef>
              <a:spcAft>
                <a:spcPts val="0"/>
              </a:spcAft>
              <a:buClr>
                <a:srgbClr val="B6D7A8"/>
              </a:buClr>
              <a:buSzPts val="1200"/>
              <a:buFont typeface="Montserrat"/>
              <a:buAutoNum type="arabicPeriod"/>
            </a:pPr>
            <a:r>
              <a:rPr b="1" lang="en" sz="1200">
                <a:solidFill>
                  <a:srgbClr val="B6D7A8"/>
                </a:solidFill>
                <a:latin typeface="Montserrat"/>
                <a:ea typeface="Montserrat"/>
                <a:cs typeface="Montserrat"/>
                <a:sym typeface="Montserrat"/>
              </a:rPr>
              <a:t>Mengambil data ‘tahun’ pada format datetime dan memfilter tahun 2021 dan 2022</a:t>
            </a:r>
            <a:endParaRPr b="1" sz="1200">
              <a:solidFill>
                <a:srgbClr val="B6D7A8"/>
              </a:solidFill>
              <a:latin typeface="Montserrat"/>
              <a:ea typeface="Montserrat"/>
              <a:cs typeface="Montserrat"/>
              <a:sym typeface="Montserrat"/>
            </a:endParaRPr>
          </a:p>
          <a:p>
            <a:pPr indent="0" lvl="0" marL="457200" rtl="0" algn="l">
              <a:spcBef>
                <a:spcPts val="1200"/>
              </a:spcBef>
              <a:spcAft>
                <a:spcPts val="0"/>
              </a:spcAft>
              <a:buNone/>
            </a:pPr>
            <a:r>
              <a:t/>
            </a:r>
            <a:endParaRPr b="1" sz="1200">
              <a:solidFill>
                <a:srgbClr val="B6D7A8"/>
              </a:solidFill>
              <a:latin typeface="Montserrat"/>
              <a:ea typeface="Montserrat"/>
              <a:cs typeface="Montserrat"/>
              <a:sym typeface="Montserrat"/>
            </a:endParaRPr>
          </a:p>
          <a:p>
            <a:pPr indent="0" lvl="0" marL="457200" rtl="0" algn="l">
              <a:spcBef>
                <a:spcPts val="1200"/>
              </a:spcBef>
              <a:spcAft>
                <a:spcPts val="0"/>
              </a:spcAft>
              <a:buNone/>
            </a:pPr>
            <a:r>
              <a:t/>
            </a:r>
            <a:endParaRPr b="1" sz="1200">
              <a:solidFill>
                <a:srgbClr val="B6D7A8"/>
              </a:solidFill>
              <a:latin typeface="Montserrat"/>
              <a:ea typeface="Montserrat"/>
              <a:cs typeface="Montserrat"/>
              <a:sym typeface="Montserrat"/>
            </a:endParaRPr>
          </a:p>
          <a:p>
            <a:pPr indent="0" lvl="0" marL="457200" rtl="0" algn="l">
              <a:spcBef>
                <a:spcPts val="1200"/>
              </a:spcBef>
              <a:spcAft>
                <a:spcPts val="0"/>
              </a:spcAft>
              <a:buNone/>
            </a:pPr>
            <a:r>
              <a:t/>
            </a:r>
            <a:endParaRPr b="1" sz="1200">
              <a:solidFill>
                <a:srgbClr val="B6D7A8"/>
              </a:solidFill>
              <a:latin typeface="Montserrat"/>
              <a:ea typeface="Montserrat"/>
              <a:cs typeface="Montserrat"/>
              <a:sym typeface="Montserrat"/>
            </a:endParaRPr>
          </a:p>
          <a:p>
            <a:pPr indent="-190500" lvl="0" marL="228600" rtl="0" algn="l">
              <a:spcBef>
                <a:spcPts val="1200"/>
              </a:spcBef>
              <a:spcAft>
                <a:spcPts val="0"/>
              </a:spcAft>
              <a:buClr>
                <a:srgbClr val="B6D7A8"/>
              </a:buClr>
              <a:buSzPts val="1200"/>
              <a:buFont typeface="Montserrat"/>
              <a:buAutoNum type="arabicPeriod"/>
            </a:pPr>
            <a:r>
              <a:rPr b="1" lang="en" sz="1200">
                <a:solidFill>
                  <a:srgbClr val="B6D7A8"/>
                </a:solidFill>
                <a:latin typeface="Montserrat"/>
                <a:ea typeface="Montserrat"/>
                <a:cs typeface="Montserrat"/>
                <a:sym typeface="Montserrat"/>
              </a:rPr>
              <a:t>Menjumlahkan ‘qty_ordered’ dan melakukan groupby berdasarkan kategori masing-masing tahun</a:t>
            </a:r>
            <a:endParaRPr b="1" sz="1200">
              <a:solidFill>
                <a:srgbClr val="B6D7A8"/>
              </a:solidFill>
              <a:latin typeface="Montserrat"/>
              <a:ea typeface="Montserrat"/>
              <a:cs typeface="Montserrat"/>
              <a:sym typeface="Montserrat"/>
            </a:endParaRPr>
          </a:p>
          <a:p>
            <a:pPr indent="0" lvl="0" marL="457200" rtl="0" algn="l">
              <a:spcBef>
                <a:spcPts val="1200"/>
              </a:spcBef>
              <a:spcAft>
                <a:spcPts val="1200"/>
              </a:spcAft>
              <a:buNone/>
            </a:pPr>
            <a:r>
              <a:t/>
            </a:r>
            <a:endParaRPr b="1">
              <a:solidFill>
                <a:srgbClr val="B6D7A8"/>
              </a:solidFill>
              <a:latin typeface="Montserrat"/>
              <a:ea typeface="Montserrat"/>
              <a:cs typeface="Montserrat"/>
              <a:sym typeface="Montserrat"/>
            </a:endParaRPr>
          </a:p>
        </p:txBody>
      </p:sp>
      <p:sp>
        <p:nvSpPr>
          <p:cNvPr id="225" name="Google Shape;225;p2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2.1. Kuantitas Penjualan setiap Kategori</a:t>
            </a:r>
            <a:endParaRPr/>
          </a:p>
        </p:txBody>
      </p:sp>
      <p:pic>
        <p:nvPicPr>
          <p:cNvPr id="226" name="Google Shape;226;p24"/>
          <p:cNvPicPr preferRelativeResize="0"/>
          <p:nvPr/>
        </p:nvPicPr>
        <p:blipFill>
          <a:blip r:embed="rId3">
            <a:alphaModFix/>
          </a:blip>
          <a:stretch>
            <a:fillRect/>
          </a:stretch>
        </p:blipFill>
        <p:spPr>
          <a:xfrm>
            <a:off x="666750" y="1715625"/>
            <a:ext cx="2875200" cy="166900"/>
          </a:xfrm>
          <a:prstGeom prst="rect">
            <a:avLst/>
          </a:prstGeom>
          <a:noFill/>
          <a:ln>
            <a:noFill/>
          </a:ln>
        </p:spPr>
      </p:pic>
      <p:pic>
        <p:nvPicPr>
          <p:cNvPr id="227" name="Google Shape;227;p24"/>
          <p:cNvPicPr preferRelativeResize="0"/>
          <p:nvPr/>
        </p:nvPicPr>
        <p:blipFill>
          <a:blip r:embed="rId4">
            <a:alphaModFix/>
          </a:blip>
          <a:stretch>
            <a:fillRect/>
          </a:stretch>
        </p:blipFill>
        <p:spPr>
          <a:xfrm>
            <a:off x="666750" y="2245200"/>
            <a:ext cx="3964424" cy="1093125"/>
          </a:xfrm>
          <a:prstGeom prst="rect">
            <a:avLst/>
          </a:prstGeom>
          <a:noFill/>
          <a:ln>
            <a:noFill/>
          </a:ln>
        </p:spPr>
      </p:pic>
      <p:pic>
        <p:nvPicPr>
          <p:cNvPr id="228" name="Google Shape;228;p24"/>
          <p:cNvPicPr preferRelativeResize="0"/>
          <p:nvPr/>
        </p:nvPicPr>
        <p:blipFill>
          <a:blip r:embed="rId5">
            <a:alphaModFix/>
          </a:blip>
          <a:stretch>
            <a:fillRect/>
          </a:stretch>
        </p:blipFill>
        <p:spPr>
          <a:xfrm>
            <a:off x="666750" y="3701000"/>
            <a:ext cx="6929499" cy="571575"/>
          </a:xfrm>
          <a:prstGeom prst="rect">
            <a:avLst/>
          </a:prstGeom>
          <a:noFill/>
          <a:ln>
            <a:noFill/>
          </a:ln>
        </p:spPr>
      </p:pic>
      <p:sp>
        <p:nvSpPr>
          <p:cNvPr id="229" name="Google Shape;229;p24"/>
          <p:cNvSpPr txBox="1"/>
          <p:nvPr>
            <p:ph idx="1" type="body"/>
          </p:nvPr>
        </p:nvSpPr>
        <p:spPr>
          <a:xfrm>
            <a:off x="895375" y="4396325"/>
            <a:ext cx="3388800" cy="370500"/>
          </a:xfrm>
          <a:prstGeom prst="rect">
            <a:avLst/>
          </a:prstGeom>
          <a:ln>
            <a:noFill/>
          </a:ln>
        </p:spPr>
        <p:txBody>
          <a:bodyPr anchorCtr="0" anchor="t" bIns="91425" lIns="91425" spcFirstLastPara="1" rIns="91425" wrap="square" tIns="91425">
            <a:noAutofit/>
          </a:bodyPr>
          <a:lstStyle/>
          <a:p>
            <a:pPr indent="0" lvl="0" marL="0" rtl="0" algn="ctr">
              <a:spcBef>
                <a:spcPts val="0"/>
              </a:spcBef>
              <a:spcAft>
                <a:spcPts val="1200"/>
              </a:spcAft>
              <a:buNone/>
            </a:pPr>
            <a:r>
              <a:rPr b="1" lang="en" sz="1500">
                <a:solidFill>
                  <a:srgbClr val="B6D7A8"/>
                </a:solidFill>
                <a:latin typeface="Montserrat"/>
                <a:ea typeface="Montserrat"/>
                <a:cs typeface="Montserrat"/>
                <a:sym typeface="Montserrat"/>
              </a:rPr>
              <a:t>SYNTAX</a:t>
            </a:r>
            <a:endParaRPr sz="1500">
              <a:solidFill>
                <a:srgbClr val="B6D7A8"/>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25"/>
          <p:cNvSpPr/>
          <p:nvPr/>
        </p:nvSpPr>
        <p:spPr>
          <a:xfrm>
            <a:off x="785275" y="4396325"/>
            <a:ext cx="3609000" cy="370500"/>
          </a:xfrm>
          <a:prstGeom prst="roundRect">
            <a:avLst>
              <a:gd fmla="val 16667" name="adj"/>
            </a:avLst>
          </a:prstGeom>
          <a:solidFill>
            <a:srgbClr val="1C458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35" name="Google Shape;235;p25"/>
          <p:cNvSpPr txBox="1"/>
          <p:nvPr>
            <p:ph idx="1" type="body"/>
          </p:nvPr>
        </p:nvSpPr>
        <p:spPr>
          <a:xfrm>
            <a:off x="320100" y="1307850"/>
            <a:ext cx="8503800" cy="3304500"/>
          </a:xfrm>
          <a:prstGeom prst="rect">
            <a:avLst/>
          </a:prstGeom>
          <a:ln>
            <a:noFill/>
          </a:ln>
        </p:spPr>
        <p:txBody>
          <a:bodyPr anchorCtr="0" anchor="t" bIns="91425" lIns="91425" spcFirstLastPara="1" rIns="91425" wrap="square" tIns="91425">
            <a:normAutofit/>
          </a:bodyPr>
          <a:lstStyle/>
          <a:p>
            <a:pPr indent="-190500" lvl="0" marL="285750" rtl="0" algn="l">
              <a:spcBef>
                <a:spcPts val="0"/>
              </a:spcBef>
              <a:spcAft>
                <a:spcPts val="0"/>
              </a:spcAft>
              <a:buClr>
                <a:srgbClr val="B6D7A8"/>
              </a:buClr>
              <a:buSzPts val="1200"/>
              <a:buFont typeface="Montserrat"/>
              <a:buAutoNum type="arabicPeriod" startAt="4"/>
            </a:pPr>
            <a:r>
              <a:rPr b="1" lang="en" sz="1200">
                <a:solidFill>
                  <a:srgbClr val="B6D7A8"/>
                </a:solidFill>
                <a:latin typeface="Montserrat"/>
                <a:ea typeface="Montserrat"/>
                <a:cs typeface="Montserrat"/>
                <a:sym typeface="Montserrat"/>
              </a:rPr>
              <a:t>Menggabungkan kedua data dan diberi nama ‘df_nomor21_gab’</a:t>
            </a:r>
            <a:endParaRPr b="1" sz="1200">
              <a:solidFill>
                <a:srgbClr val="B6D7A8"/>
              </a:solidFill>
              <a:latin typeface="Montserrat"/>
              <a:ea typeface="Montserrat"/>
              <a:cs typeface="Montserrat"/>
              <a:sym typeface="Montserrat"/>
            </a:endParaRPr>
          </a:p>
          <a:p>
            <a:pPr indent="0" lvl="0" marL="457200" rtl="0" algn="l">
              <a:spcBef>
                <a:spcPts val="0"/>
              </a:spcBef>
              <a:spcAft>
                <a:spcPts val="0"/>
              </a:spcAft>
              <a:buNone/>
            </a:pPr>
            <a:r>
              <a:t/>
            </a:r>
            <a:endParaRPr b="1">
              <a:solidFill>
                <a:srgbClr val="B6D7A8"/>
              </a:solidFill>
              <a:latin typeface="Montserrat"/>
              <a:ea typeface="Montserrat"/>
              <a:cs typeface="Montserrat"/>
              <a:sym typeface="Montserrat"/>
            </a:endParaRPr>
          </a:p>
          <a:p>
            <a:pPr indent="0" lvl="0" marL="0" rtl="0" algn="l">
              <a:spcBef>
                <a:spcPts val="1200"/>
              </a:spcBef>
              <a:spcAft>
                <a:spcPts val="0"/>
              </a:spcAft>
              <a:buNone/>
            </a:pPr>
            <a:r>
              <a:t/>
            </a:r>
            <a:endParaRPr b="1">
              <a:solidFill>
                <a:srgbClr val="B6D7A8"/>
              </a:solidFill>
              <a:latin typeface="Montserrat"/>
              <a:ea typeface="Montserrat"/>
              <a:cs typeface="Montserrat"/>
              <a:sym typeface="Montserrat"/>
            </a:endParaRPr>
          </a:p>
          <a:p>
            <a:pPr indent="0" lvl="0" marL="0" rtl="0" algn="l">
              <a:spcBef>
                <a:spcPts val="1200"/>
              </a:spcBef>
              <a:spcAft>
                <a:spcPts val="0"/>
              </a:spcAft>
              <a:buNone/>
            </a:pPr>
            <a:r>
              <a:t/>
            </a:r>
            <a:endParaRPr b="1">
              <a:solidFill>
                <a:srgbClr val="B6D7A8"/>
              </a:solidFill>
              <a:latin typeface="Montserrat"/>
              <a:ea typeface="Montserrat"/>
              <a:cs typeface="Montserrat"/>
              <a:sym typeface="Montserrat"/>
            </a:endParaRPr>
          </a:p>
          <a:p>
            <a:pPr indent="-190500" lvl="0" marL="285750" rtl="0" algn="l">
              <a:spcBef>
                <a:spcPts val="1200"/>
              </a:spcBef>
              <a:spcAft>
                <a:spcPts val="0"/>
              </a:spcAft>
              <a:buClr>
                <a:srgbClr val="B6D7A8"/>
              </a:buClr>
              <a:buSzPts val="1200"/>
              <a:buFont typeface="Montserrat"/>
              <a:buAutoNum type="arabicPeriod" startAt="5"/>
            </a:pPr>
            <a:r>
              <a:rPr b="1" lang="en" sz="1200">
                <a:solidFill>
                  <a:srgbClr val="B6D7A8"/>
                </a:solidFill>
                <a:latin typeface="Montserrat"/>
                <a:ea typeface="Montserrat"/>
                <a:cs typeface="Montserrat"/>
                <a:sym typeface="Montserrat"/>
              </a:rPr>
              <a:t>Mencari selisih kuantitas penjualan (qty_ordered) antara tahun 2022 dengan 2021</a:t>
            </a:r>
            <a:endParaRPr b="1" sz="1200">
              <a:solidFill>
                <a:srgbClr val="B6D7A8"/>
              </a:solidFill>
              <a:latin typeface="Montserrat"/>
              <a:ea typeface="Montserrat"/>
              <a:cs typeface="Montserrat"/>
              <a:sym typeface="Montserrat"/>
            </a:endParaRPr>
          </a:p>
          <a:p>
            <a:pPr indent="0" lvl="0" marL="457200" rtl="0" algn="l">
              <a:spcBef>
                <a:spcPts val="1200"/>
              </a:spcBef>
              <a:spcAft>
                <a:spcPts val="0"/>
              </a:spcAft>
              <a:buNone/>
            </a:pPr>
            <a:r>
              <a:t/>
            </a:r>
            <a:endParaRPr b="1" sz="1200">
              <a:solidFill>
                <a:srgbClr val="B6D7A8"/>
              </a:solidFill>
              <a:latin typeface="Montserrat"/>
              <a:ea typeface="Montserrat"/>
              <a:cs typeface="Montserrat"/>
              <a:sym typeface="Montserrat"/>
            </a:endParaRPr>
          </a:p>
          <a:p>
            <a:pPr indent="-190500" lvl="0" marL="285750" rtl="0" algn="l">
              <a:lnSpc>
                <a:spcPct val="150000"/>
              </a:lnSpc>
              <a:spcBef>
                <a:spcPts val="1200"/>
              </a:spcBef>
              <a:spcAft>
                <a:spcPts val="0"/>
              </a:spcAft>
              <a:buClr>
                <a:srgbClr val="B6D7A8"/>
              </a:buClr>
              <a:buSzPts val="1200"/>
              <a:buFont typeface="Montserrat"/>
              <a:buAutoNum type="arabicPeriod" startAt="6"/>
            </a:pPr>
            <a:r>
              <a:rPr b="1" lang="en" sz="1200">
                <a:solidFill>
                  <a:srgbClr val="B6D7A8"/>
                </a:solidFill>
                <a:latin typeface="Montserrat"/>
                <a:ea typeface="Montserrat"/>
                <a:cs typeface="Montserrat"/>
                <a:sym typeface="Montserrat"/>
              </a:rPr>
              <a:t>Memanggil 15 data pertama untuk melihat selisih dari 15 kuantitas penjualan setiap kategori</a:t>
            </a:r>
            <a:endParaRPr b="1" sz="1200">
              <a:solidFill>
                <a:srgbClr val="B6D7A8"/>
              </a:solidFill>
              <a:latin typeface="Montserrat"/>
              <a:ea typeface="Montserrat"/>
              <a:cs typeface="Montserrat"/>
              <a:sym typeface="Montserrat"/>
            </a:endParaRPr>
          </a:p>
          <a:p>
            <a:pPr indent="0" lvl="0" marL="457200" rtl="0" algn="l">
              <a:spcBef>
                <a:spcPts val="0"/>
              </a:spcBef>
              <a:spcAft>
                <a:spcPts val="1200"/>
              </a:spcAft>
              <a:buNone/>
            </a:pPr>
            <a:r>
              <a:t/>
            </a:r>
            <a:endParaRPr b="1">
              <a:solidFill>
                <a:srgbClr val="B6D7A8"/>
              </a:solidFill>
              <a:latin typeface="Montserrat"/>
              <a:ea typeface="Montserrat"/>
              <a:cs typeface="Montserrat"/>
              <a:sym typeface="Montserrat"/>
            </a:endParaRPr>
          </a:p>
        </p:txBody>
      </p:sp>
      <p:sp>
        <p:nvSpPr>
          <p:cNvPr id="236" name="Google Shape;236;p2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2.1. Kuantitas Penjualan setiap Kategori</a:t>
            </a:r>
            <a:endParaRPr/>
          </a:p>
        </p:txBody>
      </p:sp>
      <p:pic>
        <p:nvPicPr>
          <p:cNvPr id="237" name="Google Shape;237;p25"/>
          <p:cNvPicPr preferRelativeResize="0"/>
          <p:nvPr/>
        </p:nvPicPr>
        <p:blipFill rotWithShape="1">
          <a:blip r:embed="rId3">
            <a:alphaModFix/>
          </a:blip>
          <a:srcRect b="0" l="0" r="0" t="15640"/>
          <a:stretch/>
        </p:blipFill>
        <p:spPr>
          <a:xfrm>
            <a:off x="724463" y="1743263"/>
            <a:ext cx="3730625" cy="857250"/>
          </a:xfrm>
          <a:prstGeom prst="rect">
            <a:avLst/>
          </a:prstGeom>
          <a:noFill/>
          <a:ln>
            <a:noFill/>
          </a:ln>
        </p:spPr>
      </p:pic>
      <p:pic>
        <p:nvPicPr>
          <p:cNvPr id="238" name="Google Shape;238;p25"/>
          <p:cNvPicPr preferRelativeResize="0"/>
          <p:nvPr/>
        </p:nvPicPr>
        <p:blipFill>
          <a:blip r:embed="rId4">
            <a:alphaModFix/>
          </a:blip>
          <a:stretch>
            <a:fillRect/>
          </a:stretch>
        </p:blipFill>
        <p:spPr>
          <a:xfrm>
            <a:off x="724475" y="3035925"/>
            <a:ext cx="7010451" cy="400400"/>
          </a:xfrm>
          <a:prstGeom prst="rect">
            <a:avLst/>
          </a:prstGeom>
          <a:noFill/>
          <a:ln>
            <a:noFill/>
          </a:ln>
        </p:spPr>
      </p:pic>
      <p:sp>
        <p:nvSpPr>
          <p:cNvPr id="239" name="Google Shape;239;p25"/>
          <p:cNvSpPr txBox="1"/>
          <p:nvPr>
            <p:ph idx="1" type="body"/>
          </p:nvPr>
        </p:nvSpPr>
        <p:spPr>
          <a:xfrm>
            <a:off x="895375" y="4396325"/>
            <a:ext cx="3388800" cy="370500"/>
          </a:xfrm>
          <a:prstGeom prst="rect">
            <a:avLst/>
          </a:prstGeom>
          <a:ln>
            <a:noFill/>
          </a:ln>
        </p:spPr>
        <p:txBody>
          <a:bodyPr anchorCtr="0" anchor="t" bIns="91425" lIns="91425" spcFirstLastPara="1" rIns="91425" wrap="square" tIns="91425">
            <a:noAutofit/>
          </a:bodyPr>
          <a:lstStyle/>
          <a:p>
            <a:pPr indent="0" lvl="0" marL="0" rtl="0" algn="ctr">
              <a:spcBef>
                <a:spcPts val="0"/>
              </a:spcBef>
              <a:spcAft>
                <a:spcPts val="1200"/>
              </a:spcAft>
              <a:buNone/>
            </a:pPr>
            <a:r>
              <a:rPr b="1" lang="en" sz="1500">
                <a:solidFill>
                  <a:srgbClr val="B6D7A8"/>
                </a:solidFill>
                <a:latin typeface="Montserrat"/>
                <a:ea typeface="Montserrat"/>
                <a:cs typeface="Montserrat"/>
                <a:sym typeface="Montserrat"/>
              </a:rPr>
              <a:t>SYNTAX</a:t>
            </a:r>
            <a:endParaRPr sz="1500">
              <a:solidFill>
                <a:srgbClr val="B6D7A8"/>
              </a:solidFill>
            </a:endParaRPr>
          </a:p>
        </p:txBody>
      </p:sp>
      <p:pic>
        <p:nvPicPr>
          <p:cNvPr id="240" name="Google Shape;240;p25"/>
          <p:cNvPicPr preferRelativeResize="0"/>
          <p:nvPr/>
        </p:nvPicPr>
        <p:blipFill rotWithShape="1">
          <a:blip r:embed="rId5">
            <a:alphaModFix/>
          </a:blip>
          <a:srcRect b="0" l="596" r="0" t="49354"/>
          <a:stretch/>
        </p:blipFill>
        <p:spPr>
          <a:xfrm>
            <a:off x="724475" y="3824425"/>
            <a:ext cx="5842050" cy="2886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6"/>
          <p:cNvSpPr/>
          <p:nvPr/>
        </p:nvSpPr>
        <p:spPr>
          <a:xfrm>
            <a:off x="785275" y="4396325"/>
            <a:ext cx="3609000" cy="370500"/>
          </a:xfrm>
          <a:prstGeom prst="roundRect">
            <a:avLst>
              <a:gd fmla="val 16667" name="adj"/>
            </a:avLst>
          </a:prstGeom>
          <a:solidFill>
            <a:srgbClr val="1C458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46" name="Google Shape;246;p26"/>
          <p:cNvSpPr txBox="1"/>
          <p:nvPr>
            <p:ph idx="1" type="body"/>
          </p:nvPr>
        </p:nvSpPr>
        <p:spPr>
          <a:xfrm>
            <a:off x="895375" y="4396325"/>
            <a:ext cx="3388800" cy="370500"/>
          </a:xfrm>
          <a:prstGeom prst="rect">
            <a:avLst/>
          </a:prstGeom>
          <a:ln>
            <a:noFill/>
          </a:ln>
        </p:spPr>
        <p:txBody>
          <a:bodyPr anchorCtr="0" anchor="ctr" bIns="91425" lIns="91425" spcFirstLastPara="1" rIns="91425" wrap="square" tIns="91425">
            <a:normAutofit lnSpcReduction="20000"/>
          </a:bodyPr>
          <a:lstStyle/>
          <a:p>
            <a:pPr indent="0" lvl="0" marL="0" rtl="0" algn="ctr">
              <a:spcBef>
                <a:spcPts val="0"/>
              </a:spcBef>
              <a:spcAft>
                <a:spcPts val="0"/>
              </a:spcAft>
              <a:buNone/>
            </a:pPr>
            <a:r>
              <a:rPr b="1" lang="en" sz="1500">
                <a:solidFill>
                  <a:srgbClr val="B6D7A8"/>
                </a:solidFill>
                <a:latin typeface="Montserrat"/>
                <a:ea typeface="Montserrat"/>
                <a:cs typeface="Montserrat"/>
                <a:sym typeface="Montserrat"/>
              </a:rPr>
              <a:t>PROBLEM - 2.1 RESULT</a:t>
            </a:r>
            <a:endParaRPr>
              <a:solidFill>
                <a:srgbClr val="B6D7A8"/>
              </a:solidFill>
            </a:endParaRPr>
          </a:p>
        </p:txBody>
      </p:sp>
      <p:graphicFrame>
        <p:nvGraphicFramePr>
          <p:cNvPr id="247" name="Google Shape;247;p26"/>
          <p:cNvGraphicFramePr/>
          <p:nvPr/>
        </p:nvGraphicFramePr>
        <p:xfrm>
          <a:off x="785275" y="303700"/>
          <a:ext cx="3000000" cy="3000000"/>
        </p:xfrm>
        <a:graphic>
          <a:graphicData uri="http://schemas.openxmlformats.org/drawingml/2006/table">
            <a:tbl>
              <a:tblPr>
                <a:noFill/>
                <a:tableStyleId>{1854F9D3-55A7-42A3-81B5-2CE03ECBDFAA}</a:tableStyleId>
              </a:tblPr>
              <a:tblGrid>
                <a:gridCol w="4088175"/>
              </a:tblGrid>
              <a:tr h="3971375">
                <a:tc>
                  <a:txBody>
                    <a:bodyPr/>
                    <a:lstStyle/>
                    <a:p>
                      <a:pPr indent="0" lvl="0" marL="0" rtl="0" algn="l">
                        <a:spcBef>
                          <a:spcPts val="0"/>
                        </a:spcBef>
                        <a:spcAft>
                          <a:spcPts val="0"/>
                        </a:spcAft>
                        <a:buNone/>
                      </a:pPr>
                      <a:r>
                        <a:t/>
                      </a:r>
                      <a:endParaRPr/>
                    </a:p>
                  </a:txBody>
                  <a:tcPr marT="91425" marB="91425" marR="91425" marL="91425">
                    <a:lnL cap="flat" cmpd="sng" w="28575">
                      <a:solidFill>
                        <a:schemeClr val="dk2"/>
                      </a:solidFill>
                      <a:prstDash val="solid"/>
                      <a:round/>
                      <a:headEnd len="sm" w="sm" type="none"/>
                      <a:tailEnd len="sm" w="sm" type="none"/>
                    </a:lnL>
                    <a:lnR cap="flat" cmpd="sng" w="28575">
                      <a:solidFill>
                        <a:schemeClr val="dk2"/>
                      </a:solidFill>
                      <a:prstDash val="solid"/>
                      <a:round/>
                      <a:headEnd len="sm" w="sm" type="none"/>
                      <a:tailEnd len="sm" w="sm" type="none"/>
                    </a:lnR>
                    <a:lnT cap="flat" cmpd="sng" w="28575">
                      <a:solidFill>
                        <a:schemeClr val="dk2"/>
                      </a:solidFill>
                      <a:prstDash val="solid"/>
                      <a:round/>
                      <a:headEnd len="sm" w="sm" type="none"/>
                      <a:tailEnd len="sm" w="sm" type="none"/>
                    </a:lnT>
                    <a:lnB cap="flat" cmpd="sng" w="28575">
                      <a:solidFill>
                        <a:schemeClr val="dk2"/>
                      </a:solidFill>
                      <a:prstDash val="solid"/>
                      <a:round/>
                      <a:headEnd len="sm" w="sm" type="none"/>
                      <a:tailEnd len="sm" w="sm" type="none"/>
                    </a:lnB>
                  </a:tcPr>
                </a:tc>
              </a:tr>
            </a:tbl>
          </a:graphicData>
        </a:graphic>
      </p:graphicFrame>
      <p:graphicFrame>
        <p:nvGraphicFramePr>
          <p:cNvPr id="248" name="Google Shape;248;p26"/>
          <p:cNvGraphicFramePr/>
          <p:nvPr/>
        </p:nvGraphicFramePr>
        <p:xfrm>
          <a:off x="5143250" y="303700"/>
          <a:ext cx="3000000" cy="3000000"/>
        </p:xfrm>
        <a:graphic>
          <a:graphicData uri="http://schemas.openxmlformats.org/drawingml/2006/table">
            <a:tbl>
              <a:tblPr>
                <a:noFill/>
                <a:tableStyleId>{1854F9D3-55A7-42A3-81B5-2CE03ECBDFAA}</a:tableStyleId>
              </a:tblPr>
              <a:tblGrid>
                <a:gridCol w="3177000"/>
              </a:tblGrid>
              <a:tr h="3971375">
                <a:tc>
                  <a:txBody>
                    <a:bodyPr/>
                    <a:lstStyle/>
                    <a:p>
                      <a:pPr indent="0" lvl="0" marL="0" rtl="0" algn="ctr">
                        <a:spcBef>
                          <a:spcPts val="0"/>
                        </a:spcBef>
                        <a:spcAft>
                          <a:spcPts val="0"/>
                        </a:spcAft>
                        <a:buNone/>
                      </a:pPr>
                      <a:r>
                        <a:rPr lang="en" sz="1300">
                          <a:solidFill>
                            <a:schemeClr val="lt1"/>
                          </a:solidFill>
                        </a:rPr>
                        <a:t>Berdasarkan hasil pada tabel dapat dilihat bahwa kategori yang memiliki penurunan kuantitas penjualan adalah kategori </a:t>
                      </a:r>
                      <a:r>
                        <a:rPr b="1" lang="en" sz="1300">
                          <a:solidFill>
                            <a:schemeClr val="lt1"/>
                          </a:solidFill>
                        </a:rPr>
                        <a:t>Others, Soghaat, Men Fashion, dan </a:t>
                      </a:r>
                      <a:r>
                        <a:rPr b="1" lang="en" sz="1300">
                          <a:solidFill>
                            <a:schemeClr val="lt1"/>
                          </a:solidFill>
                        </a:rPr>
                        <a:t>Beauty &amp; Grooming.</a:t>
                      </a:r>
                      <a:endParaRPr sz="1300">
                        <a:solidFill>
                          <a:schemeClr val="lt1"/>
                        </a:solidFill>
                      </a:endParaRPr>
                    </a:p>
                  </a:txBody>
                  <a:tcPr marT="91425" marB="91425" marR="91425" marL="91425" anchor="ctr">
                    <a:lnL cap="flat" cmpd="sng" w="28575">
                      <a:solidFill>
                        <a:schemeClr val="dk2"/>
                      </a:solidFill>
                      <a:prstDash val="solid"/>
                      <a:round/>
                      <a:headEnd len="sm" w="sm" type="none"/>
                      <a:tailEnd len="sm" w="sm" type="none"/>
                    </a:lnL>
                    <a:lnR cap="flat" cmpd="sng" w="28575">
                      <a:solidFill>
                        <a:schemeClr val="dk2"/>
                      </a:solidFill>
                      <a:prstDash val="solid"/>
                      <a:round/>
                      <a:headEnd len="sm" w="sm" type="none"/>
                      <a:tailEnd len="sm" w="sm" type="none"/>
                    </a:lnR>
                    <a:lnT cap="flat" cmpd="sng" w="28575">
                      <a:solidFill>
                        <a:schemeClr val="dk2"/>
                      </a:solidFill>
                      <a:prstDash val="solid"/>
                      <a:round/>
                      <a:headEnd len="sm" w="sm" type="none"/>
                      <a:tailEnd len="sm" w="sm" type="none"/>
                    </a:lnT>
                    <a:lnB cap="flat" cmpd="sng" w="28575">
                      <a:solidFill>
                        <a:schemeClr val="dk2"/>
                      </a:solidFill>
                      <a:prstDash val="solid"/>
                      <a:round/>
                      <a:headEnd len="sm" w="sm" type="none"/>
                      <a:tailEnd len="sm" w="sm" type="none"/>
                    </a:lnB>
                  </a:tcPr>
                </a:tc>
              </a:tr>
            </a:tbl>
          </a:graphicData>
        </a:graphic>
      </p:graphicFrame>
      <p:pic>
        <p:nvPicPr>
          <p:cNvPr id="249" name="Google Shape;249;p26"/>
          <p:cNvPicPr preferRelativeResize="0"/>
          <p:nvPr/>
        </p:nvPicPr>
        <p:blipFill>
          <a:blip r:embed="rId3">
            <a:alphaModFix/>
          </a:blip>
          <a:stretch>
            <a:fillRect/>
          </a:stretch>
        </p:blipFill>
        <p:spPr>
          <a:xfrm>
            <a:off x="955550" y="476550"/>
            <a:ext cx="3747626" cy="3625675"/>
          </a:xfrm>
          <a:prstGeom prst="rect">
            <a:avLst/>
          </a:prstGeom>
          <a:noFill/>
          <a:ln>
            <a:noFill/>
          </a:ln>
        </p:spPr>
      </p:pic>
      <p:sp>
        <p:nvSpPr>
          <p:cNvPr id="250" name="Google Shape;250;p26"/>
          <p:cNvSpPr/>
          <p:nvPr/>
        </p:nvSpPr>
        <p:spPr>
          <a:xfrm>
            <a:off x="990600" y="939250"/>
            <a:ext cx="3486900" cy="8100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27"/>
          <p:cNvSpPr/>
          <p:nvPr/>
        </p:nvSpPr>
        <p:spPr>
          <a:xfrm>
            <a:off x="785275" y="4396325"/>
            <a:ext cx="3609000" cy="370500"/>
          </a:xfrm>
          <a:prstGeom prst="roundRect">
            <a:avLst>
              <a:gd fmla="val 16667" name="adj"/>
            </a:avLst>
          </a:prstGeom>
          <a:solidFill>
            <a:srgbClr val="1C458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56" name="Google Shape;256;p27"/>
          <p:cNvSpPr txBox="1"/>
          <p:nvPr>
            <p:ph idx="1" type="body"/>
          </p:nvPr>
        </p:nvSpPr>
        <p:spPr>
          <a:xfrm>
            <a:off x="320100" y="1307850"/>
            <a:ext cx="8503800" cy="3304500"/>
          </a:xfrm>
          <a:prstGeom prst="rect">
            <a:avLst/>
          </a:prstGeom>
          <a:ln>
            <a:noFill/>
          </a:ln>
        </p:spPr>
        <p:txBody>
          <a:bodyPr anchorCtr="0" anchor="t" bIns="91425" lIns="91425" spcFirstLastPara="1" rIns="91425" wrap="square" tIns="91425">
            <a:normAutofit lnSpcReduction="10000"/>
          </a:bodyPr>
          <a:lstStyle/>
          <a:p>
            <a:pPr indent="-190500" lvl="0" marL="228600" rtl="0" algn="l">
              <a:spcBef>
                <a:spcPts val="0"/>
              </a:spcBef>
              <a:spcAft>
                <a:spcPts val="0"/>
              </a:spcAft>
              <a:buClr>
                <a:srgbClr val="B6D7A8"/>
              </a:buClr>
              <a:buSzPts val="1200"/>
              <a:buFont typeface="Montserrat"/>
              <a:buAutoNum type="arabicPeriod"/>
            </a:pPr>
            <a:r>
              <a:rPr b="1" lang="en" sz="1200">
                <a:solidFill>
                  <a:srgbClr val="B6D7A8"/>
                </a:solidFill>
                <a:latin typeface="Montserrat"/>
                <a:ea typeface="Montserrat"/>
                <a:cs typeface="Montserrat"/>
                <a:sym typeface="Montserrat"/>
              </a:rPr>
              <a:t>Memfilter data is_valid = 1, dan dataframe diberi nama menjadi ‘df_nomor22’</a:t>
            </a:r>
            <a:endParaRPr b="1" sz="1200">
              <a:solidFill>
                <a:srgbClr val="B6D7A8"/>
              </a:solidFill>
              <a:latin typeface="Montserrat"/>
              <a:ea typeface="Montserrat"/>
              <a:cs typeface="Montserrat"/>
              <a:sym typeface="Montserrat"/>
            </a:endParaRPr>
          </a:p>
          <a:p>
            <a:pPr indent="0" lvl="0" marL="457200" rtl="0" algn="l">
              <a:spcBef>
                <a:spcPts val="0"/>
              </a:spcBef>
              <a:spcAft>
                <a:spcPts val="0"/>
              </a:spcAft>
              <a:buNone/>
            </a:pPr>
            <a:r>
              <a:t/>
            </a:r>
            <a:endParaRPr b="1" sz="1200">
              <a:solidFill>
                <a:srgbClr val="B6D7A8"/>
              </a:solidFill>
              <a:latin typeface="Montserrat"/>
              <a:ea typeface="Montserrat"/>
              <a:cs typeface="Montserrat"/>
              <a:sym typeface="Montserrat"/>
            </a:endParaRPr>
          </a:p>
          <a:p>
            <a:pPr indent="0" lvl="0" marL="457200" rtl="0" algn="l">
              <a:spcBef>
                <a:spcPts val="0"/>
              </a:spcBef>
              <a:spcAft>
                <a:spcPts val="0"/>
              </a:spcAft>
              <a:buNone/>
            </a:pPr>
            <a:r>
              <a:t/>
            </a:r>
            <a:endParaRPr b="1" sz="1200">
              <a:solidFill>
                <a:srgbClr val="B6D7A8"/>
              </a:solidFill>
              <a:latin typeface="Montserrat"/>
              <a:ea typeface="Montserrat"/>
              <a:cs typeface="Montserrat"/>
              <a:sym typeface="Montserrat"/>
            </a:endParaRPr>
          </a:p>
          <a:p>
            <a:pPr indent="-190500" lvl="0" marL="228600" rtl="0" algn="l">
              <a:lnSpc>
                <a:spcPct val="100000"/>
              </a:lnSpc>
              <a:spcBef>
                <a:spcPts val="0"/>
              </a:spcBef>
              <a:spcAft>
                <a:spcPts val="0"/>
              </a:spcAft>
              <a:buClr>
                <a:srgbClr val="B6D7A8"/>
              </a:buClr>
              <a:buSzPts val="1200"/>
              <a:buFont typeface="Montserrat"/>
              <a:buAutoNum type="arabicPeriod"/>
            </a:pPr>
            <a:r>
              <a:rPr b="1" lang="en" sz="1200">
                <a:solidFill>
                  <a:srgbClr val="B6D7A8"/>
                </a:solidFill>
                <a:latin typeface="Montserrat"/>
                <a:ea typeface="Montserrat"/>
                <a:cs typeface="Montserrat"/>
                <a:sym typeface="Montserrat"/>
              </a:rPr>
              <a:t>Memfilter data dengan kategori = Others</a:t>
            </a:r>
            <a:endParaRPr b="1" sz="1200">
              <a:solidFill>
                <a:srgbClr val="B6D7A8"/>
              </a:solidFill>
              <a:latin typeface="Montserrat"/>
              <a:ea typeface="Montserrat"/>
              <a:cs typeface="Montserrat"/>
              <a:sym typeface="Montserrat"/>
            </a:endParaRPr>
          </a:p>
          <a:p>
            <a:pPr indent="0" lvl="0" marL="457200" rtl="0" algn="l">
              <a:lnSpc>
                <a:spcPct val="100000"/>
              </a:lnSpc>
              <a:spcBef>
                <a:spcPts val="0"/>
              </a:spcBef>
              <a:spcAft>
                <a:spcPts val="0"/>
              </a:spcAft>
              <a:buNone/>
            </a:pPr>
            <a:r>
              <a:t/>
            </a:r>
            <a:endParaRPr b="1">
              <a:solidFill>
                <a:srgbClr val="B6D7A8"/>
              </a:solidFill>
              <a:latin typeface="Montserrat"/>
              <a:ea typeface="Montserrat"/>
              <a:cs typeface="Montserrat"/>
              <a:sym typeface="Montserrat"/>
            </a:endParaRPr>
          </a:p>
          <a:p>
            <a:pPr indent="0" lvl="0" marL="457200" rtl="0" algn="l">
              <a:lnSpc>
                <a:spcPct val="100000"/>
              </a:lnSpc>
              <a:spcBef>
                <a:spcPts val="1200"/>
              </a:spcBef>
              <a:spcAft>
                <a:spcPts val="0"/>
              </a:spcAft>
              <a:buNone/>
            </a:pPr>
            <a:r>
              <a:t/>
            </a:r>
            <a:endParaRPr b="1">
              <a:solidFill>
                <a:srgbClr val="B6D7A8"/>
              </a:solidFill>
              <a:latin typeface="Montserrat"/>
              <a:ea typeface="Montserrat"/>
              <a:cs typeface="Montserrat"/>
              <a:sym typeface="Montserrat"/>
            </a:endParaRPr>
          </a:p>
          <a:p>
            <a:pPr indent="-190500" lvl="0" marL="228600" rtl="0" algn="l">
              <a:spcBef>
                <a:spcPts val="1200"/>
              </a:spcBef>
              <a:spcAft>
                <a:spcPts val="0"/>
              </a:spcAft>
              <a:buClr>
                <a:srgbClr val="B6D7A8"/>
              </a:buClr>
              <a:buSzPts val="1200"/>
              <a:buFont typeface="Montserrat"/>
              <a:buAutoNum type="arabicPeriod"/>
            </a:pPr>
            <a:r>
              <a:rPr b="1" lang="en" sz="1200">
                <a:solidFill>
                  <a:srgbClr val="B6D7A8"/>
                </a:solidFill>
                <a:latin typeface="Montserrat"/>
                <a:ea typeface="Montserrat"/>
                <a:cs typeface="Montserrat"/>
                <a:sym typeface="Montserrat"/>
              </a:rPr>
              <a:t>Mengambil data ‘tahun’ pada format datetime dan memfilter tahun 2021 dan 2022</a:t>
            </a:r>
            <a:endParaRPr b="1" sz="1200">
              <a:solidFill>
                <a:srgbClr val="B6D7A8"/>
              </a:solidFill>
              <a:latin typeface="Montserrat"/>
              <a:ea typeface="Montserrat"/>
              <a:cs typeface="Montserrat"/>
              <a:sym typeface="Montserrat"/>
            </a:endParaRPr>
          </a:p>
          <a:p>
            <a:pPr indent="0" lvl="0" marL="457200" rtl="0" algn="l">
              <a:spcBef>
                <a:spcPts val="1200"/>
              </a:spcBef>
              <a:spcAft>
                <a:spcPts val="0"/>
              </a:spcAft>
              <a:buNone/>
            </a:pPr>
            <a:r>
              <a:t/>
            </a:r>
            <a:endParaRPr b="1" sz="1200">
              <a:solidFill>
                <a:srgbClr val="B6D7A8"/>
              </a:solidFill>
              <a:latin typeface="Montserrat"/>
              <a:ea typeface="Montserrat"/>
              <a:cs typeface="Montserrat"/>
              <a:sym typeface="Montserrat"/>
            </a:endParaRPr>
          </a:p>
          <a:p>
            <a:pPr indent="0" lvl="0" marL="457200" rtl="0" algn="l">
              <a:spcBef>
                <a:spcPts val="1200"/>
              </a:spcBef>
              <a:spcAft>
                <a:spcPts val="0"/>
              </a:spcAft>
              <a:buNone/>
            </a:pPr>
            <a:r>
              <a:t/>
            </a:r>
            <a:endParaRPr b="1" sz="1200">
              <a:solidFill>
                <a:srgbClr val="B6D7A8"/>
              </a:solidFill>
              <a:latin typeface="Montserrat"/>
              <a:ea typeface="Montserrat"/>
              <a:cs typeface="Montserrat"/>
              <a:sym typeface="Montserrat"/>
            </a:endParaRPr>
          </a:p>
          <a:p>
            <a:pPr indent="0" lvl="0" marL="457200" rtl="0" algn="l">
              <a:spcBef>
                <a:spcPts val="1200"/>
              </a:spcBef>
              <a:spcAft>
                <a:spcPts val="0"/>
              </a:spcAft>
              <a:buNone/>
            </a:pPr>
            <a:r>
              <a:t/>
            </a:r>
            <a:endParaRPr b="1" sz="1200">
              <a:solidFill>
                <a:srgbClr val="B6D7A8"/>
              </a:solidFill>
              <a:latin typeface="Montserrat"/>
              <a:ea typeface="Montserrat"/>
              <a:cs typeface="Montserrat"/>
              <a:sym typeface="Montserrat"/>
            </a:endParaRPr>
          </a:p>
          <a:p>
            <a:pPr indent="0" lvl="0" marL="457200" rtl="0" algn="l">
              <a:spcBef>
                <a:spcPts val="1200"/>
              </a:spcBef>
              <a:spcAft>
                <a:spcPts val="1200"/>
              </a:spcAft>
              <a:buNone/>
            </a:pPr>
            <a:r>
              <a:t/>
            </a:r>
            <a:endParaRPr b="1">
              <a:solidFill>
                <a:srgbClr val="B6D7A8"/>
              </a:solidFill>
              <a:latin typeface="Montserrat"/>
              <a:ea typeface="Montserrat"/>
              <a:cs typeface="Montserrat"/>
              <a:sym typeface="Montserrat"/>
            </a:endParaRPr>
          </a:p>
        </p:txBody>
      </p:sp>
      <p:sp>
        <p:nvSpPr>
          <p:cNvPr id="257" name="Google Shape;257;p27"/>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2.2. Kuantitas Penjualan Setiap Nama Produk pada Kategori Others</a:t>
            </a:r>
            <a:endParaRPr/>
          </a:p>
        </p:txBody>
      </p:sp>
      <p:pic>
        <p:nvPicPr>
          <p:cNvPr id="258" name="Google Shape;258;p27"/>
          <p:cNvPicPr preferRelativeResize="0"/>
          <p:nvPr/>
        </p:nvPicPr>
        <p:blipFill>
          <a:blip r:embed="rId3">
            <a:alphaModFix/>
          </a:blip>
          <a:stretch>
            <a:fillRect/>
          </a:stretch>
        </p:blipFill>
        <p:spPr>
          <a:xfrm>
            <a:off x="666750" y="1677388"/>
            <a:ext cx="2511475" cy="198275"/>
          </a:xfrm>
          <a:prstGeom prst="rect">
            <a:avLst/>
          </a:prstGeom>
          <a:noFill/>
          <a:ln>
            <a:noFill/>
          </a:ln>
        </p:spPr>
      </p:pic>
      <p:pic>
        <p:nvPicPr>
          <p:cNvPr id="259" name="Google Shape;259;p27"/>
          <p:cNvPicPr preferRelativeResize="0"/>
          <p:nvPr/>
        </p:nvPicPr>
        <p:blipFill>
          <a:blip r:embed="rId4">
            <a:alphaModFix/>
          </a:blip>
          <a:stretch>
            <a:fillRect/>
          </a:stretch>
        </p:blipFill>
        <p:spPr>
          <a:xfrm>
            <a:off x="648835" y="3080735"/>
            <a:ext cx="3881888" cy="1071600"/>
          </a:xfrm>
          <a:prstGeom prst="rect">
            <a:avLst/>
          </a:prstGeom>
          <a:noFill/>
          <a:ln>
            <a:noFill/>
          </a:ln>
        </p:spPr>
      </p:pic>
      <p:pic>
        <p:nvPicPr>
          <p:cNvPr id="260" name="Google Shape;260;p27"/>
          <p:cNvPicPr preferRelativeResize="0"/>
          <p:nvPr/>
        </p:nvPicPr>
        <p:blipFill>
          <a:blip r:embed="rId5">
            <a:alphaModFix/>
          </a:blip>
          <a:stretch>
            <a:fillRect/>
          </a:stretch>
        </p:blipFill>
        <p:spPr>
          <a:xfrm>
            <a:off x="666750" y="2245226"/>
            <a:ext cx="4135874" cy="415525"/>
          </a:xfrm>
          <a:prstGeom prst="rect">
            <a:avLst/>
          </a:prstGeom>
          <a:noFill/>
          <a:ln>
            <a:noFill/>
          </a:ln>
        </p:spPr>
      </p:pic>
      <p:sp>
        <p:nvSpPr>
          <p:cNvPr id="261" name="Google Shape;261;p27"/>
          <p:cNvSpPr txBox="1"/>
          <p:nvPr>
            <p:ph idx="1" type="body"/>
          </p:nvPr>
        </p:nvSpPr>
        <p:spPr>
          <a:xfrm>
            <a:off x="895375" y="4396325"/>
            <a:ext cx="3388800" cy="370500"/>
          </a:xfrm>
          <a:prstGeom prst="rect">
            <a:avLst/>
          </a:prstGeom>
          <a:ln>
            <a:noFill/>
          </a:ln>
        </p:spPr>
        <p:txBody>
          <a:bodyPr anchorCtr="0" anchor="t" bIns="91425" lIns="91425" spcFirstLastPara="1" rIns="91425" wrap="square" tIns="91425">
            <a:noAutofit/>
          </a:bodyPr>
          <a:lstStyle/>
          <a:p>
            <a:pPr indent="0" lvl="0" marL="0" rtl="0" algn="ctr">
              <a:spcBef>
                <a:spcPts val="0"/>
              </a:spcBef>
              <a:spcAft>
                <a:spcPts val="1200"/>
              </a:spcAft>
              <a:buNone/>
            </a:pPr>
            <a:r>
              <a:rPr b="1" lang="en" sz="1500">
                <a:solidFill>
                  <a:srgbClr val="B6D7A8"/>
                </a:solidFill>
                <a:latin typeface="Montserrat"/>
                <a:ea typeface="Montserrat"/>
                <a:cs typeface="Montserrat"/>
                <a:sym typeface="Montserrat"/>
              </a:rPr>
              <a:t>SYNTAX</a:t>
            </a:r>
            <a:endParaRPr sz="1500">
              <a:solidFill>
                <a:srgbClr val="B6D7A8"/>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28"/>
          <p:cNvSpPr/>
          <p:nvPr/>
        </p:nvSpPr>
        <p:spPr>
          <a:xfrm>
            <a:off x="785275" y="4396325"/>
            <a:ext cx="3609000" cy="370500"/>
          </a:xfrm>
          <a:prstGeom prst="roundRect">
            <a:avLst>
              <a:gd fmla="val 16667" name="adj"/>
            </a:avLst>
          </a:prstGeom>
          <a:solidFill>
            <a:srgbClr val="1C458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67" name="Google Shape;267;p28"/>
          <p:cNvSpPr txBox="1"/>
          <p:nvPr>
            <p:ph idx="1" type="body"/>
          </p:nvPr>
        </p:nvSpPr>
        <p:spPr>
          <a:xfrm>
            <a:off x="320100" y="1224350"/>
            <a:ext cx="8503800" cy="3542400"/>
          </a:xfrm>
          <a:prstGeom prst="rect">
            <a:avLst/>
          </a:prstGeom>
          <a:ln>
            <a:noFill/>
          </a:ln>
        </p:spPr>
        <p:txBody>
          <a:bodyPr anchorCtr="0" anchor="t" bIns="91425" lIns="91425" spcFirstLastPara="1" rIns="91425" wrap="square" tIns="91425">
            <a:normAutofit/>
          </a:bodyPr>
          <a:lstStyle/>
          <a:p>
            <a:pPr indent="-190500" lvl="0" marL="285750" rtl="0" algn="l">
              <a:spcBef>
                <a:spcPts val="0"/>
              </a:spcBef>
              <a:spcAft>
                <a:spcPts val="0"/>
              </a:spcAft>
              <a:buClr>
                <a:srgbClr val="B6D7A8"/>
              </a:buClr>
              <a:buSzPts val="1200"/>
              <a:buFont typeface="Montserrat"/>
              <a:buAutoNum type="arabicPeriod" startAt="4"/>
            </a:pPr>
            <a:r>
              <a:rPr b="1" lang="en" sz="1200">
                <a:solidFill>
                  <a:srgbClr val="B6D7A8"/>
                </a:solidFill>
                <a:latin typeface="Montserrat"/>
                <a:ea typeface="Montserrat"/>
                <a:cs typeface="Montserrat"/>
                <a:sym typeface="Montserrat"/>
              </a:rPr>
              <a:t>Menjumlahkan ‘qty_ordered’ dan melakukan groupby berdasarkan kategori masing-masing tahun</a:t>
            </a:r>
            <a:endParaRPr b="1" sz="1200">
              <a:solidFill>
                <a:srgbClr val="B6D7A8"/>
              </a:solidFill>
              <a:latin typeface="Montserrat"/>
              <a:ea typeface="Montserrat"/>
              <a:cs typeface="Montserrat"/>
              <a:sym typeface="Montserrat"/>
            </a:endParaRPr>
          </a:p>
          <a:p>
            <a:pPr indent="0" lvl="0" marL="0" rtl="0" algn="l">
              <a:spcBef>
                <a:spcPts val="1200"/>
              </a:spcBef>
              <a:spcAft>
                <a:spcPts val="0"/>
              </a:spcAft>
              <a:buNone/>
            </a:pPr>
            <a:r>
              <a:t/>
            </a:r>
            <a:endParaRPr b="1" sz="1200">
              <a:solidFill>
                <a:srgbClr val="B6D7A8"/>
              </a:solidFill>
              <a:latin typeface="Montserrat"/>
              <a:ea typeface="Montserrat"/>
              <a:cs typeface="Montserrat"/>
              <a:sym typeface="Montserrat"/>
            </a:endParaRPr>
          </a:p>
          <a:p>
            <a:pPr indent="-190500" lvl="0" marL="285750" rtl="0" algn="l">
              <a:spcBef>
                <a:spcPts val="1200"/>
              </a:spcBef>
              <a:spcAft>
                <a:spcPts val="0"/>
              </a:spcAft>
              <a:buClr>
                <a:srgbClr val="B6D7A8"/>
              </a:buClr>
              <a:buSzPts val="1200"/>
              <a:buFont typeface="Montserrat"/>
              <a:buAutoNum type="arabicPeriod" startAt="5"/>
            </a:pPr>
            <a:r>
              <a:rPr b="1" lang="en" sz="1200">
                <a:solidFill>
                  <a:srgbClr val="B6D7A8"/>
                </a:solidFill>
                <a:latin typeface="Montserrat"/>
                <a:ea typeface="Montserrat"/>
                <a:cs typeface="Montserrat"/>
                <a:sym typeface="Montserrat"/>
              </a:rPr>
              <a:t>Menggabungkan kedua data dan diberi nama ‘df_nomor22_gab’</a:t>
            </a:r>
            <a:endParaRPr b="1" sz="1200">
              <a:solidFill>
                <a:srgbClr val="B6D7A8"/>
              </a:solidFill>
              <a:latin typeface="Montserrat"/>
              <a:ea typeface="Montserrat"/>
              <a:cs typeface="Montserrat"/>
              <a:sym typeface="Montserrat"/>
            </a:endParaRPr>
          </a:p>
          <a:p>
            <a:pPr indent="0" lvl="0" marL="457200" rtl="0" algn="l">
              <a:spcBef>
                <a:spcPts val="0"/>
              </a:spcBef>
              <a:spcAft>
                <a:spcPts val="0"/>
              </a:spcAft>
              <a:buNone/>
            </a:pPr>
            <a:r>
              <a:t/>
            </a:r>
            <a:endParaRPr b="1" sz="1200">
              <a:solidFill>
                <a:srgbClr val="B6D7A8"/>
              </a:solidFill>
              <a:latin typeface="Montserrat"/>
              <a:ea typeface="Montserrat"/>
              <a:cs typeface="Montserrat"/>
              <a:sym typeface="Montserrat"/>
            </a:endParaRPr>
          </a:p>
          <a:p>
            <a:pPr indent="0" lvl="0" marL="0" rtl="0" algn="l">
              <a:spcBef>
                <a:spcPts val="1200"/>
              </a:spcBef>
              <a:spcAft>
                <a:spcPts val="0"/>
              </a:spcAft>
              <a:buNone/>
            </a:pPr>
            <a:r>
              <a:t/>
            </a:r>
            <a:endParaRPr b="1" sz="1200">
              <a:solidFill>
                <a:srgbClr val="B6D7A8"/>
              </a:solidFill>
              <a:latin typeface="Montserrat"/>
              <a:ea typeface="Montserrat"/>
              <a:cs typeface="Montserrat"/>
              <a:sym typeface="Montserrat"/>
            </a:endParaRPr>
          </a:p>
          <a:p>
            <a:pPr indent="-190500" lvl="0" marL="285750" rtl="0" algn="l">
              <a:spcBef>
                <a:spcPts val="1200"/>
              </a:spcBef>
              <a:spcAft>
                <a:spcPts val="0"/>
              </a:spcAft>
              <a:buClr>
                <a:srgbClr val="B6D7A8"/>
              </a:buClr>
              <a:buSzPts val="1200"/>
              <a:buFont typeface="Montserrat"/>
              <a:buAutoNum type="arabicPeriod" startAt="6"/>
            </a:pPr>
            <a:r>
              <a:rPr b="1" lang="en" sz="1200">
                <a:solidFill>
                  <a:srgbClr val="B6D7A8"/>
                </a:solidFill>
                <a:latin typeface="Montserrat"/>
                <a:ea typeface="Montserrat"/>
                <a:cs typeface="Montserrat"/>
                <a:sym typeface="Montserrat"/>
              </a:rPr>
              <a:t>Mencari selisih kuantitas penjualan (qty_ordered) antara tahun 2022 dengan 2021</a:t>
            </a:r>
            <a:endParaRPr b="1" sz="1200">
              <a:solidFill>
                <a:srgbClr val="B6D7A8"/>
              </a:solidFill>
              <a:latin typeface="Montserrat"/>
              <a:ea typeface="Montserrat"/>
              <a:cs typeface="Montserrat"/>
              <a:sym typeface="Montserrat"/>
            </a:endParaRPr>
          </a:p>
          <a:p>
            <a:pPr indent="0" lvl="0" marL="457200" rtl="0" algn="l">
              <a:spcBef>
                <a:spcPts val="1200"/>
              </a:spcBef>
              <a:spcAft>
                <a:spcPts val="0"/>
              </a:spcAft>
              <a:buNone/>
            </a:pPr>
            <a:r>
              <a:t/>
            </a:r>
            <a:endParaRPr b="1" sz="1200">
              <a:solidFill>
                <a:srgbClr val="B6D7A8"/>
              </a:solidFill>
              <a:latin typeface="Montserrat"/>
              <a:ea typeface="Montserrat"/>
              <a:cs typeface="Montserrat"/>
              <a:sym typeface="Montserrat"/>
            </a:endParaRPr>
          </a:p>
          <a:p>
            <a:pPr indent="-190500" lvl="0" marL="285750" rtl="0" algn="l">
              <a:lnSpc>
                <a:spcPct val="150000"/>
              </a:lnSpc>
              <a:spcBef>
                <a:spcPts val="1200"/>
              </a:spcBef>
              <a:spcAft>
                <a:spcPts val="0"/>
              </a:spcAft>
              <a:buClr>
                <a:srgbClr val="B6D7A8"/>
              </a:buClr>
              <a:buSzPts val="1200"/>
              <a:buFont typeface="Montserrat"/>
              <a:buAutoNum type="arabicPeriod" startAt="6"/>
            </a:pPr>
            <a:r>
              <a:rPr b="1" lang="en" sz="1200">
                <a:solidFill>
                  <a:srgbClr val="B6D7A8"/>
                </a:solidFill>
                <a:latin typeface="Montserrat"/>
                <a:ea typeface="Montserrat"/>
                <a:cs typeface="Montserrat"/>
                <a:sym typeface="Montserrat"/>
              </a:rPr>
              <a:t>Memanggil 20 data pertama untuk melihat selisih dari 20 kuantitas penjualan setiap nama produk</a:t>
            </a:r>
            <a:endParaRPr b="1" sz="1200">
              <a:solidFill>
                <a:srgbClr val="B6D7A8"/>
              </a:solidFill>
              <a:latin typeface="Montserrat"/>
              <a:ea typeface="Montserrat"/>
              <a:cs typeface="Montserrat"/>
              <a:sym typeface="Montserrat"/>
            </a:endParaRPr>
          </a:p>
          <a:p>
            <a:pPr indent="0" lvl="0" marL="457200" rtl="0" algn="l">
              <a:spcBef>
                <a:spcPts val="0"/>
              </a:spcBef>
              <a:spcAft>
                <a:spcPts val="1200"/>
              </a:spcAft>
              <a:buNone/>
            </a:pPr>
            <a:r>
              <a:t/>
            </a:r>
            <a:endParaRPr b="1">
              <a:solidFill>
                <a:srgbClr val="B6D7A8"/>
              </a:solidFill>
              <a:latin typeface="Montserrat"/>
              <a:ea typeface="Montserrat"/>
              <a:cs typeface="Montserrat"/>
              <a:sym typeface="Montserrat"/>
            </a:endParaRPr>
          </a:p>
        </p:txBody>
      </p:sp>
      <p:sp>
        <p:nvSpPr>
          <p:cNvPr id="268" name="Google Shape;268;p28"/>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2.2. </a:t>
            </a:r>
            <a:r>
              <a:rPr lang="en"/>
              <a:t>Kuantitas Penjualan Setiap Nama Produk pada Kategori Others</a:t>
            </a:r>
            <a:endParaRPr/>
          </a:p>
        </p:txBody>
      </p:sp>
      <p:pic>
        <p:nvPicPr>
          <p:cNvPr id="269" name="Google Shape;269;p28"/>
          <p:cNvPicPr preferRelativeResize="0"/>
          <p:nvPr/>
        </p:nvPicPr>
        <p:blipFill>
          <a:blip r:embed="rId3">
            <a:alphaModFix/>
          </a:blip>
          <a:stretch>
            <a:fillRect/>
          </a:stretch>
        </p:blipFill>
        <p:spPr>
          <a:xfrm>
            <a:off x="724475" y="1629100"/>
            <a:ext cx="3997450" cy="321100"/>
          </a:xfrm>
          <a:prstGeom prst="rect">
            <a:avLst/>
          </a:prstGeom>
          <a:noFill/>
          <a:ln>
            <a:noFill/>
          </a:ln>
        </p:spPr>
      </p:pic>
      <p:pic>
        <p:nvPicPr>
          <p:cNvPr id="270" name="Google Shape;270;p28"/>
          <p:cNvPicPr preferRelativeResize="0"/>
          <p:nvPr/>
        </p:nvPicPr>
        <p:blipFill rotWithShape="1">
          <a:blip r:embed="rId4">
            <a:alphaModFix/>
          </a:blip>
          <a:srcRect b="6134" l="0" r="0" t="17570"/>
          <a:stretch/>
        </p:blipFill>
        <p:spPr>
          <a:xfrm>
            <a:off x="724475" y="2276375"/>
            <a:ext cx="3362075" cy="707750"/>
          </a:xfrm>
          <a:prstGeom prst="rect">
            <a:avLst/>
          </a:prstGeom>
          <a:noFill/>
          <a:ln>
            <a:noFill/>
          </a:ln>
        </p:spPr>
      </p:pic>
      <p:pic>
        <p:nvPicPr>
          <p:cNvPr id="271" name="Google Shape;271;p28"/>
          <p:cNvPicPr preferRelativeResize="0"/>
          <p:nvPr/>
        </p:nvPicPr>
        <p:blipFill>
          <a:blip r:embed="rId5">
            <a:alphaModFix/>
          </a:blip>
          <a:stretch>
            <a:fillRect/>
          </a:stretch>
        </p:blipFill>
        <p:spPr>
          <a:xfrm>
            <a:off x="724475" y="3232700"/>
            <a:ext cx="7128610" cy="400400"/>
          </a:xfrm>
          <a:prstGeom prst="rect">
            <a:avLst/>
          </a:prstGeom>
          <a:noFill/>
          <a:ln>
            <a:noFill/>
          </a:ln>
        </p:spPr>
      </p:pic>
      <p:pic>
        <p:nvPicPr>
          <p:cNvPr id="272" name="Google Shape;272;p28"/>
          <p:cNvPicPr preferRelativeResize="0"/>
          <p:nvPr/>
        </p:nvPicPr>
        <p:blipFill>
          <a:blip r:embed="rId6">
            <a:alphaModFix/>
          </a:blip>
          <a:stretch>
            <a:fillRect/>
          </a:stretch>
        </p:blipFill>
        <p:spPr>
          <a:xfrm>
            <a:off x="724475" y="3952650"/>
            <a:ext cx="5608346" cy="370500"/>
          </a:xfrm>
          <a:prstGeom prst="rect">
            <a:avLst/>
          </a:prstGeom>
          <a:noFill/>
          <a:ln>
            <a:noFill/>
          </a:ln>
        </p:spPr>
      </p:pic>
      <p:sp>
        <p:nvSpPr>
          <p:cNvPr id="273" name="Google Shape;273;p28"/>
          <p:cNvSpPr txBox="1"/>
          <p:nvPr>
            <p:ph idx="1" type="body"/>
          </p:nvPr>
        </p:nvSpPr>
        <p:spPr>
          <a:xfrm>
            <a:off x="895375" y="4396325"/>
            <a:ext cx="3388800" cy="370500"/>
          </a:xfrm>
          <a:prstGeom prst="rect">
            <a:avLst/>
          </a:prstGeom>
          <a:ln>
            <a:noFill/>
          </a:ln>
        </p:spPr>
        <p:txBody>
          <a:bodyPr anchorCtr="0" anchor="t" bIns="91425" lIns="91425" spcFirstLastPara="1" rIns="91425" wrap="square" tIns="91425">
            <a:noAutofit/>
          </a:bodyPr>
          <a:lstStyle/>
          <a:p>
            <a:pPr indent="0" lvl="0" marL="0" rtl="0" algn="ctr">
              <a:spcBef>
                <a:spcPts val="0"/>
              </a:spcBef>
              <a:spcAft>
                <a:spcPts val="1200"/>
              </a:spcAft>
              <a:buNone/>
            </a:pPr>
            <a:r>
              <a:rPr b="1" lang="en" sz="1500">
                <a:solidFill>
                  <a:srgbClr val="B6D7A8"/>
                </a:solidFill>
                <a:latin typeface="Montserrat"/>
                <a:ea typeface="Montserrat"/>
                <a:cs typeface="Montserrat"/>
                <a:sym typeface="Montserrat"/>
              </a:rPr>
              <a:t>SYNTAX</a:t>
            </a:r>
            <a:endParaRPr sz="1500">
              <a:solidFill>
                <a:srgbClr val="B6D7A8"/>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29"/>
          <p:cNvSpPr/>
          <p:nvPr/>
        </p:nvSpPr>
        <p:spPr>
          <a:xfrm>
            <a:off x="785275" y="4396325"/>
            <a:ext cx="3609000" cy="370500"/>
          </a:xfrm>
          <a:prstGeom prst="roundRect">
            <a:avLst>
              <a:gd fmla="val 16667" name="adj"/>
            </a:avLst>
          </a:prstGeom>
          <a:solidFill>
            <a:srgbClr val="1C458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79" name="Google Shape;279;p29"/>
          <p:cNvSpPr txBox="1"/>
          <p:nvPr>
            <p:ph idx="1" type="body"/>
          </p:nvPr>
        </p:nvSpPr>
        <p:spPr>
          <a:xfrm>
            <a:off x="895375" y="4396325"/>
            <a:ext cx="3388800" cy="370500"/>
          </a:xfrm>
          <a:prstGeom prst="rect">
            <a:avLst/>
          </a:prstGeom>
          <a:ln>
            <a:noFill/>
          </a:ln>
        </p:spPr>
        <p:txBody>
          <a:bodyPr anchorCtr="0" anchor="ctr" bIns="91425" lIns="91425" spcFirstLastPara="1" rIns="91425" wrap="square" tIns="91425">
            <a:normAutofit lnSpcReduction="20000"/>
          </a:bodyPr>
          <a:lstStyle/>
          <a:p>
            <a:pPr indent="0" lvl="0" marL="0" rtl="0" algn="ctr">
              <a:spcBef>
                <a:spcPts val="0"/>
              </a:spcBef>
              <a:spcAft>
                <a:spcPts val="0"/>
              </a:spcAft>
              <a:buNone/>
            </a:pPr>
            <a:r>
              <a:rPr b="1" lang="en" sz="1500">
                <a:solidFill>
                  <a:srgbClr val="B6D7A8"/>
                </a:solidFill>
                <a:latin typeface="Montserrat"/>
                <a:ea typeface="Montserrat"/>
                <a:cs typeface="Montserrat"/>
                <a:sym typeface="Montserrat"/>
              </a:rPr>
              <a:t>PROBLEM - 2.2 RESULT</a:t>
            </a:r>
            <a:endParaRPr>
              <a:solidFill>
                <a:srgbClr val="B6D7A8"/>
              </a:solidFill>
            </a:endParaRPr>
          </a:p>
        </p:txBody>
      </p:sp>
      <p:graphicFrame>
        <p:nvGraphicFramePr>
          <p:cNvPr id="280" name="Google Shape;280;p29"/>
          <p:cNvGraphicFramePr/>
          <p:nvPr/>
        </p:nvGraphicFramePr>
        <p:xfrm>
          <a:off x="412125" y="303700"/>
          <a:ext cx="3000000" cy="3000000"/>
        </p:xfrm>
        <a:graphic>
          <a:graphicData uri="http://schemas.openxmlformats.org/drawingml/2006/table">
            <a:tbl>
              <a:tblPr>
                <a:noFill/>
                <a:tableStyleId>{1854F9D3-55A7-42A3-81B5-2CE03ECBDFAA}</a:tableStyleId>
              </a:tblPr>
              <a:tblGrid>
                <a:gridCol w="4531950"/>
              </a:tblGrid>
              <a:tr h="3971375">
                <a:tc>
                  <a:txBody>
                    <a:bodyPr/>
                    <a:lstStyle/>
                    <a:p>
                      <a:pPr indent="0" lvl="0" marL="0" rtl="0" algn="l">
                        <a:spcBef>
                          <a:spcPts val="0"/>
                        </a:spcBef>
                        <a:spcAft>
                          <a:spcPts val="0"/>
                        </a:spcAft>
                        <a:buNone/>
                      </a:pPr>
                      <a:r>
                        <a:t/>
                      </a:r>
                      <a:endParaRPr/>
                    </a:p>
                  </a:txBody>
                  <a:tcPr marT="91425" marB="91425" marR="91425" marL="91425">
                    <a:lnL cap="flat" cmpd="sng" w="28575">
                      <a:solidFill>
                        <a:schemeClr val="dk2"/>
                      </a:solidFill>
                      <a:prstDash val="solid"/>
                      <a:round/>
                      <a:headEnd len="sm" w="sm" type="none"/>
                      <a:tailEnd len="sm" w="sm" type="none"/>
                    </a:lnL>
                    <a:lnR cap="flat" cmpd="sng" w="28575">
                      <a:solidFill>
                        <a:schemeClr val="dk2"/>
                      </a:solidFill>
                      <a:prstDash val="solid"/>
                      <a:round/>
                      <a:headEnd len="sm" w="sm" type="none"/>
                      <a:tailEnd len="sm" w="sm" type="none"/>
                    </a:lnR>
                    <a:lnT cap="flat" cmpd="sng" w="28575">
                      <a:solidFill>
                        <a:schemeClr val="dk2"/>
                      </a:solidFill>
                      <a:prstDash val="solid"/>
                      <a:round/>
                      <a:headEnd len="sm" w="sm" type="none"/>
                      <a:tailEnd len="sm" w="sm" type="none"/>
                    </a:lnT>
                    <a:lnB cap="flat" cmpd="sng" w="28575">
                      <a:solidFill>
                        <a:schemeClr val="dk2"/>
                      </a:solidFill>
                      <a:prstDash val="solid"/>
                      <a:round/>
                      <a:headEnd len="sm" w="sm" type="none"/>
                      <a:tailEnd len="sm" w="sm" type="none"/>
                    </a:lnB>
                  </a:tcPr>
                </a:tc>
              </a:tr>
            </a:tbl>
          </a:graphicData>
        </a:graphic>
      </p:graphicFrame>
      <p:graphicFrame>
        <p:nvGraphicFramePr>
          <p:cNvPr id="281" name="Google Shape;281;p29"/>
          <p:cNvGraphicFramePr/>
          <p:nvPr/>
        </p:nvGraphicFramePr>
        <p:xfrm>
          <a:off x="5254175" y="303700"/>
          <a:ext cx="3000000" cy="3000000"/>
        </p:xfrm>
        <a:graphic>
          <a:graphicData uri="http://schemas.openxmlformats.org/drawingml/2006/table">
            <a:tbl>
              <a:tblPr>
                <a:noFill/>
                <a:tableStyleId>{1854F9D3-55A7-42A3-81B5-2CE03ECBDFAA}</a:tableStyleId>
              </a:tblPr>
              <a:tblGrid>
                <a:gridCol w="3388800"/>
              </a:tblGrid>
              <a:tr h="3971375">
                <a:tc>
                  <a:txBody>
                    <a:bodyPr/>
                    <a:lstStyle/>
                    <a:p>
                      <a:pPr indent="0" lvl="0" marL="0" rtl="0" algn="just">
                        <a:spcBef>
                          <a:spcPts val="0"/>
                        </a:spcBef>
                        <a:spcAft>
                          <a:spcPts val="0"/>
                        </a:spcAft>
                        <a:buNone/>
                      </a:pPr>
                      <a:r>
                        <a:rPr lang="en" sz="1150">
                          <a:solidFill>
                            <a:schemeClr val="lt1"/>
                          </a:solidFill>
                        </a:rPr>
                        <a:t>Berdasarkan hasil pada tabel dapat dilihat bahwa nama produk yang memiliki penurunan kuantitas penjualan pada kategori Others, yaitu:</a:t>
                      </a:r>
                      <a:endParaRPr sz="1150">
                        <a:solidFill>
                          <a:schemeClr val="lt1"/>
                        </a:solidFill>
                      </a:endParaRPr>
                    </a:p>
                    <a:p>
                      <a:pPr indent="0" lvl="0" marL="0" rtl="0" algn="just">
                        <a:spcBef>
                          <a:spcPts val="0"/>
                        </a:spcBef>
                        <a:spcAft>
                          <a:spcPts val="0"/>
                        </a:spcAft>
                        <a:buNone/>
                      </a:pPr>
                      <a:r>
                        <a:t/>
                      </a:r>
                      <a:endParaRPr sz="1150">
                        <a:solidFill>
                          <a:schemeClr val="lt1"/>
                        </a:solidFill>
                      </a:endParaRPr>
                    </a:p>
                    <a:p>
                      <a:pPr indent="-301625" lvl="0" marL="457200" rtl="0" algn="just">
                        <a:spcBef>
                          <a:spcPts val="0"/>
                        </a:spcBef>
                        <a:spcAft>
                          <a:spcPts val="0"/>
                        </a:spcAft>
                        <a:buClr>
                          <a:schemeClr val="lt1"/>
                        </a:buClr>
                        <a:buSzPts val="1150"/>
                        <a:buAutoNum type="arabicPeriod"/>
                      </a:pPr>
                      <a:r>
                        <a:rPr lang="en" sz="1150">
                          <a:solidFill>
                            <a:schemeClr val="lt1"/>
                          </a:solidFill>
                        </a:rPr>
                        <a:t>RB_Dettol Germ Bursting Kit-bf</a:t>
                      </a:r>
                      <a:endParaRPr sz="1150">
                        <a:solidFill>
                          <a:schemeClr val="lt1"/>
                        </a:solidFill>
                      </a:endParaRPr>
                    </a:p>
                    <a:p>
                      <a:pPr indent="-301625" lvl="0" marL="457200" rtl="0" algn="just">
                        <a:spcBef>
                          <a:spcPts val="0"/>
                        </a:spcBef>
                        <a:spcAft>
                          <a:spcPts val="0"/>
                        </a:spcAft>
                        <a:buClr>
                          <a:schemeClr val="lt1"/>
                        </a:buClr>
                        <a:buSzPts val="1150"/>
                        <a:buAutoNum type="arabicPeriod"/>
                      </a:pPr>
                      <a:r>
                        <a:rPr lang="en" sz="1150">
                          <a:solidFill>
                            <a:schemeClr val="lt1"/>
                          </a:solidFill>
                        </a:rPr>
                        <a:t>Telemall_MM-DR-HB-L</a:t>
                      </a:r>
                      <a:endParaRPr sz="1150">
                        <a:solidFill>
                          <a:schemeClr val="lt1"/>
                        </a:solidFill>
                      </a:endParaRPr>
                    </a:p>
                    <a:p>
                      <a:pPr indent="-301625" lvl="0" marL="457200" rtl="0" algn="just">
                        <a:spcBef>
                          <a:spcPts val="0"/>
                        </a:spcBef>
                        <a:spcAft>
                          <a:spcPts val="0"/>
                        </a:spcAft>
                        <a:buClr>
                          <a:schemeClr val="lt1"/>
                        </a:buClr>
                        <a:buSzPts val="1150"/>
                        <a:buAutoNum type="arabicPeriod"/>
                      </a:pPr>
                      <a:r>
                        <a:rPr lang="en" sz="1150">
                          <a:solidFill>
                            <a:schemeClr val="lt1"/>
                          </a:solidFill>
                        </a:rPr>
                        <a:t>Kansai_NeverWet</a:t>
                      </a:r>
                      <a:endParaRPr sz="1150">
                        <a:solidFill>
                          <a:schemeClr val="lt1"/>
                        </a:solidFill>
                      </a:endParaRPr>
                    </a:p>
                    <a:p>
                      <a:pPr indent="-301625" lvl="0" marL="457200" rtl="0" algn="just">
                        <a:spcBef>
                          <a:spcPts val="0"/>
                        </a:spcBef>
                        <a:spcAft>
                          <a:spcPts val="0"/>
                        </a:spcAft>
                        <a:buClr>
                          <a:schemeClr val="lt1"/>
                        </a:buClr>
                        <a:buSzPts val="1150"/>
                        <a:buAutoNum type="arabicPeriod"/>
                      </a:pPr>
                      <a:r>
                        <a:rPr lang="en" sz="1150">
                          <a:solidFill>
                            <a:schemeClr val="lt1"/>
                          </a:solidFill>
                        </a:rPr>
                        <a:t>emart_00-1</a:t>
                      </a:r>
                      <a:endParaRPr sz="1150">
                        <a:solidFill>
                          <a:schemeClr val="lt1"/>
                        </a:solidFill>
                      </a:endParaRPr>
                    </a:p>
                    <a:p>
                      <a:pPr indent="-301625" lvl="0" marL="457200" rtl="0" algn="just">
                        <a:spcBef>
                          <a:spcPts val="0"/>
                        </a:spcBef>
                        <a:spcAft>
                          <a:spcPts val="0"/>
                        </a:spcAft>
                        <a:buClr>
                          <a:schemeClr val="lt1"/>
                        </a:buClr>
                        <a:buSzPts val="1150"/>
                        <a:buAutoNum type="arabicPeriod"/>
                      </a:pPr>
                      <a:r>
                        <a:rPr lang="en" sz="1150">
                          <a:solidFill>
                            <a:schemeClr val="lt1"/>
                          </a:solidFill>
                        </a:rPr>
                        <a:t>MEGUIAR_G12711</a:t>
                      </a:r>
                      <a:endParaRPr sz="1150">
                        <a:solidFill>
                          <a:schemeClr val="lt1"/>
                        </a:solidFill>
                      </a:endParaRPr>
                    </a:p>
                    <a:p>
                      <a:pPr indent="-301625" lvl="0" marL="457200" rtl="0" algn="just">
                        <a:spcBef>
                          <a:spcPts val="0"/>
                        </a:spcBef>
                        <a:spcAft>
                          <a:spcPts val="0"/>
                        </a:spcAft>
                        <a:buClr>
                          <a:schemeClr val="lt1"/>
                        </a:buClr>
                        <a:buSzPts val="1150"/>
                        <a:buAutoNum type="arabicPeriod"/>
                      </a:pPr>
                      <a:r>
                        <a:rPr lang="en" sz="1150">
                          <a:solidFill>
                            <a:schemeClr val="lt1"/>
                          </a:solidFill>
                        </a:rPr>
                        <a:t>Tmall_MM-DR-PAD</a:t>
                      </a:r>
                      <a:endParaRPr sz="1150">
                        <a:solidFill>
                          <a:schemeClr val="lt1"/>
                        </a:solidFill>
                      </a:endParaRPr>
                    </a:p>
                    <a:p>
                      <a:pPr indent="-301625" lvl="0" marL="457200" rtl="0" algn="just">
                        <a:spcBef>
                          <a:spcPts val="0"/>
                        </a:spcBef>
                        <a:spcAft>
                          <a:spcPts val="0"/>
                        </a:spcAft>
                        <a:buClr>
                          <a:schemeClr val="lt1"/>
                        </a:buClr>
                        <a:buSzPts val="1150"/>
                        <a:buAutoNum type="arabicPeriod"/>
                      </a:pPr>
                      <a:r>
                        <a:rPr lang="en" sz="1150">
                          <a:solidFill>
                            <a:schemeClr val="lt1"/>
                          </a:solidFill>
                        </a:rPr>
                        <a:t>Aladdin_bike_cover</a:t>
                      </a:r>
                      <a:endParaRPr sz="1150">
                        <a:solidFill>
                          <a:schemeClr val="lt1"/>
                        </a:solidFill>
                      </a:endParaRPr>
                    </a:p>
                    <a:p>
                      <a:pPr indent="-301625" lvl="0" marL="457200" rtl="0" algn="l">
                        <a:spcBef>
                          <a:spcPts val="0"/>
                        </a:spcBef>
                        <a:spcAft>
                          <a:spcPts val="0"/>
                        </a:spcAft>
                        <a:buClr>
                          <a:schemeClr val="lt1"/>
                        </a:buClr>
                        <a:buSzPts val="1150"/>
                        <a:buAutoNum type="arabicPeriod"/>
                      </a:pPr>
                      <a:r>
                        <a:rPr lang="en" sz="1150">
                          <a:solidFill>
                            <a:schemeClr val="lt1"/>
                          </a:solidFill>
                        </a:rPr>
                        <a:t>aw_Ultra Shine Wash &amp; Wax-64oz./1893ml</a:t>
                      </a:r>
                      <a:endParaRPr sz="1150">
                        <a:solidFill>
                          <a:schemeClr val="lt1"/>
                        </a:solidFill>
                      </a:endParaRPr>
                    </a:p>
                    <a:p>
                      <a:pPr indent="-301625" lvl="0" marL="457200" rtl="0" algn="l">
                        <a:spcBef>
                          <a:spcPts val="0"/>
                        </a:spcBef>
                        <a:spcAft>
                          <a:spcPts val="0"/>
                        </a:spcAft>
                        <a:buClr>
                          <a:schemeClr val="lt1"/>
                        </a:buClr>
                        <a:buSzPts val="1150"/>
                        <a:buAutoNum type="arabicPeriod"/>
                      </a:pPr>
                      <a:r>
                        <a:rPr lang="en" sz="1150">
                          <a:solidFill>
                            <a:schemeClr val="lt1"/>
                          </a:solidFill>
                        </a:rPr>
                        <a:t>Entertainer Asia_Vouch 365-2017 Mobile App Lahore</a:t>
                      </a:r>
                      <a:endParaRPr sz="1150">
                        <a:solidFill>
                          <a:schemeClr val="lt1"/>
                        </a:solidFill>
                      </a:endParaRPr>
                    </a:p>
                    <a:p>
                      <a:pPr indent="0" lvl="0" marL="457200" rtl="0" algn="l">
                        <a:spcBef>
                          <a:spcPts val="0"/>
                        </a:spcBef>
                        <a:spcAft>
                          <a:spcPts val="0"/>
                        </a:spcAft>
                        <a:buNone/>
                      </a:pPr>
                      <a:r>
                        <a:t/>
                      </a:r>
                      <a:endParaRPr sz="1150">
                        <a:solidFill>
                          <a:schemeClr val="lt1"/>
                        </a:solidFill>
                      </a:endParaRPr>
                    </a:p>
                    <a:p>
                      <a:pPr indent="0" lvl="0" marL="0" rtl="0" algn="just">
                        <a:spcBef>
                          <a:spcPts val="0"/>
                        </a:spcBef>
                        <a:spcAft>
                          <a:spcPts val="0"/>
                        </a:spcAft>
                        <a:buNone/>
                      </a:pPr>
                      <a:r>
                        <a:rPr lang="en" sz="1150">
                          <a:solidFill>
                            <a:schemeClr val="lt1"/>
                          </a:solidFill>
                        </a:rPr>
                        <a:t>Produk </a:t>
                      </a:r>
                      <a:r>
                        <a:rPr b="1" lang="en" sz="1150">
                          <a:solidFill>
                            <a:schemeClr val="lt1"/>
                          </a:solidFill>
                        </a:rPr>
                        <a:t>RB_Dettol Germ Bursting Kit-bf</a:t>
                      </a:r>
                      <a:r>
                        <a:rPr lang="en" sz="1150">
                          <a:solidFill>
                            <a:schemeClr val="lt1"/>
                          </a:solidFill>
                        </a:rPr>
                        <a:t> memiliki selisih kuantitas penjualan yang paling besar, yaitu menurun sebanyak 155 unit dibandingkan dengan kuantitas penjualan pada tahun 2021.</a:t>
                      </a:r>
                      <a:endParaRPr sz="1150">
                        <a:solidFill>
                          <a:schemeClr val="lt1"/>
                        </a:solidFill>
                      </a:endParaRPr>
                    </a:p>
                    <a:p>
                      <a:pPr indent="0" lvl="0" marL="914400" rtl="0" algn="ctr">
                        <a:spcBef>
                          <a:spcPts val="0"/>
                        </a:spcBef>
                        <a:spcAft>
                          <a:spcPts val="0"/>
                        </a:spcAft>
                        <a:buNone/>
                      </a:pPr>
                      <a:r>
                        <a:t/>
                      </a:r>
                      <a:endParaRPr sz="1300">
                        <a:solidFill>
                          <a:schemeClr val="lt1"/>
                        </a:solidFill>
                      </a:endParaRPr>
                    </a:p>
                  </a:txBody>
                  <a:tcPr marT="91425" marB="91425" marR="91425" marL="91425" anchor="ctr">
                    <a:lnL cap="flat" cmpd="sng" w="28575">
                      <a:solidFill>
                        <a:schemeClr val="dk2">
                          <a:alpha val="0"/>
                        </a:schemeClr>
                      </a:solidFill>
                      <a:prstDash val="solid"/>
                      <a:round/>
                      <a:headEnd len="sm" w="sm" type="none"/>
                      <a:tailEnd len="sm" w="sm" type="none"/>
                    </a:lnL>
                    <a:lnR cap="flat" cmpd="sng" w="28575">
                      <a:solidFill>
                        <a:schemeClr val="dk2">
                          <a:alpha val="0"/>
                        </a:schemeClr>
                      </a:solidFill>
                      <a:prstDash val="solid"/>
                      <a:round/>
                      <a:headEnd len="sm" w="sm" type="none"/>
                      <a:tailEnd len="sm" w="sm" type="none"/>
                    </a:lnR>
                    <a:lnT cap="flat" cmpd="sng" w="28575">
                      <a:solidFill>
                        <a:schemeClr val="dk2">
                          <a:alpha val="0"/>
                        </a:schemeClr>
                      </a:solidFill>
                      <a:prstDash val="solid"/>
                      <a:round/>
                      <a:headEnd len="sm" w="sm" type="none"/>
                      <a:tailEnd len="sm" w="sm" type="none"/>
                    </a:lnT>
                    <a:lnB cap="flat" cmpd="sng" w="28575">
                      <a:solidFill>
                        <a:schemeClr val="dk2">
                          <a:alpha val="0"/>
                        </a:schemeClr>
                      </a:solidFill>
                      <a:prstDash val="solid"/>
                      <a:round/>
                      <a:headEnd len="sm" w="sm" type="none"/>
                      <a:tailEnd len="sm" w="sm" type="none"/>
                    </a:lnB>
                  </a:tcPr>
                </a:tc>
              </a:tr>
            </a:tbl>
          </a:graphicData>
        </a:graphic>
      </p:graphicFrame>
      <p:pic>
        <p:nvPicPr>
          <p:cNvPr id="282" name="Google Shape;282;p29"/>
          <p:cNvPicPr preferRelativeResize="0"/>
          <p:nvPr/>
        </p:nvPicPr>
        <p:blipFill>
          <a:blip r:embed="rId3">
            <a:alphaModFix/>
          </a:blip>
          <a:stretch>
            <a:fillRect/>
          </a:stretch>
        </p:blipFill>
        <p:spPr>
          <a:xfrm>
            <a:off x="670437" y="443750"/>
            <a:ext cx="4015326" cy="2590400"/>
          </a:xfrm>
          <a:prstGeom prst="rect">
            <a:avLst/>
          </a:prstGeom>
          <a:noFill/>
          <a:ln>
            <a:noFill/>
          </a:ln>
        </p:spPr>
      </p:pic>
      <p:pic>
        <p:nvPicPr>
          <p:cNvPr id="283" name="Google Shape;283;p29"/>
          <p:cNvPicPr preferRelativeResize="0"/>
          <p:nvPr/>
        </p:nvPicPr>
        <p:blipFill>
          <a:blip r:embed="rId4">
            <a:alphaModFix/>
          </a:blip>
          <a:stretch>
            <a:fillRect/>
          </a:stretch>
        </p:blipFill>
        <p:spPr>
          <a:xfrm>
            <a:off x="670425" y="3034150"/>
            <a:ext cx="4015351" cy="1043655"/>
          </a:xfrm>
          <a:prstGeom prst="rect">
            <a:avLst/>
          </a:prstGeom>
          <a:noFill/>
          <a:ln>
            <a:noFill/>
          </a:ln>
        </p:spPr>
      </p:pic>
      <p:graphicFrame>
        <p:nvGraphicFramePr>
          <p:cNvPr id="284" name="Google Shape;284;p29"/>
          <p:cNvGraphicFramePr/>
          <p:nvPr/>
        </p:nvGraphicFramePr>
        <p:xfrm>
          <a:off x="5186875" y="303700"/>
          <a:ext cx="3000000" cy="3000000"/>
        </p:xfrm>
        <a:graphic>
          <a:graphicData uri="http://schemas.openxmlformats.org/drawingml/2006/table">
            <a:tbl>
              <a:tblPr>
                <a:noFill/>
                <a:tableStyleId>{1854F9D3-55A7-42A3-81B5-2CE03ECBDFAA}</a:tableStyleId>
              </a:tblPr>
              <a:tblGrid>
                <a:gridCol w="3523400"/>
              </a:tblGrid>
              <a:tr h="3971375">
                <a:tc>
                  <a:txBody>
                    <a:bodyPr/>
                    <a:lstStyle/>
                    <a:p>
                      <a:pPr indent="0" lvl="0" marL="0" rtl="0" algn="l">
                        <a:spcBef>
                          <a:spcPts val="0"/>
                        </a:spcBef>
                        <a:spcAft>
                          <a:spcPts val="0"/>
                        </a:spcAft>
                        <a:buNone/>
                      </a:pPr>
                      <a:r>
                        <a:rPr lang="en"/>
                        <a:t>k</a:t>
                      </a:r>
                      <a:endParaRPr/>
                    </a:p>
                  </a:txBody>
                  <a:tcPr marT="91425" marB="91425" marR="91425" marL="91425">
                    <a:lnL cap="flat" cmpd="sng" w="28575">
                      <a:solidFill>
                        <a:schemeClr val="dk2"/>
                      </a:solidFill>
                      <a:prstDash val="solid"/>
                      <a:round/>
                      <a:headEnd len="sm" w="sm" type="none"/>
                      <a:tailEnd len="sm" w="sm" type="none"/>
                    </a:lnL>
                    <a:lnR cap="flat" cmpd="sng" w="28575">
                      <a:solidFill>
                        <a:schemeClr val="dk2"/>
                      </a:solidFill>
                      <a:prstDash val="solid"/>
                      <a:round/>
                      <a:headEnd len="sm" w="sm" type="none"/>
                      <a:tailEnd len="sm" w="sm" type="none"/>
                    </a:lnR>
                    <a:lnT cap="flat" cmpd="sng" w="28575">
                      <a:solidFill>
                        <a:schemeClr val="dk2"/>
                      </a:solidFill>
                      <a:prstDash val="solid"/>
                      <a:round/>
                      <a:headEnd len="sm" w="sm" type="none"/>
                      <a:tailEnd len="sm" w="sm" type="none"/>
                    </a:lnT>
                    <a:lnB cap="flat" cmpd="sng" w="28575">
                      <a:solidFill>
                        <a:schemeClr val="dk2"/>
                      </a:solidFill>
                      <a:prstDash val="solid"/>
                      <a:round/>
                      <a:headEnd len="sm" w="sm" type="none"/>
                      <a:tailEnd len="sm" w="sm" type="none"/>
                    </a:lnB>
                  </a:tcPr>
                </a:tc>
              </a:tr>
            </a:tbl>
          </a:graphicData>
        </a:graphic>
      </p:graphicFrame>
      <p:sp>
        <p:nvSpPr>
          <p:cNvPr id="285" name="Google Shape;285;p29"/>
          <p:cNvSpPr/>
          <p:nvPr/>
        </p:nvSpPr>
        <p:spPr>
          <a:xfrm>
            <a:off x="681600" y="800775"/>
            <a:ext cx="3993000" cy="15531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30"/>
          <p:cNvSpPr txBox="1"/>
          <p:nvPr>
            <p:ph idx="1" type="body"/>
          </p:nvPr>
        </p:nvSpPr>
        <p:spPr>
          <a:xfrm>
            <a:off x="1297500" y="1020250"/>
            <a:ext cx="7038900" cy="35115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b="1" lang="en">
                <a:solidFill>
                  <a:schemeClr val="lt2"/>
                </a:solidFill>
                <a:latin typeface="Montserrat"/>
                <a:ea typeface="Montserrat"/>
                <a:cs typeface="Montserrat"/>
                <a:sym typeface="Montserrat"/>
              </a:rPr>
              <a:t>Dear Data Analyst,</a:t>
            </a:r>
            <a:endParaRPr b="1">
              <a:solidFill>
                <a:schemeClr val="lt2"/>
              </a:solidFill>
              <a:latin typeface="Montserrat"/>
              <a:ea typeface="Montserrat"/>
              <a:cs typeface="Montserrat"/>
              <a:sym typeface="Montserrat"/>
            </a:endParaRPr>
          </a:p>
          <a:p>
            <a:pPr indent="0" lvl="0" marL="0" rtl="0" algn="just">
              <a:spcBef>
                <a:spcPts val="1200"/>
              </a:spcBef>
              <a:spcAft>
                <a:spcPts val="0"/>
              </a:spcAft>
              <a:buNone/>
            </a:pPr>
            <a:r>
              <a:rPr b="1" lang="en">
                <a:solidFill>
                  <a:schemeClr val="lt2"/>
                </a:solidFill>
                <a:latin typeface="Montserrat"/>
                <a:ea typeface="Montserrat"/>
                <a:cs typeface="Montserrat"/>
                <a:sym typeface="Montserrat"/>
              </a:rPr>
              <a:t>Terkait ulang tahun perusahaan pada 2 bulan mendatang, Tim Digital Marketing akan memberikan informasi promo bagi pelanggan pada akhir bulan ini. Kriteria pelanggan yang akan kami butuhkan adalah mereka yang sudah melakukan check-out namun belum melakukan pembayaran (is_gross = 1) selama tahun 2022. Data yang kami butuhkan adalah ID Customer dan Registered Date.</a:t>
            </a:r>
            <a:endParaRPr b="1">
              <a:solidFill>
                <a:schemeClr val="lt2"/>
              </a:solidFill>
              <a:latin typeface="Montserrat"/>
              <a:ea typeface="Montserrat"/>
              <a:cs typeface="Montserrat"/>
              <a:sym typeface="Montserrat"/>
            </a:endParaRPr>
          </a:p>
          <a:p>
            <a:pPr indent="0" lvl="0" marL="0" rtl="0" algn="just">
              <a:spcBef>
                <a:spcPts val="1200"/>
              </a:spcBef>
              <a:spcAft>
                <a:spcPts val="0"/>
              </a:spcAft>
              <a:buNone/>
            </a:pPr>
            <a:r>
              <a:rPr b="1" lang="en">
                <a:solidFill>
                  <a:schemeClr val="lt2"/>
                </a:solidFill>
                <a:latin typeface="Montserrat"/>
                <a:ea typeface="Montserrat"/>
                <a:cs typeface="Montserrat"/>
                <a:sym typeface="Montserrat"/>
              </a:rPr>
              <a:t>Mohon bantuan, untuk mengirimkan data tersebut sebelum akhir bulan ini ke Tim Digital Marketing. Atas bantuan yang diberikan, kami mengucapkan terima kasih.</a:t>
            </a:r>
            <a:endParaRPr b="1">
              <a:solidFill>
                <a:schemeClr val="lt2"/>
              </a:solidFill>
              <a:latin typeface="Montserrat"/>
              <a:ea typeface="Montserrat"/>
              <a:cs typeface="Montserrat"/>
              <a:sym typeface="Montserrat"/>
            </a:endParaRPr>
          </a:p>
          <a:p>
            <a:pPr indent="0" lvl="0" marL="0" rtl="0" algn="just">
              <a:spcBef>
                <a:spcPts val="1200"/>
              </a:spcBef>
              <a:spcAft>
                <a:spcPts val="0"/>
              </a:spcAft>
              <a:buNone/>
            </a:pPr>
            <a:r>
              <a:rPr b="1" lang="en">
                <a:solidFill>
                  <a:schemeClr val="lt2"/>
                </a:solidFill>
                <a:latin typeface="Montserrat"/>
                <a:ea typeface="Montserrat"/>
                <a:cs typeface="Montserrat"/>
                <a:sym typeface="Montserrat"/>
              </a:rPr>
              <a:t>Regards</a:t>
            </a:r>
            <a:endParaRPr b="1">
              <a:solidFill>
                <a:schemeClr val="lt2"/>
              </a:solidFill>
              <a:latin typeface="Montserrat"/>
              <a:ea typeface="Montserrat"/>
              <a:cs typeface="Montserrat"/>
              <a:sym typeface="Montserrat"/>
            </a:endParaRPr>
          </a:p>
          <a:p>
            <a:pPr indent="0" lvl="0" marL="0" rtl="0" algn="just">
              <a:spcBef>
                <a:spcPts val="1200"/>
              </a:spcBef>
              <a:spcAft>
                <a:spcPts val="1200"/>
              </a:spcAft>
              <a:buNone/>
            </a:pPr>
            <a:r>
              <a:rPr b="1" lang="en">
                <a:solidFill>
                  <a:schemeClr val="lt2"/>
                </a:solidFill>
                <a:latin typeface="Montserrat"/>
                <a:ea typeface="Montserrat"/>
                <a:cs typeface="Montserrat"/>
                <a:sym typeface="Montserrat"/>
              </a:rPr>
              <a:t>Tim Digital Marketing</a:t>
            </a:r>
            <a:endParaRPr b="1">
              <a:solidFill>
                <a:schemeClr val="lt2"/>
              </a:solidFill>
              <a:latin typeface="Montserrat"/>
              <a:ea typeface="Montserrat"/>
              <a:cs typeface="Montserrat"/>
              <a:sym typeface="Montserrat"/>
            </a:endParaRPr>
          </a:p>
        </p:txBody>
      </p:sp>
      <p:sp>
        <p:nvSpPr>
          <p:cNvPr id="291" name="Google Shape;291;p30"/>
          <p:cNvSpPr txBox="1"/>
          <p:nvPr>
            <p:ph type="title"/>
          </p:nvPr>
        </p:nvSpPr>
        <p:spPr>
          <a:xfrm>
            <a:off x="1297500" y="393750"/>
            <a:ext cx="7038900" cy="573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rgbClr val="A4C2F4"/>
                </a:solidFill>
              </a:rPr>
              <a:t>PROBLEM - 3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31"/>
          <p:cNvSpPr/>
          <p:nvPr/>
        </p:nvSpPr>
        <p:spPr>
          <a:xfrm>
            <a:off x="785275" y="4396325"/>
            <a:ext cx="3609000" cy="370500"/>
          </a:xfrm>
          <a:prstGeom prst="roundRect">
            <a:avLst>
              <a:gd fmla="val 16667" name="adj"/>
            </a:avLst>
          </a:prstGeom>
          <a:solidFill>
            <a:srgbClr val="1C458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97" name="Google Shape;297;p31"/>
          <p:cNvSpPr txBox="1"/>
          <p:nvPr>
            <p:ph idx="1" type="body"/>
          </p:nvPr>
        </p:nvSpPr>
        <p:spPr>
          <a:xfrm>
            <a:off x="895375" y="4396325"/>
            <a:ext cx="3388800" cy="370500"/>
          </a:xfrm>
          <a:prstGeom prst="rect">
            <a:avLst/>
          </a:prstGeom>
          <a:ln>
            <a:noFill/>
          </a:ln>
        </p:spPr>
        <p:txBody>
          <a:bodyPr anchorCtr="0" anchor="ctr" bIns="91425" lIns="91425" spcFirstLastPara="1" rIns="91425" wrap="square" tIns="91425">
            <a:normAutofit fontScale="92500" lnSpcReduction="20000"/>
          </a:bodyPr>
          <a:lstStyle/>
          <a:p>
            <a:pPr indent="0" lvl="0" marL="0" rtl="0" algn="l">
              <a:spcBef>
                <a:spcPts val="0"/>
              </a:spcBef>
              <a:spcAft>
                <a:spcPts val="0"/>
              </a:spcAft>
              <a:buNone/>
            </a:pPr>
            <a:r>
              <a:rPr b="1" lang="en" sz="1500">
                <a:solidFill>
                  <a:srgbClr val="B6D7A8"/>
                </a:solidFill>
                <a:latin typeface="Montserrat"/>
                <a:ea typeface="Montserrat"/>
                <a:cs typeface="Montserrat"/>
                <a:sym typeface="Montserrat"/>
              </a:rPr>
              <a:t>ANALYSIS &amp; INSIGHT PROBLEM - 3</a:t>
            </a:r>
            <a:endParaRPr>
              <a:solidFill>
                <a:srgbClr val="B6D7A8"/>
              </a:solidFill>
            </a:endParaRPr>
          </a:p>
        </p:txBody>
      </p:sp>
      <p:pic>
        <p:nvPicPr>
          <p:cNvPr id="298" name="Google Shape;298;p31"/>
          <p:cNvPicPr preferRelativeResize="0"/>
          <p:nvPr/>
        </p:nvPicPr>
        <p:blipFill>
          <a:blip r:embed="rId3">
            <a:alphaModFix/>
          </a:blip>
          <a:stretch>
            <a:fillRect/>
          </a:stretch>
        </p:blipFill>
        <p:spPr>
          <a:xfrm>
            <a:off x="374525" y="368750"/>
            <a:ext cx="5107801" cy="1754275"/>
          </a:xfrm>
          <a:prstGeom prst="rect">
            <a:avLst/>
          </a:prstGeom>
          <a:noFill/>
          <a:ln>
            <a:noFill/>
          </a:ln>
        </p:spPr>
      </p:pic>
      <p:sp>
        <p:nvSpPr>
          <p:cNvPr id="299" name="Google Shape;299;p31"/>
          <p:cNvSpPr txBox="1"/>
          <p:nvPr/>
        </p:nvSpPr>
        <p:spPr>
          <a:xfrm>
            <a:off x="374525" y="2046825"/>
            <a:ext cx="5107800" cy="21483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1200"/>
              </a:spcBef>
              <a:spcAft>
                <a:spcPts val="1200"/>
              </a:spcAft>
              <a:buNone/>
            </a:pPr>
            <a:r>
              <a:rPr lang="en" sz="1300">
                <a:solidFill>
                  <a:schemeClr val="lt1"/>
                </a:solidFill>
                <a:latin typeface="Lato"/>
                <a:ea typeface="Lato"/>
                <a:cs typeface="Lato"/>
                <a:sym typeface="Lato"/>
              </a:rPr>
              <a:t>Data pelanggan difilter berdasarkan kriteria: sudah check-out namun belum melakukan pembayaran (`is_gross = 1`), transaksi belum divalidasi (`is_valid = 0`), belum menjadi transaksi bersih (`is_net = 0`), dan terjadi pada tahun 2022. Hasil filter mencakup ID Customer dan Registered Date yang disimpan dalam DataFrame yang variabelnya bernama ‘customer_promo’, dan data duplikat dihapus untuk memastikan keunikan setiap pelanggan. </a:t>
            </a:r>
            <a:endParaRPr sz="1300">
              <a:solidFill>
                <a:schemeClr val="lt1"/>
              </a:solidFill>
              <a:latin typeface="Lato"/>
              <a:ea typeface="Lato"/>
              <a:cs typeface="Lato"/>
              <a:sym typeface="Lato"/>
            </a:endParaRPr>
          </a:p>
        </p:txBody>
      </p:sp>
      <p:sp>
        <p:nvSpPr>
          <p:cNvPr id="300" name="Google Shape;300;p31"/>
          <p:cNvSpPr/>
          <p:nvPr/>
        </p:nvSpPr>
        <p:spPr>
          <a:xfrm>
            <a:off x="7653875" y="4290475"/>
            <a:ext cx="952500" cy="561000"/>
          </a:xfrm>
          <a:prstGeom prst="striped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accent1"/>
                </a:solidFill>
                <a:latin typeface="Lato"/>
                <a:ea typeface="Lato"/>
                <a:cs typeface="Lato"/>
                <a:sym typeface="Lato"/>
              </a:rPr>
              <a:t>NEXT</a:t>
            </a:r>
            <a:endParaRPr b="1">
              <a:solidFill>
                <a:schemeClr val="accent1"/>
              </a:solidFill>
              <a:latin typeface="Lato"/>
              <a:ea typeface="Lato"/>
              <a:cs typeface="Lato"/>
              <a:sym typeface="Lato"/>
            </a:endParaRPr>
          </a:p>
        </p:txBody>
      </p:sp>
      <p:pic>
        <p:nvPicPr>
          <p:cNvPr id="301" name="Google Shape;301;p31"/>
          <p:cNvPicPr preferRelativeResize="0"/>
          <p:nvPr/>
        </p:nvPicPr>
        <p:blipFill>
          <a:blip r:embed="rId4">
            <a:alphaModFix/>
          </a:blip>
          <a:stretch>
            <a:fillRect/>
          </a:stretch>
        </p:blipFill>
        <p:spPr>
          <a:xfrm>
            <a:off x="5772000" y="292550"/>
            <a:ext cx="3055050" cy="383917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32"/>
          <p:cNvSpPr/>
          <p:nvPr/>
        </p:nvSpPr>
        <p:spPr>
          <a:xfrm>
            <a:off x="785275" y="4396325"/>
            <a:ext cx="3609000" cy="370500"/>
          </a:xfrm>
          <a:prstGeom prst="roundRect">
            <a:avLst>
              <a:gd fmla="val 16667" name="adj"/>
            </a:avLst>
          </a:prstGeom>
          <a:solidFill>
            <a:srgbClr val="1C458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07" name="Google Shape;307;p32"/>
          <p:cNvSpPr txBox="1"/>
          <p:nvPr>
            <p:ph idx="1" type="body"/>
          </p:nvPr>
        </p:nvSpPr>
        <p:spPr>
          <a:xfrm>
            <a:off x="895375" y="4396325"/>
            <a:ext cx="3388800" cy="370500"/>
          </a:xfrm>
          <a:prstGeom prst="rect">
            <a:avLst/>
          </a:prstGeom>
          <a:ln>
            <a:noFill/>
          </a:ln>
        </p:spPr>
        <p:txBody>
          <a:bodyPr anchorCtr="0" anchor="ctr" bIns="91425" lIns="91425" spcFirstLastPara="1" rIns="91425" wrap="square" tIns="91425">
            <a:normAutofit fontScale="92500" lnSpcReduction="20000"/>
          </a:bodyPr>
          <a:lstStyle/>
          <a:p>
            <a:pPr indent="0" lvl="0" marL="0" rtl="0" algn="l">
              <a:spcBef>
                <a:spcPts val="0"/>
              </a:spcBef>
              <a:spcAft>
                <a:spcPts val="0"/>
              </a:spcAft>
              <a:buNone/>
            </a:pPr>
            <a:r>
              <a:rPr b="1" lang="en" sz="1500">
                <a:solidFill>
                  <a:srgbClr val="B6D7A8"/>
                </a:solidFill>
                <a:latin typeface="Montserrat"/>
                <a:ea typeface="Montserrat"/>
                <a:cs typeface="Montserrat"/>
                <a:sym typeface="Montserrat"/>
              </a:rPr>
              <a:t>ANALYSIS &amp; INSIGHT PROBLEM - 3</a:t>
            </a:r>
            <a:endParaRPr>
              <a:solidFill>
                <a:srgbClr val="B6D7A8"/>
              </a:solidFill>
            </a:endParaRPr>
          </a:p>
        </p:txBody>
      </p:sp>
      <p:sp>
        <p:nvSpPr>
          <p:cNvPr id="308" name="Google Shape;308;p32"/>
          <p:cNvSpPr txBox="1"/>
          <p:nvPr/>
        </p:nvSpPr>
        <p:spPr>
          <a:xfrm>
            <a:off x="895375" y="1791675"/>
            <a:ext cx="5659800" cy="24303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1200"/>
              </a:spcBef>
              <a:spcAft>
                <a:spcPts val="0"/>
              </a:spcAft>
              <a:buNone/>
            </a:pPr>
            <a:r>
              <a:rPr lang="en">
                <a:solidFill>
                  <a:schemeClr val="lt1"/>
                </a:solidFill>
                <a:latin typeface="Lato"/>
                <a:ea typeface="Lato"/>
                <a:cs typeface="Lato"/>
                <a:sym typeface="Lato"/>
              </a:rPr>
              <a:t>Setelah melakukan filter data, dilanjutkan mengunduh DataFrame dari variabel </a:t>
            </a:r>
            <a:r>
              <a:rPr b="1" i="1" lang="en">
                <a:solidFill>
                  <a:schemeClr val="lt1"/>
                </a:solidFill>
                <a:latin typeface="Lato"/>
                <a:ea typeface="Lato"/>
                <a:cs typeface="Lato"/>
                <a:sym typeface="Lato"/>
              </a:rPr>
              <a:t>customer_promo</a:t>
            </a:r>
            <a:r>
              <a:rPr b="1" lang="en">
                <a:solidFill>
                  <a:schemeClr val="lt1"/>
                </a:solidFill>
                <a:latin typeface="Lato"/>
                <a:ea typeface="Lato"/>
                <a:cs typeface="Lato"/>
                <a:sym typeface="Lato"/>
              </a:rPr>
              <a:t> </a:t>
            </a:r>
            <a:r>
              <a:rPr lang="en">
                <a:solidFill>
                  <a:schemeClr val="lt1"/>
                </a:solidFill>
                <a:latin typeface="Lato"/>
                <a:ea typeface="Lato"/>
                <a:cs typeface="Lato"/>
                <a:sym typeface="Lato"/>
              </a:rPr>
              <a:t>sebagai file yang berekstensi</a:t>
            </a:r>
            <a:r>
              <a:rPr b="1" lang="en">
                <a:solidFill>
                  <a:schemeClr val="lt1"/>
                </a:solidFill>
                <a:latin typeface="Lato"/>
                <a:ea typeface="Lato"/>
                <a:cs typeface="Lato"/>
                <a:sym typeface="Lato"/>
              </a:rPr>
              <a:t> </a:t>
            </a:r>
            <a:r>
              <a:rPr lang="en">
                <a:solidFill>
                  <a:schemeClr val="lt1"/>
                </a:solidFill>
                <a:latin typeface="Lato"/>
                <a:ea typeface="Lato"/>
                <a:cs typeface="Lato"/>
                <a:sym typeface="Lato"/>
              </a:rPr>
              <a:t>.</a:t>
            </a:r>
            <a:r>
              <a:rPr b="1" lang="en">
                <a:solidFill>
                  <a:schemeClr val="lt1"/>
                </a:solidFill>
                <a:latin typeface="Lato"/>
                <a:ea typeface="Lato"/>
                <a:cs typeface="Lato"/>
                <a:sym typeface="Lato"/>
              </a:rPr>
              <a:t>csv</a:t>
            </a:r>
            <a:r>
              <a:rPr lang="en">
                <a:solidFill>
                  <a:schemeClr val="lt1"/>
                </a:solidFill>
                <a:latin typeface="Lato"/>
                <a:ea typeface="Lato"/>
                <a:cs typeface="Lato"/>
                <a:sym typeface="Lato"/>
              </a:rPr>
              <a:t>. Dengan mengimport modul ‘files’ yang disediakan oleh </a:t>
            </a:r>
            <a:r>
              <a:rPr b="1" i="1" lang="en">
                <a:solidFill>
                  <a:schemeClr val="lt1"/>
                </a:solidFill>
                <a:latin typeface="Lato"/>
                <a:ea typeface="Lato"/>
                <a:cs typeface="Lato"/>
                <a:sym typeface="Lato"/>
              </a:rPr>
              <a:t>Google Colab</a:t>
            </a:r>
            <a:r>
              <a:rPr i="1" lang="en">
                <a:solidFill>
                  <a:schemeClr val="lt1"/>
                </a:solidFill>
                <a:latin typeface="Lato"/>
                <a:ea typeface="Lato"/>
                <a:cs typeface="Lato"/>
                <a:sym typeface="Lato"/>
              </a:rPr>
              <a:t> </a:t>
            </a:r>
            <a:r>
              <a:rPr lang="en">
                <a:solidFill>
                  <a:schemeClr val="lt1"/>
                </a:solidFill>
                <a:latin typeface="Lato"/>
                <a:ea typeface="Lato"/>
                <a:cs typeface="Lato"/>
                <a:sym typeface="Lato"/>
              </a:rPr>
              <a:t>agar bisa megakses fungsi pengunduhan. </a:t>
            </a:r>
            <a:endParaRPr>
              <a:solidFill>
                <a:schemeClr val="lt1"/>
              </a:solidFill>
              <a:latin typeface="Lato"/>
              <a:ea typeface="Lato"/>
              <a:cs typeface="Lato"/>
              <a:sym typeface="Lato"/>
            </a:endParaRPr>
          </a:p>
          <a:p>
            <a:pPr indent="0" lvl="0" marL="0" rtl="0" algn="just">
              <a:lnSpc>
                <a:spcPct val="115000"/>
              </a:lnSpc>
              <a:spcBef>
                <a:spcPts val="1200"/>
              </a:spcBef>
              <a:spcAft>
                <a:spcPts val="1200"/>
              </a:spcAft>
              <a:buNone/>
            </a:pPr>
            <a:r>
              <a:rPr lang="en">
                <a:solidFill>
                  <a:schemeClr val="lt1"/>
                </a:solidFill>
                <a:latin typeface="Lato"/>
                <a:ea typeface="Lato"/>
                <a:cs typeface="Lato"/>
                <a:sym typeface="Lato"/>
              </a:rPr>
              <a:t>Hasil dari pengunduhan DataFrame </a:t>
            </a:r>
            <a:r>
              <a:rPr b="1" i="1" lang="en">
                <a:solidFill>
                  <a:schemeClr val="lt1"/>
                </a:solidFill>
                <a:latin typeface="Lato"/>
                <a:ea typeface="Lato"/>
                <a:cs typeface="Lato"/>
                <a:sym typeface="Lato"/>
              </a:rPr>
              <a:t>customer_promo</a:t>
            </a:r>
            <a:r>
              <a:rPr b="1" lang="en">
                <a:solidFill>
                  <a:schemeClr val="lt1"/>
                </a:solidFill>
                <a:latin typeface="Lato"/>
                <a:ea typeface="Lato"/>
                <a:cs typeface="Lato"/>
                <a:sym typeface="Lato"/>
              </a:rPr>
              <a:t> </a:t>
            </a:r>
            <a:r>
              <a:rPr lang="en">
                <a:solidFill>
                  <a:schemeClr val="lt1"/>
                </a:solidFill>
                <a:latin typeface="Lato"/>
                <a:ea typeface="Lato"/>
                <a:cs typeface="Lato"/>
                <a:sym typeface="Lato"/>
              </a:rPr>
              <a:t> ini diberi nama ‘audience_list.csv’. File berikut ini yang akan dikirimkan kepada Tim Marketing.</a:t>
            </a:r>
            <a:endParaRPr>
              <a:solidFill>
                <a:schemeClr val="lt1"/>
              </a:solidFill>
              <a:latin typeface="Lato"/>
              <a:ea typeface="Lato"/>
              <a:cs typeface="Lato"/>
              <a:sym typeface="Lato"/>
            </a:endParaRPr>
          </a:p>
        </p:txBody>
      </p:sp>
      <p:sp>
        <p:nvSpPr>
          <p:cNvPr id="309" name="Google Shape;309;p32"/>
          <p:cNvSpPr/>
          <p:nvPr/>
        </p:nvSpPr>
        <p:spPr>
          <a:xfrm>
            <a:off x="7653875" y="4290475"/>
            <a:ext cx="952500" cy="561000"/>
          </a:xfrm>
          <a:prstGeom prst="striped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accent1"/>
                </a:solidFill>
                <a:latin typeface="Lato"/>
                <a:ea typeface="Lato"/>
                <a:cs typeface="Lato"/>
                <a:sym typeface="Lato"/>
              </a:rPr>
              <a:t>NEXT</a:t>
            </a:r>
            <a:endParaRPr b="1">
              <a:solidFill>
                <a:schemeClr val="accent1"/>
              </a:solidFill>
              <a:latin typeface="Lato"/>
              <a:ea typeface="Lato"/>
              <a:cs typeface="Lato"/>
              <a:sym typeface="Lato"/>
            </a:endParaRPr>
          </a:p>
        </p:txBody>
      </p:sp>
      <p:pic>
        <p:nvPicPr>
          <p:cNvPr id="310" name="Google Shape;310;p32"/>
          <p:cNvPicPr preferRelativeResize="0"/>
          <p:nvPr/>
        </p:nvPicPr>
        <p:blipFill>
          <a:blip r:embed="rId3">
            <a:alphaModFix/>
          </a:blip>
          <a:stretch>
            <a:fillRect/>
          </a:stretch>
        </p:blipFill>
        <p:spPr>
          <a:xfrm>
            <a:off x="757763" y="436025"/>
            <a:ext cx="7628475" cy="1295950"/>
          </a:xfrm>
          <a:prstGeom prst="rect">
            <a:avLst/>
          </a:prstGeom>
          <a:noFill/>
          <a:ln>
            <a:noFill/>
          </a:ln>
        </p:spPr>
      </p:pic>
      <p:pic>
        <p:nvPicPr>
          <p:cNvPr id="311" name="Google Shape;311;p32"/>
          <p:cNvPicPr preferRelativeResize="0"/>
          <p:nvPr/>
        </p:nvPicPr>
        <p:blipFill>
          <a:blip r:embed="rId4">
            <a:alphaModFix/>
          </a:blip>
          <a:stretch>
            <a:fillRect/>
          </a:stretch>
        </p:blipFill>
        <p:spPr>
          <a:xfrm>
            <a:off x="6809325" y="1974963"/>
            <a:ext cx="1797050" cy="20725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33"/>
          <p:cNvSpPr/>
          <p:nvPr/>
        </p:nvSpPr>
        <p:spPr>
          <a:xfrm>
            <a:off x="785275" y="4396325"/>
            <a:ext cx="3609000" cy="370500"/>
          </a:xfrm>
          <a:prstGeom prst="roundRect">
            <a:avLst>
              <a:gd fmla="val 16667" name="adj"/>
            </a:avLst>
          </a:prstGeom>
          <a:solidFill>
            <a:srgbClr val="1C458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17" name="Google Shape;317;p33"/>
          <p:cNvSpPr txBox="1"/>
          <p:nvPr>
            <p:ph idx="1" type="body"/>
          </p:nvPr>
        </p:nvSpPr>
        <p:spPr>
          <a:xfrm>
            <a:off x="895375" y="4396325"/>
            <a:ext cx="3388800" cy="370500"/>
          </a:xfrm>
          <a:prstGeom prst="rect">
            <a:avLst/>
          </a:prstGeom>
          <a:ln>
            <a:noFill/>
          </a:ln>
        </p:spPr>
        <p:txBody>
          <a:bodyPr anchorCtr="0" anchor="ctr" bIns="91425" lIns="91425" spcFirstLastPara="1" rIns="91425" wrap="square" tIns="91425">
            <a:normAutofit fontScale="92500" lnSpcReduction="20000"/>
          </a:bodyPr>
          <a:lstStyle/>
          <a:p>
            <a:pPr indent="0" lvl="0" marL="0" rtl="0" algn="l">
              <a:spcBef>
                <a:spcPts val="0"/>
              </a:spcBef>
              <a:spcAft>
                <a:spcPts val="0"/>
              </a:spcAft>
              <a:buNone/>
            </a:pPr>
            <a:r>
              <a:rPr b="1" lang="en" sz="1500">
                <a:solidFill>
                  <a:srgbClr val="B6D7A8"/>
                </a:solidFill>
                <a:latin typeface="Montserrat"/>
                <a:ea typeface="Montserrat"/>
                <a:cs typeface="Montserrat"/>
                <a:sym typeface="Montserrat"/>
              </a:rPr>
              <a:t>ANALYSIS &amp; INSIGHT PROBLEM - 3</a:t>
            </a:r>
            <a:endParaRPr>
              <a:solidFill>
                <a:srgbClr val="B6D7A8"/>
              </a:solidFill>
            </a:endParaRPr>
          </a:p>
        </p:txBody>
      </p:sp>
      <p:sp>
        <p:nvSpPr>
          <p:cNvPr id="318" name="Google Shape;318;p33"/>
          <p:cNvSpPr txBox="1"/>
          <p:nvPr/>
        </p:nvSpPr>
        <p:spPr>
          <a:xfrm>
            <a:off x="3367950" y="3803100"/>
            <a:ext cx="24081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700" u="sng">
                <a:solidFill>
                  <a:schemeClr val="hlink"/>
                </a:solidFill>
                <a:hlinkClick r:id="rId3"/>
              </a:rPr>
              <a:t>Download Data</a:t>
            </a:r>
            <a:endParaRPr b="1" sz="1700" u="sng">
              <a:solidFill>
                <a:schemeClr val="lt1"/>
              </a:solidFill>
            </a:endParaRPr>
          </a:p>
        </p:txBody>
      </p:sp>
      <p:sp>
        <p:nvSpPr>
          <p:cNvPr id="319" name="Google Shape;319;p33"/>
          <p:cNvSpPr txBox="1"/>
          <p:nvPr/>
        </p:nvSpPr>
        <p:spPr>
          <a:xfrm>
            <a:off x="1195950" y="3199800"/>
            <a:ext cx="6752100" cy="60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500">
                <a:solidFill>
                  <a:schemeClr val="lt1"/>
                </a:solidFill>
              </a:rPr>
              <a:t>Berikut adalah data kriteria pelanggan yang sudah melakukan check out dan belum melakukan pembayaran pada tahun 2022.</a:t>
            </a:r>
            <a:endParaRPr sz="1500">
              <a:solidFill>
                <a:schemeClr val="lt1"/>
              </a:solidFill>
            </a:endParaRPr>
          </a:p>
        </p:txBody>
      </p:sp>
      <p:pic>
        <p:nvPicPr>
          <p:cNvPr id="320" name="Google Shape;320;p33"/>
          <p:cNvPicPr preferRelativeResize="0"/>
          <p:nvPr/>
        </p:nvPicPr>
        <p:blipFill>
          <a:blip r:embed="rId4">
            <a:alphaModFix/>
          </a:blip>
          <a:stretch>
            <a:fillRect/>
          </a:stretch>
        </p:blipFill>
        <p:spPr>
          <a:xfrm>
            <a:off x="523888" y="551681"/>
            <a:ext cx="8096225" cy="2545893"/>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34"/>
          <p:cNvSpPr txBox="1"/>
          <p:nvPr>
            <p:ph idx="1" type="body"/>
          </p:nvPr>
        </p:nvSpPr>
        <p:spPr>
          <a:xfrm>
            <a:off x="1297500" y="925050"/>
            <a:ext cx="7038900" cy="3426900"/>
          </a:xfrm>
          <a:prstGeom prst="rect">
            <a:avLst/>
          </a:prstGeom>
        </p:spPr>
        <p:txBody>
          <a:bodyPr anchorCtr="0" anchor="t" bIns="91425" lIns="91425" spcFirstLastPara="1" rIns="91425" wrap="square" tIns="91425">
            <a:noAutofit/>
          </a:bodyPr>
          <a:lstStyle/>
          <a:p>
            <a:pPr indent="0" lvl="0" marL="0" rtl="0" algn="just">
              <a:lnSpc>
                <a:spcPct val="105000"/>
              </a:lnSpc>
              <a:spcBef>
                <a:spcPts val="0"/>
              </a:spcBef>
              <a:spcAft>
                <a:spcPts val="0"/>
              </a:spcAft>
              <a:buSzPts val="935"/>
              <a:buNone/>
            </a:pPr>
            <a:r>
              <a:rPr b="1" lang="en" sz="1205">
                <a:solidFill>
                  <a:schemeClr val="lt2"/>
                </a:solidFill>
                <a:latin typeface="Montserrat"/>
                <a:ea typeface="Montserrat"/>
                <a:cs typeface="Montserrat"/>
                <a:sym typeface="Montserrat"/>
              </a:rPr>
              <a:t>Dear Data Analyst,</a:t>
            </a:r>
            <a:endParaRPr b="1" sz="1205">
              <a:solidFill>
                <a:schemeClr val="lt2"/>
              </a:solidFill>
              <a:latin typeface="Montserrat"/>
              <a:ea typeface="Montserrat"/>
              <a:cs typeface="Montserrat"/>
              <a:sym typeface="Montserrat"/>
            </a:endParaRPr>
          </a:p>
          <a:p>
            <a:pPr indent="0" lvl="0" marL="0" rtl="0" algn="just">
              <a:lnSpc>
                <a:spcPct val="105000"/>
              </a:lnSpc>
              <a:spcBef>
                <a:spcPts val="1200"/>
              </a:spcBef>
              <a:spcAft>
                <a:spcPts val="0"/>
              </a:spcAft>
              <a:buSzPts val="935"/>
              <a:buNone/>
            </a:pPr>
            <a:r>
              <a:rPr b="1" lang="en" sz="1205">
                <a:solidFill>
                  <a:schemeClr val="lt2"/>
                </a:solidFill>
                <a:latin typeface="Montserrat"/>
                <a:ea typeface="Montserrat"/>
                <a:cs typeface="Montserrat"/>
                <a:sym typeface="Montserrat"/>
              </a:rPr>
              <a:t>Pada bulan </a:t>
            </a:r>
            <a:r>
              <a:rPr b="1" lang="en" sz="1205">
                <a:solidFill>
                  <a:schemeClr val="lt2"/>
                </a:solidFill>
                <a:latin typeface="Montserrat"/>
                <a:ea typeface="Montserrat"/>
                <a:cs typeface="Montserrat"/>
                <a:sym typeface="Montserrat"/>
              </a:rPr>
              <a:t>Oktober</a:t>
            </a:r>
            <a:r>
              <a:rPr b="1" lang="en" sz="1205">
                <a:solidFill>
                  <a:schemeClr val="lt2"/>
                </a:solidFill>
                <a:latin typeface="Montserrat"/>
                <a:ea typeface="Montserrat"/>
                <a:cs typeface="Montserrat"/>
                <a:sym typeface="Montserrat"/>
              </a:rPr>
              <a:t> hingga Desember 2022, kami melakukan campaign setiap hari Sabtu dan Minggu. Kami hendak menilai, apakah campaign tersebut cukup berdampak pada kenaikan penjualan (before_discount). Mohon bantuan untuk menampilkan data:</a:t>
            </a:r>
            <a:endParaRPr b="1" sz="1205">
              <a:solidFill>
                <a:schemeClr val="lt2"/>
              </a:solidFill>
              <a:latin typeface="Montserrat"/>
              <a:ea typeface="Montserrat"/>
              <a:cs typeface="Montserrat"/>
              <a:sym typeface="Montserrat"/>
            </a:endParaRPr>
          </a:p>
          <a:p>
            <a:pPr indent="-190817" lvl="0" marL="342900" rtl="0" algn="just">
              <a:lnSpc>
                <a:spcPct val="105000"/>
              </a:lnSpc>
              <a:spcBef>
                <a:spcPts val="1200"/>
              </a:spcBef>
              <a:spcAft>
                <a:spcPts val="0"/>
              </a:spcAft>
              <a:buClr>
                <a:schemeClr val="lt2"/>
              </a:buClr>
              <a:buSzPts val="1205"/>
              <a:buFont typeface="Montserrat"/>
              <a:buAutoNum type="arabicPeriod"/>
            </a:pPr>
            <a:r>
              <a:rPr b="1" lang="en" sz="1205">
                <a:solidFill>
                  <a:schemeClr val="lt2"/>
                </a:solidFill>
                <a:latin typeface="Montserrat"/>
                <a:ea typeface="Montserrat"/>
                <a:cs typeface="Montserrat"/>
                <a:sym typeface="Montserrat"/>
              </a:rPr>
              <a:t>Rata-rata harian penjualan weekends (Sabtu dan Minggu) vs rata-rata harian penjualan weekdays (Senin-Jumat) per bulan tersebut. Apakah ada peningkatan penjualan pada masing-masing bulan tersebut.</a:t>
            </a:r>
            <a:endParaRPr b="1" sz="1205">
              <a:solidFill>
                <a:schemeClr val="lt2"/>
              </a:solidFill>
              <a:latin typeface="Montserrat"/>
              <a:ea typeface="Montserrat"/>
              <a:cs typeface="Montserrat"/>
              <a:sym typeface="Montserrat"/>
            </a:endParaRPr>
          </a:p>
          <a:p>
            <a:pPr indent="-190817" lvl="0" marL="342900" rtl="0" algn="just">
              <a:lnSpc>
                <a:spcPct val="105000"/>
              </a:lnSpc>
              <a:spcBef>
                <a:spcPts val="0"/>
              </a:spcBef>
              <a:spcAft>
                <a:spcPts val="0"/>
              </a:spcAft>
              <a:buClr>
                <a:schemeClr val="lt2"/>
              </a:buClr>
              <a:buSzPts val="1205"/>
              <a:buFont typeface="Montserrat"/>
              <a:buAutoNum type="arabicPeriod"/>
            </a:pPr>
            <a:r>
              <a:rPr b="1" lang="en" sz="1205">
                <a:solidFill>
                  <a:schemeClr val="lt2"/>
                </a:solidFill>
                <a:latin typeface="Montserrat"/>
                <a:ea typeface="Montserrat"/>
                <a:cs typeface="Montserrat"/>
                <a:sym typeface="Montserrat"/>
              </a:rPr>
              <a:t>Rata-rata harian penjualan weekends (Sabtu dan Minggu) vs rata-rata harian penjualan weekdays (Senin-Jumat) keseluruhan 3 bulan tersebut.</a:t>
            </a:r>
            <a:endParaRPr b="1" sz="1205">
              <a:solidFill>
                <a:schemeClr val="lt2"/>
              </a:solidFill>
              <a:latin typeface="Montserrat"/>
              <a:ea typeface="Montserrat"/>
              <a:cs typeface="Montserrat"/>
              <a:sym typeface="Montserrat"/>
            </a:endParaRPr>
          </a:p>
          <a:p>
            <a:pPr indent="0" lvl="0" marL="0" rtl="0" algn="just">
              <a:lnSpc>
                <a:spcPct val="105000"/>
              </a:lnSpc>
              <a:spcBef>
                <a:spcPts val="1200"/>
              </a:spcBef>
              <a:spcAft>
                <a:spcPts val="0"/>
              </a:spcAft>
              <a:buSzPts val="935"/>
              <a:buNone/>
            </a:pPr>
            <a:r>
              <a:rPr b="1" lang="en" sz="1205">
                <a:solidFill>
                  <a:schemeClr val="lt2"/>
                </a:solidFill>
                <a:latin typeface="Montserrat"/>
                <a:ea typeface="Montserrat"/>
                <a:cs typeface="Montserrat"/>
                <a:sym typeface="Montserrat"/>
              </a:rPr>
              <a:t>Mohon bantuan untuk mengirimkan data tersebut paling lambat minggu depan. Atas bantuan yang diberikan, kami mengucapkan terima kasih.</a:t>
            </a:r>
            <a:endParaRPr b="1" sz="1205">
              <a:solidFill>
                <a:schemeClr val="lt2"/>
              </a:solidFill>
              <a:latin typeface="Montserrat"/>
              <a:ea typeface="Montserrat"/>
              <a:cs typeface="Montserrat"/>
              <a:sym typeface="Montserrat"/>
            </a:endParaRPr>
          </a:p>
          <a:p>
            <a:pPr indent="0" lvl="0" marL="0" rtl="0" algn="just">
              <a:lnSpc>
                <a:spcPct val="105000"/>
              </a:lnSpc>
              <a:spcBef>
                <a:spcPts val="1200"/>
              </a:spcBef>
              <a:spcAft>
                <a:spcPts val="0"/>
              </a:spcAft>
              <a:buSzPts val="935"/>
              <a:buNone/>
            </a:pPr>
            <a:r>
              <a:rPr b="1" lang="en" sz="1205">
                <a:solidFill>
                  <a:schemeClr val="lt2"/>
                </a:solidFill>
                <a:latin typeface="Montserrat"/>
                <a:ea typeface="Montserrat"/>
                <a:cs typeface="Montserrat"/>
                <a:sym typeface="Montserrat"/>
              </a:rPr>
              <a:t>Regards</a:t>
            </a:r>
            <a:endParaRPr b="1" sz="1205">
              <a:solidFill>
                <a:schemeClr val="lt2"/>
              </a:solidFill>
              <a:latin typeface="Montserrat"/>
              <a:ea typeface="Montserrat"/>
              <a:cs typeface="Montserrat"/>
              <a:sym typeface="Montserrat"/>
            </a:endParaRPr>
          </a:p>
          <a:p>
            <a:pPr indent="0" lvl="0" marL="0" rtl="0" algn="just">
              <a:lnSpc>
                <a:spcPct val="105000"/>
              </a:lnSpc>
              <a:spcBef>
                <a:spcPts val="1200"/>
              </a:spcBef>
              <a:spcAft>
                <a:spcPts val="1200"/>
              </a:spcAft>
              <a:buSzPts val="935"/>
              <a:buNone/>
            </a:pPr>
            <a:r>
              <a:rPr b="1" lang="en" sz="1205">
                <a:solidFill>
                  <a:schemeClr val="lt2"/>
                </a:solidFill>
                <a:latin typeface="Montserrat"/>
                <a:ea typeface="Montserrat"/>
                <a:cs typeface="Montserrat"/>
                <a:sym typeface="Montserrat"/>
              </a:rPr>
              <a:t>Tim Campaign</a:t>
            </a:r>
            <a:endParaRPr b="1" sz="1205">
              <a:solidFill>
                <a:schemeClr val="lt2"/>
              </a:solidFill>
              <a:latin typeface="Montserrat"/>
              <a:ea typeface="Montserrat"/>
              <a:cs typeface="Montserrat"/>
              <a:sym typeface="Montserrat"/>
            </a:endParaRPr>
          </a:p>
        </p:txBody>
      </p:sp>
      <p:sp>
        <p:nvSpPr>
          <p:cNvPr id="326" name="Google Shape;326;p34"/>
          <p:cNvSpPr txBox="1"/>
          <p:nvPr>
            <p:ph type="title"/>
          </p:nvPr>
        </p:nvSpPr>
        <p:spPr>
          <a:xfrm>
            <a:off x="1297500" y="393750"/>
            <a:ext cx="7038900" cy="531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rgbClr val="A4C2F4"/>
                </a:solidFill>
              </a:rPr>
              <a:t>PROBLEM - 4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35"/>
          <p:cNvSpPr txBox="1"/>
          <p:nvPr>
            <p:ph idx="1" type="body"/>
          </p:nvPr>
        </p:nvSpPr>
        <p:spPr>
          <a:xfrm>
            <a:off x="320100" y="1680850"/>
            <a:ext cx="8503800" cy="2911200"/>
          </a:xfrm>
          <a:prstGeom prst="rect">
            <a:avLst/>
          </a:prstGeom>
          <a:ln>
            <a:noFill/>
          </a:ln>
        </p:spPr>
        <p:txBody>
          <a:bodyPr anchorCtr="0" anchor="t" bIns="91425" lIns="91425" spcFirstLastPara="1" rIns="91425" wrap="square" tIns="91425">
            <a:normAutofit/>
          </a:bodyPr>
          <a:lstStyle/>
          <a:p>
            <a:pPr indent="-196850" lvl="0" marL="228600" rtl="0" algn="l">
              <a:spcBef>
                <a:spcPts val="0"/>
              </a:spcBef>
              <a:spcAft>
                <a:spcPts val="0"/>
              </a:spcAft>
              <a:buClr>
                <a:srgbClr val="B6D7A8"/>
              </a:buClr>
              <a:buSzPts val="1300"/>
              <a:buFont typeface="Montserrat"/>
              <a:buAutoNum type="arabicPeriod"/>
            </a:pPr>
            <a:r>
              <a:rPr b="1" lang="en">
                <a:solidFill>
                  <a:srgbClr val="B6D7A8"/>
                </a:solidFill>
                <a:latin typeface="Montserrat"/>
                <a:ea typeface="Montserrat"/>
                <a:cs typeface="Montserrat"/>
                <a:sym typeface="Montserrat"/>
              </a:rPr>
              <a:t>Informasi tanggal pada dataframe df masih dalam format YY/MM/DD, sehingga perlu membuat kolom baru berisi informasi hari dan bulan</a:t>
            </a:r>
            <a:endParaRPr b="1">
              <a:solidFill>
                <a:srgbClr val="B6D7A8"/>
              </a:solidFill>
              <a:latin typeface="Montserrat"/>
              <a:ea typeface="Montserrat"/>
              <a:cs typeface="Montserrat"/>
              <a:sym typeface="Montserrat"/>
            </a:endParaRPr>
          </a:p>
          <a:p>
            <a:pPr indent="0" lvl="0" marL="0" rtl="0" algn="l">
              <a:spcBef>
                <a:spcPts val="1200"/>
              </a:spcBef>
              <a:spcAft>
                <a:spcPts val="0"/>
              </a:spcAft>
              <a:buNone/>
            </a:pPr>
            <a:r>
              <a:t/>
            </a:r>
            <a:endParaRPr b="1">
              <a:solidFill>
                <a:srgbClr val="B6D7A8"/>
              </a:solidFill>
              <a:latin typeface="Montserrat"/>
              <a:ea typeface="Montserrat"/>
              <a:cs typeface="Montserrat"/>
              <a:sym typeface="Montserrat"/>
            </a:endParaRPr>
          </a:p>
          <a:p>
            <a:pPr indent="0" lvl="0" marL="0" rtl="0" algn="l">
              <a:spcBef>
                <a:spcPts val="1200"/>
              </a:spcBef>
              <a:spcAft>
                <a:spcPts val="0"/>
              </a:spcAft>
              <a:buNone/>
            </a:pPr>
            <a:r>
              <a:t/>
            </a:r>
            <a:endParaRPr b="1">
              <a:solidFill>
                <a:srgbClr val="B6D7A8"/>
              </a:solidFill>
              <a:latin typeface="Montserrat"/>
              <a:ea typeface="Montserrat"/>
              <a:cs typeface="Montserrat"/>
              <a:sym typeface="Montserrat"/>
            </a:endParaRPr>
          </a:p>
          <a:p>
            <a:pPr indent="0" lvl="0" marL="0" rtl="0" algn="l">
              <a:lnSpc>
                <a:spcPct val="150000"/>
              </a:lnSpc>
              <a:spcBef>
                <a:spcPts val="1200"/>
              </a:spcBef>
              <a:spcAft>
                <a:spcPts val="0"/>
              </a:spcAft>
              <a:buNone/>
            </a:pPr>
            <a:r>
              <a:t/>
            </a:r>
            <a:endParaRPr b="1">
              <a:solidFill>
                <a:srgbClr val="B6D7A8"/>
              </a:solidFill>
              <a:latin typeface="Montserrat"/>
              <a:ea typeface="Montserrat"/>
              <a:cs typeface="Montserrat"/>
              <a:sym typeface="Montserrat"/>
            </a:endParaRPr>
          </a:p>
          <a:p>
            <a:pPr indent="-196850" lvl="0" marL="228600" rtl="0" algn="l">
              <a:spcBef>
                <a:spcPts val="1200"/>
              </a:spcBef>
              <a:spcAft>
                <a:spcPts val="0"/>
              </a:spcAft>
              <a:buClr>
                <a:srgbClr val="B6D7A8"/>
              </a:buClr>
              <a:buSzPts val="1300"/>
              <a:buFont typeface="Montserrat"/>
              <a:buAutoNum type="arabicPeriod"/>
            </a:pPr>
            <a:r>
              <a:rPr b="1" lang="en">
                <a:solidFill>
                  <a:srgbClr val="B6D7A8"/>
                </a:solidFill>
                <a:latin typeface="Montserrat"/>
                <a:ea typeface="Montserrat"/>
                <a:cs typeface="Montserrat"/>
                <a:sym typeface="Montserrat"/>
              </a:rPr>
              <a:t>Filter transaksi dengan is_valid = 1 dan data dalam periode Okt-Des 2022</a:t>
            </a:r>
            <a:endParaRPr b="1">
              <a:solidFill>
                <a:srgbClr val="B6D7A8"/>
              </a:solidFill>
              <a:latin typeface="Montserrat"/>
              <a:ea typeface="Montserrat"/>
              <a:cs typeface="Montserrat"/>
              <a:sym typeface="Montserrat"/>
            </a:endParaRPr>
          </a:p>
        </p:txBody>
      </p:sp>
      <p:sp>
        <p:nvSpPr>
          <p:cNvPr id="332" name="Google Shape;332;p35"/>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4.1. Rata-Rata Penjualan Weekend vs Weekdays Periode Oktober-Desember 2022</a:t>
            </a:r>
            <a:endParaRPr/>
          </a:p>
        </p:txBody>
      </p:sp>
      <p:pic>
        <p:nvPicPr>
          <p:cNvPr id="333" name="Google Shape;333;p35"/>
          <p:cNvPicPr preferRelativeResize="0"/>
          <p:nvPr/>
        </p:nvPicPr>
        <p:blipFill>
          <a:blip r:embed="rId3">
            <a:alphaModFix/>
          </a:blip>
          <a:stretch>
            <a:fillRect/>
          </a:stretch>
        </p:blipFill>
        <p:spPr>
          <a:xfrm>
            <a:off x="641975" y="2264975"/>
            <a:ext cx="5364200" cy="1220100"/>
          </a:xfrm>
          <a:prstGeom prst="rect">
            <a:avLst/>
          </a:prstGeom>
          <a:noFill/>
          <a:ln cap="flat" cmpd="sng" w="9525">
            <a:solidFill>
              <a:schemeClr val="lt1"/>
            </a:solidFill>
            <a:prstDash val="solid"/>
            <a:round/>
            <a:headEnd len="sm" w="sm" type="none"/>
            <a:tailEnd len="sm" w="sm" type="none"/>
          </a:ln>
        </p:spPr>
      </p:pic>
      <p:pic>
        <p:nvPicPr>
          <p:cNvPr id="334" name="Google Shape;334;p35"/>
          <p:cNvPicPr preferRelativeResize="0"/>
          <p:nvPr/>
        </p:nvPicPr>
        <p:blipFill>
          <a:blip r:embed="rId4">
            <a:alphaModFix/>
          </a:blip>
          <a:stretch>
            <a:fillRect/>
          </a:stretch>
        </p:blipFill>
        <p:spPr>
          <a:xfrm>
            <a:off x="565875" y="3882250"/>
            <a:ext cx="8257174" cy="289825"/>
          </a:xfrm>
          <a:prstGeom prst="rect">
            <a:avLst/>
          </a:prstGeom>
          <a:noFill/>
          <a:ln cap="flat" cmpd="sng" w="9525">
            <a:solidFill>
              <a:schemeClr val="lt1"/>
            </a:solidFill>
            <a:prstDash val="solid"/>
            <a:round/>
            <a:headEnd len="sm" w="sm" type="none"/>
            <a:tailEnd len="sm" w="sm" type="none"/>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36"/>
          <p:cNvSpPr txBox="1"/>
          <p:nvPr>
            <p:ph idx="1" type="body"/>
          </p:nvPr>
        </p:nvSpPr>
        <p:spPr>
          <a:xfrm>
            <a:off x="573900" y="1505850"/>
            <a:ext cx="8135100" cy="2911200"/>
          </a:xfrm>
          <a:prstGeom prst="rect">
            <a:avLst/>
          </a:prstGeom>
          <a:ln>
            <a:noFill/>
          </a:ln>
        </p:spPr>
        <p:txBody>
          <a:bodyPr anchorCtr="0" anchor="t" bIns="91425" lIns="91425" spcFirstLastPara="1" rIns="91425" wrap="square" tIns="91425">
            <a:normAutofit/>
          </a:bodyPr>
          <a:lstStyle/>
          <a:p>
            <a:pPr indent="0" lvl="0" marL="0" rtl="0" algn="l">
              <a:spcBef>
                <a:spcPts val="0"/>
              </a:spcBef>
              <a:spcAft>
                <a:spcPts val="1200"/>
              </a:spcAft>
              <a:buNone/>
            </a:pPr>
            <a:r>
              <a:rPr b="1" lang="en">
                <a:solidFill>
                  <a:srgbClr val="B6D7A8"/>
                </a:solidFill>
                <a:latin typeface="Montserrat"/>
                <a:ea typeface="Montserrat"/>
                <a:cs typeface="Montserrat"/>
                <a:sym typeface="Montserrat"/>
              </a:rPr>
              <a:t>Hasil step 1 dan 2:</a:t>
            </a:r>
            <a:endParaRPr b="1">
              <a:solidFill>
                <a:srgbClr val="B6D7A8"/>
              </a:solidFill>
              <a:latin typeface="Montserrat"/>
              <a:ea typeface="Montserrat"/>
              <a:cs typeface="Montserrat"/>
              <a:sym typeface="Montserrat"/>
            </a:endParaRPr>
          </a:p>
        </p:txBody>
      </p:sp>
      <p:sp>
        <p:nvSpPr>
          <p:cNvPr id="340" name="Google Shape;340;p36"/>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4.1. Rata-Rata Penjualan Weekend vs Weekdays</a:t>
            </a:r>
            <a:endParaRPr/>
          </a:p>
          <a:p>
            <a:pPr indent="0" lvl="0" marL="0" rtl="0" algn="l">
              <a:spcBef>
                <a:spcPts val="0"/>
              </a:spcBef>
              <a:spcAft>
                <a:spcPts val="0"/>
              </a:spcAft>
              <a:buNone/>
            </a:pPr>
            <a:r>
              <a:rPr lang="en"/>
              <a:t>Periode Oktober-Desember 2022</a:t>
            </a:r>
            <a:endParaRPr/>
          </a:p>
        </p:txBody>
      </p:sp>
      <p:pic>
        <p:nvPicPr>
          <p:cNvPr id="341" name="Google Shape;341;p36"/>
          <p:cNvPicPr preferRelativeResize="0"/>
          <p:nvPr/>
        </p:nvPicPr>
        <p:blipFill>
          <a:blip r:embed="rId3">
            <a:alphaModFix/>
          </a:blip>
          <a:stretch>
            <a:fillRect/>
          </a:stretch>
        </p:blipFill>
        <p:spPr>
          <a:xfrm>
            <a:off x="2545393" y="1582049"/>
            <a:ext cx="6163608" cy="3130701"/>
          </a:xfrm>
          <a:prstGeom prst="rect">
            <a:avLst/>
          </a:prstGeom>
          <a:noFill/>
          <a:ln>
            <a:noFill/>
          </a:ln>
        </p:spPr>
      </p:pic>
      <p:sp>
        <p:nvSpPr>
          <p:cNvPr id="342" name="Google Shape;342;p36"/>
          <p:cNvSpPr/>
          <p:nvPr/>
        </p:nvSpPr>
        <p:spPr>
          <a:xfrm>
            <a:off x="6615150" y="1505850"/>
            <a:ext cx="2153100" cy="33189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37"/>
          <p:cNvSpPr txBox="1"/>
          <p:nvPr>
            <p:ph idx="1" type="body"/>
          </p:nvPr>
        </p:nvSpPr>
        <p:spPr>
          <a:xfrm>
            <a:off x="320100" y="1452250"/>
            <a:ext cx="8503800" cy="2911200"/>
          </a:xfrm>
          <a:prstGeom prst="rect">
            <a:avLst/>
          </a:prstGeom>
          <a:ln>
            <a:noFill/>
          </a:ln>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rgbClr val="B6D7A8"/>
                </a:solidFill>
                <a:latin typeface="Montserrat"/>
                <a:ea typeface="Montserrat"/>
                <a:cs typeface="Montserrat"/>
                <a:sym typeface="Montserrat"/>
              </a:rPr>
              <a:t>3.  Filter data weekend dan weekdays</a:t>
            </a:r>
            <a:endParaRPr b="1">
              <a:solidFill>
                <a:srgbClr val="B6D7A8"/>
              </a:solidFill>
              <a:latin typeface="Montserrat"/>
              <a:ea typeface="Montserrat"/>
              <a:cs typeface="Montserrat"/>
              <a:sym typeface="Montserrat"/>
            </a:endParaRPr>
          </a:p>
          <a:p>
            <a:pPr indent="0" lvl="0" marL="0" rtl="0" algn="l">
              <a:lnSpc>
                <a:spcPct val="150000"/>
              </a:lnSpc>
              <a:spcBef>
                <a:spcPts val="1200"/>
              </a:spcBef>
              <a:spcAft>
                <a:spcPts val="0"/>
              </a:spcAft>
              <a:buNone/>
            </a:pPr>
            <a:r>
              <a:t/>
            </a:r>
            <a:endParaRPr b="1">
              <a:solidFill>
                <a:srgbClr val="B6D7A8"/>
              </a:solidFill>
              <a:latin typeface="Montserrat"/>
              <a:ea typeface="Montserrat"/>
              <a:cs typeface="Montserrat"/>
              <a:sym typeface="Montserrat"/>
            </a:endParaRPr>
          </a:p>
          <a:p>
            <a:pPr indent="0" lvl="0" marL="0" rtl="0" algn="l">
              <a:spcBef>
                <a:spcPts val="1200"/>
              </a:spcBef>
              <a:spcAft>
                <a:spcPts val="0"/>
              </a:spcAft>
              <a:buNone/>
            </a:pPr>
            <a:r>
              <a:rPr b="1" lang="en">
                <a:solidFill>
                  <a:srgbClr val="B6D7A8"/>
                </a:solidFill>
                <a:latin typeface="Montserrat"/>
                <a:ea typeface="Montserrat"/>
                <a:cs typeface="Montserrat"/>
                <a:sym typeface="Montserrat"/>
              </a:rPr>
              <a:t>4. Menampilkan rata-rata penjualan pada setiap bulan menggunakan groupby()</a:t>
            </a:r>
            <a:endParaRPr b="1">
              <a:solidFill>
                <a:srgbClr val="B6D7A8"/>
              </a:solidFill>
              <a:latin typeface="Montserrat"/>
              <a:ea typeface="Montserrat"/>
              <a:cs typeface="Montserrat"/>
              <a:sym typeface="Montserrat"/>
            </a:endParaRPr>
          </a:p>
          <a:p>
            <a:pPr indent="0" lvl="0" marL="0" rtl="0" algn="l">
              <a:spcBef>
                <a:spcPts val="1200"/>
              </a:spcBef>
              <a:spcAft>
                <a:spcPts val="0"/>
              </a:spcAft>
              <a:buNone/>
            </a:pPr>
            <a:r>
              <a:t/>
            </a:r>
            <a:endParaRPr b="1">
              <a:solidFill>
                <a:srgbClr val="B6D7A8"/>
              </a:solidFill>
              <a:latin typeface="Montserrat"/>
              <a:ea typeface="Montserrat"/>
              <a:cs typeface="Montserrat"/>
              <a:sym typeface="Montserrat"/>
            </a:endParaRPr>
          </a:p>
          <a:p>
            <a:pPr indent="0" lvl="0" marL="0" rtl="0" algn="l">
              <a:spcBef>
                <a:spcPts val="1200"/>
              </a:spcBef>
              <a:spcAft>
                <a:spcPts val="1200"/>
              </a:spcAft>
              <a:buNone/>
            </a:pPr>
            <a:r>
              <a:t/>
            </a:r>
            <a:endParaRPr b="1">
              <a:solidFill>
                <a:srgbClr val="B6D7A8"/>
              </a:solidFill>
              <a:latin typeface="Montserrat"/>
              <a:ea typeface="Montserrat"/>
              <a:cs typeface="Montserrat"/>
              <a:sym typeface="Montserrat"/>
            </a:endParaRPr>
          </a:p>
        </p:txBody>
      </p:sp>
      <p:sp>
        <p:nvSpPr>
          <p:cNvPr id="348" name="Google Shape;348;p37"/>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4.1. Rata-Rata Penjualan Weekend vs Weekdays Periode Oktober-Desember 2022</a:t>
            </a:r>
            <a:endParaRPr/>
          </a:p>
        </p:txBody>
      </p:sp>
      <p:pic>
        <p:nvPicPr>
          <p:cNvPr id="349" name="Google Shape;349;p37"/>
          <p:cNvPicPr preferRelativeResize="0"/>
          <p:nvPr/>
        </p:nvPicPr>
        <p:blipFill>
          <a:blip r:embed="rId3">
            <a:alphaModFix/>
          </a:blip>
          <a:stretch>
            <a:fillRect/>
          </a:stretch>
        </p:blipFill>
        <p:spPr>
          <a:xfrm>
            <a:off x="565875" y="1841575"/>
            <a:ext cx="8257174" cy="425365"/>
          </a:xfrm>
          <a:prstGeom prst="rect">
            <a:avLst/>
          </a:prstGeom>
          <a:noFill/>
          <a:ln cap="flat" cmpd="sng" w="9525">
            <a:solidFill>
              <a:schemeClr val="lt1"/>
            </a:solidFill>
            <a:prstDash val="solid"/>
            <a:round/>
            <a:headEnd len="sm" w="sm" type="none"/>
            <a:tailEnd len="sm" w="sm" type="none"/>
          </a:ln>
        </p:spPr>
      </p:pic>
      <p:pic>
        <p:nvPicPr>
          <p:cNvPr id="350" name="Google Shape;350;p37"/>
          <p:cNvPicPr preferRelativeResize="0"/>
          <p:nvPr/>
        </p:nvPicPr>
        <p:blipFill>
          <a:blip r:embed="rId4">
            <a:alphaModFix/>
          </a:blip>
          <a:stretch>
            <a:fillRect/>
          </a:stretch>
        </p:blipFill>
        <p:spPr>
          <a:xfrm>
            <a:off x="554675" y="2680525"/>
            <a:ext cx="8257175" cy="419022"/>
          </a:xfrm>
          <a:prstGeom prst="rect">
            <a:avLst/>
          </a:prstGeom>
          <a:noFill/>
          <a:ln cap="flat" cmpd="sng" w="9525">
            <a:solidFill>
              <a:schemeClr val="lt1"/>
            </a:solidFill>
            <a:prstDash val="solid"/>
            <a:round/>
            <a:headEnd len="sm" w="sm" type="none"/>
            <a:tailEnd len="sm" w="sm" type="none"/>
          </a:ln>
        </p:spPr>
      </p:pic>
      <p:pic>
        <p:nvPicPr>
          <p:cNvPr id="351" name="Google Shape;351;p37"/>
          <p:cNvPicPr preferRelativeResize="0"/>
          <p:nvPr/>
        </p:nvPicPr>
        <p:blipFill>
          <a:blip r:embed="rId5">
            <a:alphaModFix/>
          </a:blip>
          <a:stretch>
            <a:fillRect/>
          </a:stretch>
        </p:blipFill>
        <p:spPr>
          <a:xfrm>
            <a:off x="1344982" y="3306525"/>
            <a:ext cx="2620918" cy="1320700"/>
          </a:xfrm>
          <a:prstGeom prst="rect">
            <a:avLst/>
          </a:prstGeom>
          <a:noFill/>
          <a:ln cap="flat" cmpd="sng" w="9525">
            <a:solidFill>
              <a:schemeClr val="lt1"/>
            </a:solidFill>
            <a:prstDash val="solid"/>
            <a:round/>
            <a:headEnd len="sm" w="sm" type="none"/>
            <a:tailEnd len="sm" w="sm" type="none"/>
          </a:ln>
        </p:spPr>
      </p:pic>
      <p:pic>
        <p:nvPicPr>
          <p:cNvPr id="352" name="Google Shape;352;p37"/>
          <p:cNvPicPr preferRelativeResize="0"/>
          <p:nvPr/>
        </p:nvPicPr>
        <p:blipFill>
          <a:blip r:embed="rId6">
            <a:alphaModFix/>
          </a:blip>
          <a:stretch>
            <a:fillRect/>
          </a:stretch>
        </p:blipFill>
        <p:spPr>
          <a:xfrm>
            <a:off x="4683550" y="3306525"/>
            <a:ext cx="2620925" cy="1320700"/>
          </a:xfrm>
          <a:prstGeom prst="rect">
            <a:avLst/>
          </a:prstGeom>
          <a:noFill/>
          <a:ln cap="flat" cmpd="sng" w="9525">
            <a:solidFill>
              <a:schemeClr val="lt1"/>
            </a:solidFill>
            <a:prstDash val="solid"/>
            <a:round/>
            <a:headEnd len="sm" w="sm" type="none"/>
            <a:tailEnd len="sm" w="sm" type="none"/>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38"/>
          <p:cNvSpPr txBox="1"/>
          <p:nvPr>
            <p:ph idx="1" type="body"/>
          </p:nvPr>
        </p:nvSpPr>
        <p:spPr>
          <a:xfrm>
            <a:off x="320100" y="1528450"/>
            <a:ext cx="8503800" cy="2911200"/>
          </a:xfrm>
          <a:prstGeom prst="rect">
            <a:avLst/>
          </a:prstGeom>
          <a:ln>
            <a:noFill/>
          </a:ln>
        </p:spPr>
        <p:txBody>
          <a:bodyPr anchorCtr="0" anchor="t" bIns="91425" lIns="91425" spcFirstLastPara="1" rIns="91425" wrap="square" tIns="91425">
            <a:normAutofit/>
          </a:bodyPr>
          <a:lstStyle/>
          <a:p>
            <a:pPr indent="0" lvl="0" marL="0" rtl="0" algn="l">
              <a:spcBef>
                <a:spcPts val="0"/>
              </a:spcBef>
              <a:spcAft>
                <a:spcPts val="1200"/>
              </a:spcAft>
              <a:buNone/>
            </a:pPr>
            <a:r>
              <a:rPr b="1" lang="en">
                <a:solidFill>
                  <a:srgbClr val="B6D7A8"/>
                </a:solidFill>
                <a:latin typeface="Montserrat"/>
                <a:ea typeface="Montserrat"/>
                <a:cs typeface="Montserrat"/>
                <a:sym typeface="Montserrat"/>
              </a:rPr>
              <a:t>5.  Gabungkan data weekend dan weekdays, urutkan berdasarkan bulan</a:t>
            </a:r>
            <a:endParaRPr b="1">
              <a:solidFill>
                <a:srgbClr val="B6D7A8"/>
              </a:solidFill>
              <a:latin typeface="Montserrat"/>
              <a:ea typeface="Montserrat"/>
              <a:cs typeface="Montserrat"/>
              <a:sym typeface="Montserrat"/>
            </a:endParaRPr>
          </a:p>
        </p:txBody>
      </p:sp>
      <p:sp>
        <p:nvSpPr>
          <p:cNvPr id="358" name="Google Shape;358;p38"/>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4.1. Rata-Rata Penjualan Weekend vs Weekdays Periode Oktober-Desember 2022</a:t>
            </a:r>
            <a:endParaRPr/>
          </a:p>
        </p:txBody>
      </p:sp>
      <p:pic>
        <p:nvPicPr>
          <p:cNvPr id="359" name="Google Shape;359;p38"/>
          <p:cNvPicPr preferRelativeResize="0"/>
          <p:nvPr/>
        </p:nvPicPr>
        <p:blipFill>
          <a:blip r:embed="rId3">
            <a:alphaModFix/>
          </a:blip>
          <a:stretch>
            <a:fillRect/>
          </a:stretch>
        </p:blipFill>
        <p:spPr>
          <a:xfrm>
            <a:off x="411450" y="1979500"/>
            <a:ext cx="8412448" cy="2139875"/>
          </a:xfrm>
          <a:prstGeom prst="rect">
            <a:avLst/>
          </a:prstGeom>
          <a:noFill/>
          <a:ln cap="flat" cmpd="sng" w="9525">
            <a:solidFill>
              <a:schemeClr val="lt1"/>
            </a:solidFill>
            <a:prstDash val="solid"/>
            <a:round/>
            <a:headEnd len="sm" w="sm" type="none"/>
            <a:tailEnd len="sm" w="sm" type="none"/>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39"/>
          <p:cNvSpPr/>
          <p:nvPr/>
        </p:nvSpPr>
        <p:spPr>
          <a:xfrm>
            <a:off x="785275" y="4396325"/>
            <a:ext cx="3609000" cy="370500"/>
          </a:xfrm>
          <a:prstGeom prst="roundRect">
            <a:avLst>
              <a:gd fmla="val 16667" name="adj"/>
            </a:avLst>
          </a:prstGeom>
          <a:solidFill>
            <a:srgbClr val="1C458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65" name="Google Shape;365;p39"/>
          <p:cNvSpPr txBox="1"/>
          <p:nvPr>
            <p:ph idx="1" type="body"/>
          </p:nvPr>
        </p:nvSpPr>
        <p:spPr>
          <a:xfrm>
            <a:off x="548700" y="1452250"/>
            <a:ext cx="8110800" cy="2911200"/>
          </a:xfrm>
          <a:prstGeom prst="rect">
            <a:avLst/>
          </a:prstGeom>
          <a:ln>
            <a:noFill/>
          </a:ln>
        </p:spPr>
        <p:txBody>
          <a:bodyPr anchorCtr="0" anchor="t" bIns="91425" lIns="91425" spcFirstLastPara="1" rIns="91425" wrap="square" tIns="91425">
            <a:normAutofit/>
          </a:bodyPr>
          <a:lstStyle/>
          <a:p>
            <a:pPr indent="0" lvl="0" marL="0" rtl="0" algn="l">
              <a:spcBef>
                <a:spcPts val="0"/>
              </a:spcBef>
              <a:spcAft>
                <a:spcPts val="1200"/>
              </a:spcAft>
              <a:buNone/>
            </a:pPr>
            <a:r>
              <a:rPr b="1" lang="en">
                <a:solidFill>
                  <a:srgbClr val="B6D7A8"/>
                </a:solidFill>
                <a:latin typeface="Montserrat"/>
                <a:ea typeface="Montserrat"/>
                <a:cs typeface="Montserrat"/>
                <a:sym typeface="Montserrat"/>
              </a:rPr>
              <a:t>6.  Plot grafik batang dengan plt.bar()</a:t>
            </a:r>
            <a:endParaRPr b="1">
              <a:solidFill>
                <a:srgbClr val="B6D7A8"/>
              </a:solidFill>
              <a:latin typeface="Montserrat"/>
              <a:ea typeface="Montserrat"/>
              <a:cs typeface="Montserrat"/>
              <a:sym typeface="Montserrat"/>
            </a:endParaRPr>
          </a:p>
        </p:txBody>
      </p:sp>
      <p:sp>
        <p:nvSpPr>
          <p:cNvPr id="366" name="Google Shape;366;p39"/>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4.1. Rata-Rata Penjualan Weekend vs Weekdays Periode Oktober-Desember 2022</a:t>
            </a:r>
            <a:endParaRPr/>
          </a:p>
        </p:txBody>
      </p:sp>
      <p:pic>
        <p:nvPicPr>
          <p:cNvPr id="367" name="Google Shape;367;p39"/>
          <p:cNvPicPr preferRelativeResize="0"/>
          <p:nvPr/>
        </p:nvPicPr>
        <p:blipFill>
          <a:blip r:embed="rId3">
            <a:alphaModFix/>
          </a:blip>
          <a:stretch>
            <a:fillRect/>
          </a:stretch>
        </p:blipFill>
        <p:spPr>
          <a:xfrm>
            <a:off x="886450" y="1847927"/>
            <a:ext cx="6848649" cy="2404025"/>
          </a:xfrm>
          <a:prstGeom prst="rect">
            <a:avLst/>
          </a:prstGeom>
          <a:noFill/>
          <a:ln cap="flat" cmpd="sng" w="9525">
            <a:solidFill>
              <a:schemeClr val="lt1"/>
            </a:solidFill>
            <a:prstDash val="solid"/>
            <a:round/>
            <a:headEnd len="sm" w="sm" type="none"/>
            <a:tailEnd len="sm" w="sm" type="none"/>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40"/>
          <p:cNvSpPr/>
          <p:nvPr/>
        </p:nvSpPr>
        <p:spPr>
          <a:xfrm>
            <a:off x="502550" y="1528450"/>
            <a:ext cx="3024300" cy="370500"/>
          </a:xfrm>
          <a:prstGeom prst="roundRect">
            <a:avLst>
              <a:gd fmla="val 16667" name="adj"/>
            </a:avLst>
          </a:prstGeom>
          <a:solidFill>
            <a:srgbClr val="1C458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lt2"/>
                </a:solidFill>
                <a:latin typeface="Lato"/>
                <a:ea typeface="Lato"/>
                <a:cs typeface="Lato"/>
                <a:sym typeface="Lato"/>
              </a:rPr>
              <a:t>Weekday vs Weekend</a:t>
            </a:r>
            <a:endParaRPr b="1">
              <a:solidFill>
                <a:schemeClr val="lt2"/>
              </a:solidFill>
              <a:latin typeface="Lato"/>
              <a:ea typeface="Lato"/>
              <a:cs typeface="Lato"/>
              <a:sym typeface="Lato"/>
            </a:endParaRPr>
          </a:p>
        </p:txBody>
      </p:sp>
      <p:sp>
        <p:nvSpPr>
          <p:cNvPr id="373" name="Google Shape;373;p40"/>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4.1. Rata-Rata Penjualan Weekend vs Weekdays Periode Oktober-Desember 2022</a:t>
            </a:r>
            <a:endParaRPr/>
          </a:p>
        </p:txBody>
      </p:sp>
      <p:pic>
        <p:nvPicPr>
          <p:cNvPr id="374" name="Google Shape;374;p40"/>
          <p:cNvPicPr preferRelativeResize="0"/>
          <p:nvPr/>
        </p:nvPicPr>
        <p:blipFill>
          <a:blip r:embed="rId3">
            <a:alphaModFix/>
          </a:blip>
          <a:stretch>
            <a:fillRect/>
          </a:stretch>
        </p:blipFill>
        <p:spPr>
          <a:xfrm>
            <a:off x="3885700" y="1528438"/>
            <a:ext cx="5002299" cy="3123575"/>
          </a:xfrm>
          <a:prstGeom prst="rect">
            <a:avLst/>
          </a:prstGeom>
          <a:noFill/>
          <a:ln>
            <a:noFill/>
          </a:ln>
        </p:spPr>
      </p:pic>
      <p:sp>
        <p:nvSpPr>
          <p:cNvPr id="375" name="Google Shape;375;p40"/>
          <p:cNvSpPr txBox="1"/>
          <p:nvPr/>
        </p:nvSpPr>
        <p:spPr>
          <a:xfrm>
            <a:off x="350150" y="2083775"/>
            <a:ext cx="3372600" cy="25884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lang="en" sz="1300">
                <a:solidFill>
                  <a:schemeClr val="lt1"/>
                </a:solidFill>
                <a:latin typeface="Lato"/>
                <a:ea typeface="Lato"/>
                <a:cs typeface="Lato"/>
                <a:sym typeface="Lato"/>
              </a:rPr>
              <a:t>Rata-rata penjualan harian selama </a:t>
            </a:r>
            <a:r>
              <a:rPr i="1" lang="en" sz="1300">
                <a:solidFill>
                  <a:schemeClr val="lt1"/>
                </a:solidFill>
                <a:latin typeface="Lato"/>
                <a:ea typeface="Lato"/>
                <a:cs typeface="Lato"/>
                <a:sym typeface="Lato"/>
              </a:rPr>
              <a:t>weekday </a:t>
            </a:r>
            <a:r>
              <a:rPr lang="en" sz="1300">
                <a:solidFill>
                  <a:schemeClr val="lt1"/>
                </a:solidFill>
                <a:latin typeface="Lato"/>
                <a:ea typeface="Lato"/>
                <a:cs typeface="Lato"/>
                <a:sym typeface="Lato"/>
              </a:rPr>
              <a:t>lebih tinggi dibandingkan </a:t>
            </a:r>
            <a:r>
              <a:rPr i="1" lang="en" sz="1300">
                <a:solidFill>
                  <a:schemeClr val="lt1"/>
                </a:solidFill>
                <a:latin typeface="Lato"/>
                <a:ea typeface="Lato"/>
                <a:cs typeface="Lato"/>
                <a:sym typeface="Lato"/>
              </a:rPr>
              <a:t>weekend </a:t>
            </a:r>
            <a:r>
              <a:rPr lang="en" sz="1300">
                <a:solidFill>
                  <a:schemeClr val="lt1"/>
                </a:solidFill>
                <a:latin typeface="Lato"/>
                <a:ea typeface="Lato"/>
                <a:cs typeface="Lato"/>
                <a:sym typeface="Lato"/>
              </a:rPr>
              <a:t>pada semua bulan (Oktober, November, dan Desember 2022).</a:t>
            </a:r>
            <a:endParaRPr sz="1300">
              <a:solidFill>
                <a:schemeClr val="lt1"/>
              </a:solidFill>
              <a:latin typeface="Lato"/>
              <a:ea typeface="Lato"/>
              <a:cs typeface="Lato"/>
              <a:sym typeface="Lato"/>
            </a:endParaRPr>
          </a:p>
          <a:p>
            <a:pPr indent="0" lvl="0" marL="0" rtl="0" algn="just">
              <a:lnSpc>
                <a:spcPct val="115000"/>
              </a:lnSpc>
              <a:spcBef>
                <a:spcPts val="1000"/>
              </a:spcBef>
              <a:spcAft>
                <a:spcPts val="1000"/>
              </a:spcAft>
              <a:buNone/>
            </a:pPr>
            <a:r>
              <a:rPr lang="en" sz="1300">
                <a:solidFill>
                  <a:schemeClr val="lt1"/>
                </a:solidFill>
                <a:latin typeface="Lato"/>
                <a:ea typeface="Lato"/>
                <a:cs typeface="Lato"/>
                <a:sym typeface="Lato"/>
              </a:rPr>
              <a:t>Hal tersebut menunjukkan bahwa aktivitas penjualan cenderung lebih aktif pada hari kerja dibandingkan akhir pekan.</a:t>
            </a:r>
            <a:endParaRPr sz="1300">
              <a:solidFill>
                <a:schemeClr val="lt1"/>
              </a:solidFill>
              <a:latin typeface="Lato"/>
              <a:ea typeface="Lato"/>
              <a:cs typeface="Lato"/>
              <a:sym typeface="Lato"/>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41"/>
          <p:cNvSpPr/>
          <p:nvPr/>
        </p:nvSpPr>
        <p:spPr>
          <a:xfrm>
            <a:off x="502550" y="1528450"/>
            <a:ext cx="3024300" cy="370500"/>
          </a:xfrm>
          <a:prstGeom prst="roundRect">
            <a:avLst>
              <a:gd fmla="val 16667" name="adj"/>
            </a:avLst>
          </a:prstGeom>
          <a:solidFill>
            <a:srgbClr val="1C458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lt2"/>
                </a:solidFill>
                <a:latin typeface="Lato"/>
                <a:ea typeface="Lato"/>
                <a:cs typeface="Lato"/>
                <a:sym typeface="Lato"/>
              </a:rPr>
              <a:t>Trend Penjualan</a:t>
            </a:r>
            <a:endParaRPr b="1">
              <a:solidFill>
                <a:schemeClr val="lt2"/>
              </a:solidFill>
              <a:latin typeface="Lato"/>
              <a:ea typeface="Lato"/>
              <a:cs typeface="Lato"/>
              <a:sym typeface="Lato"/>
            </a:endParaRPr>
          </a:p>
        </p:txBody>
      </p:sp>
      <p:sp>
        <p:nvSpPr>
          <p:cNvPr id="381" name="Google Shape;381;p41"/>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4.1. Rata-Rata Penjualan Weekend vs Weekdays Periode Oktober-Desember 2022</a:t>
            </a:r>
            <a:endParaRPr/>
          </a:p>
        </p:txBody>
      </p:sp>
      <p:pic>
        <p:nvPicPr>
          <p:cNvPr id="382" name="Google Shape;382;p41"/>
          <p:cNvPicPr preferRelativeResize="0"/>
          <p:nvPr/>
        </p:nvPicPr>
        <p:blipFill>
          <a:blip r:embed="rId3">
            <a:alphaModFix/>
          </a:blip>
          <a:stretch>
            <a:fillRect/>
          </a:stretch>
        </p:blipFill>
        <p:spPr>
          <a:xfrm>
            <a:off x="3885700" y="1528438"/>
            <a:ext cx="5002299" cy="3123575"/>
          </a:xfrm>
          <a:prstGeom prst="rect">
            <a:avLst/>
          </a:prstGeom>
          <a:noFill/>
          <a:ln>
            <a:noFill/>
          </a:ln>
        </p:spPr>
      </p:pic>
      <p:sp>
        <p:nvSpPr>
          <p:cNvPr id="383" name="Google Shape;383;p41"/>
          <p:cNvSpPr txBox="1"/>
          <p:nvPr/>
        </p:nvSpPr>
        <p:spPr>
          <a:xfrm>
            <a:off x="351525" y="2007575"/>
            <a:ext cx="3370800" cy="2588400"/>
          </a:xfrm>
          <a:prstGeom prst="rect">
            <a:avLst/>
          </a:prstGeom>
          <a:noFill/>
          <a:ln>
            <a:noFill/>
          </a:ln>
        </p:spPr>
        <p:txBody>
          <a:bodyPr anchorCtr="0" anchor="t" bIns="91425" lIns="91425" spcFirstLastPara="1" rIns="91425" wrap="square" tIns="91425">
            <a:normAutofit fontScale="85000" lnSpcReduction="10000"/>
          </a:bodyPr>
          <a:lstStyle/>
          <a:p>
            <a:pPr indent="-184467" lvl="0" marL="114300" rtl="0" algn="just">
              <a:lnSpc>
                <a:spcPct val="115000"/>
              </a:lnSpc>
              <a:spcBef>
                <a:spcPts val="0"/>
              </a:spcBef>
              <a:spcAft>
                <a:spcPts val="0"/>
              </a:spcAft>
              <a:buClr>
                <a:schemeClr val="lt1"/>
              </a:buClr>
              <a:buSzPct val="100000"/>
              <a:buFont typeface="Lato"/>
              <a:buChar char="●"/>
            </a:pPr>
            <a:r>
              <a:rPr lang="en" sz="1300">
                <a:solidFill>
                  <a:schemeClr val="lt1"/>
                </a:solidFill>
                <a:latin typeface="Lato"/>
                <a:ea typeface="Lato"/>
                <a:cs typeface="Lato"/>
                <a:sym typeface="Lato"/>
              </a:rPr>
              <a:t>Penjualan pada </a:t>
            </a:r>
            <a:r>
              <a:rPr i="1" lang="en" sz="1300">
                <a:solidFill>
                  <a:schemeClr val="lt1"/>
                </a:solidFill>
                <a:latin typeface="Lato"/>
                <a:ea typeface="Lato"/>
                <a:cs typeface="Lato"/>
                <a:sym typeface="Lato"/>
              </a:rPr>
              <a:t>weekend </a:t>
            </a:r>
            <a:r>
              <a:rPr lang="en" sz="1300">
                <a:solidFill>
                  <a:schemeClr val="lt1"/>
                </a:solidFill>
                <a:latin typeface="Lato"/>
                <a:ea typeface="Lato"/>
                <a:cs typeface="Lato"/>
                <a:sym typeface="Lato"/>
              </a:rPr>
              <a:t>mengalami penurunan dari Oktober ke Desember. Puncak penjualan terjadi pada bulan Oktober yaitu waktu dimulainya </a:t>
            </a:r>
            <a:r>
              <a:rPr i="1" lang="en" sz="1300">
                <a:solidFill>
                  <a:schemeClr val="lt1"/>
                </a:solidFill>
                <a:latin typeface="Lato"/>
                <a:ea typeface="Lato"/>
                <a:cs typeface="Lato"/>
                <a:sym typeface="Lato"/>
              </a:rPr>
              <a:t>campaign</a:t>
            </a:r>
            <a:r>
              <a:rPr lang="en" sz="1300">
                <a:solidFill>
                  <a:schemeClr val="lt1"/>
                </a:solidFill>
                <a:latin typeface="Lato"/>
                <a:ea typeface="Lato"/>
                <a:cs typeface="Lato"/>
                <a:sym typeface="Lato"/>
              </a:rPr>
              <a:t>.</a:t>
            </a:r>
            <a:endParaRPr sz="1300">
              <a:solidFill>
                <a:schemeClr val="lt1"/>
              </a:solidFill>
              <a:latin typeface="Lato"/>
              <a:ea typeface="Lato"/>
              <a:cs typeface="Lato"/>
              <a:sym typeface="Lato"/>
            </a:endParaRPr>
          </a:p>
          <a:p>
            <a:pPr indent="-184467" lvl="0" marL="114300" rtl="0" algn="just">
              <a:lnSpc>
                <a:spcPct val="115000"/>
              </a:lnSpc>
              <a:spcBef>
                <a:spcPts val="1000"/>
              </a:spcBef>
              <a:spcAft>
                <a:spcPts val="0"/>
              </a:spcAft>
              <a:buClr>
                <a:schemeClr val="lt1"/>
              </a:buClr>
              <a:buSzPct val="100000"/>
              <a:buFont typeface="Lato"/>
              <a:buChar char="●"/>
            </a:pPr>
            <a:r>
              <a:rPr lang="en" sz="1300">
                <a:solidFill>
                  <a:schemeClr val="lt1"/>
                </a:solidFill>
                <a:latin typeface="Lato"/>
                <a:ea typeface="Lato"/>
                <a:cs typeface="Lato"/>
                <a:sym typeface="Lato"/>
              </a:rPr>
              <a:t>Penjualan pada </a:t>
            </a:r>
            <a:r>
              <a:rPr i="1" lang="en" sz="1300">
                <a:solidFill>
                  <a:schemeClr val="lt1"/>
                </a:solidFill>
                <a:latin typeface="Lato"/>
                <a:ea typeface="Lato"/>
                <a:cs typeface="Lato"/>
                <a:sym typeface="Lato"/>
              </a:rPr>
              <a:t>weekday </a:t>
            </a:r>
            <a:r>
              <a:rPr lang="en" sz="1300">
                <a:solidFill>
                  <a:schemeClr val="lt1"/>
                </a:solidFill>
                <a:latin typeface="Lato"/>
                <a:ea typeface="Lato"/>
                <a:cs typeface="Lato"/>
                <a:sym typeface="Lato"/>
              </a:rPr>
              <a:t>konsisten lebih tinggi, terutama di bulan Desember, yang menunjukkan adanya lonjakan penjualan pada hari kerja di bulan tersebut. Hal ini terjadi kemungkinan terkait dengan musim liburan. Diduga konsumen lebih memilih belanja pada </a:t>
            </a:r>
            <a:r>
              <a:rPr i="1" lang="en" sz="1300">
                <a:solidFill>
                  <a:schemeClr val="lt1"/>
                </a:solidFill>
                <a:latin typeface="Lato"/>
                <a:ea typeface="Lato"/>
                <a:cs typeface="Lato"/>
                <a:sym typeface="Lato"/>
              </a:rPr>
              <a:t>weekdays </a:t>
            </a:r>
            <a:r>
              <a:rPr lang="en" sz="1300">
                <a:solidFill>
                  <a:schemeClr val="lt1"/>
                </a:solidFill>
                <a:latin typeface="Lato"/>
                <a:ea typeface="Lato"/>
                <a:cs typeface="Lato"/>
                <a:sym typeface="Lato"/>
              </a:rPr>
              <a:t>untuk menghindari keramaian pada </a:t>
            </a:r>
            <a:r>
              <a:rPr i="1" lang="en" sz="1300">
                <a:solidFill>
                  <a:schemeClr val="lt1"/>
                </a:solidFill>
                <a:latin typeface="Lato"/>
                <a:ea typeface="Lato"/>
                <a:cs typeface="Lato"/>
                <a:sym typeface="Lato"/>
              </a:rPr>
              <a:t>weekend </a:t>
            </a:r>
            <a:r>
              <a:rPr lang="en" sz="1300">
                <a:solidFill>
                  <a:schemeClr val="lt1"/>
                </a:solidFill>
                <a:latin typeface="Lato"/>
                <a:ea typeface="Lato"/>
                <a:cs typeface="Lato"/>
                <a:sym typeface="Lato"/>
              </a:rPr>
              <a:t>musim liburan.</a:t>
            </a:r>
            <a:endParaRPr sz="1300">
              <a:solidFill>
                <a:schemeClr val="lt1"/>
              </a:solidFill>
              <a:latin typeface="Lato"/>
              <a:ea typeface="Lato"/>
              <a:cs typeface="Lato"/>
              <a:sym typeface="Lato"/>
            </a:endParaRPr>
          </a:p>
          <a:p>
            <a:pPr indent="0" lvl="0" marL="0" rtl="0" algn="just">
              <a:lnSpc>
                <a:spcPct val="115000"/>
              </a:lnSpc>
              <a:spcBef>
                <a:spcPts val="1000"/>
              </a:spcBef>
              <a:spcAft>
                <a:spcPts val="1000"/>
              </a:spcAft>
              <a:buNone/>
            </a:pPr>
            <a:r>
              <a:t/>
            </a:r>
            <a:endParaRPr b="1" sz="1200">
              <a:solidFill>
                <a:schemeClr val="lt1"/>
              </a:solidFill>
              <a:latin typeface="Lato"/>
              <a:ea typeface="Lato"/>
              <a:cs typeface="Lato"/>
              <a:sym typeface="Lato"/>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42"/>
          <p:cNvSpPr txBox="1"/>
          <p:nvPr>
            <p:ph type="title"/>
          </p:nvPr>
        </p:nvSpPr>
        <p:spPr>
          <a:xfrm>
            <a:off x="507875" y="176650"/>
            <a:ext cx="7724700" cy="6570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SzPts val="990"/>
              <a:buNone/>
            </a:pPr>
            <a:r>
              <a:rPr lang="en" sz="1600"/>
              <a:t>4.2 </a:t>
            </a:r>
            <a:r>
              <a:rPr lang="en" sz="1600"/>
              <a:t>Rata-rata harian penjualan weekends (Sabtu dan Minggu) vs rata-rata harian penjualan weekdays (Senin-Jumat) keseluruhan 3 bulan tersebut</a:t>
            </a:r>
            <a:endParaRPr sz="1600"/>
          </a:p>
        </p:txBody>
      </p:sp>
      <p:sp>
        <p:nvSpPr>
          <p:cNvPr id="389" name="Google Shape;389;p42"/>
          <p:cNvSpPr txBox="1"/>
          <p:nvPr/>
        </p:nvSpPr>
        <p:spPr>
          <a:xfrm>
            <a:off x="507875" y="833650"/>
            <a:ext cx="7724700" cy="369300"/>
          </a:xfrm>
          <a:prstGeom prst="rect">
            <a:avLst/>
          </a:prstGeom>
          <a:noFill/>
          <a:ln>
            <a:noFill/>
          </a:ln>
        </p:spPr>
        <p:txBody>
          <a:bodyPr anchorCtr="0" anchor="t" bIns="91425" lIns="91425" spcFirstLastPara="1" rIns="91425" wrap="square" tIns="91425">
            <a:spAutoFit/>
          </a:bodyPr>
          <a:lstStyle/>
          <a:p>
            <a:pPr indent="-190500" lvl="0" marL="228600" rtl="0" algn="l">
              <a:lnSpc>
                <a:spcPct val="115000"/>
              </a:lnSpc>
              <a:spcBef>
                <a:spcPts val="0"/>
              </a:spcBef>
              <a:spcAft>
                <a:spcPts val="0"/>
              </a:spcAft>
              <a:buClr>
                <a:srgbClr val="B6D7A8"/>
              </a:buClr>
              <a:buSzPts val="1200"/>
              <a:buFont typeface="Montserrat"/>
              <a:buAutoNum type="arabicPeriod"/>
            </a:pPr>
            <a:r>
              <a:rPr b="1" lang="en" sz="1200">
                <a:solidFill>
                  <a:srgbClr val="B6D7A8"/>
                </a:solidFill>
                <a:latin typeface="Montserrat"/>
                <a:ea typeface="Montserrat"/>
                <a:cs typeface="Montserrat"/>
                <a:sym typeface="Montserrat"/>
              </a:rPr>
              <a:t>    Menghitung rerata penjualan pada weekend dan weekday</a:t>
            </a:r>
            <a:endParaRPr/>
          </a:p>
        </p:txBody>
      </p:sp>
      <p:pic>
        <p:nvPicPr>
          <p:cNvPr id="390" name="Google Shape;390;p42"/>
          <p:cNvPicPr preferRelativeResize="0"/>
          <p:nvPr/>
        </p:nvPicPr>
        <p:blipFill>
          <a:blip r:embed="rId3">
            <a:alphaModFix/>
          </a:blip>
          <a:stretch>
            <a:fillRect/>
          </a:stretch>
        </p:blipFill>
        <p:spPr>
          <a:xfrm>
            <a:off x="507875" y="1202950"/>
            <a:ext cx="6102001" cy="913550"/>
          </a:xfrm>
          <a:prstGeom prst="rect">
            <a:avLst/>
          </a:prstGeom>
          <a:noFill/>
          <a:ln>
            <a:noFill/>
          </a:ln>
        </p:spPr>
      </p:pic>
      <p:sp>
        <p:nvSpPr>
          <p:cNvPr id="391" name="Google Shape;391;p42"/>
          <p:cNvSpPr txBox="1"/>
          <p:nvPr/>
        </p:nvSpPr>
        <p:spPr>
          <a:xfrm>
            <a:off x="507872" y="2259950"/>
            <a:ext cx="6102000" cy="369300"/>
          </a:xfrm>
          <a:prstGeom prst="rect">
            <a:avLst/>
          </a:prstGeom>
          <a:noFill/>
          <a:ln>
            <a:noFill/>
          </a:ln>
        </p:spPr>
        <p:txBody>
          <a:bodyPr anchorCtr="0" anchor="t" bIns="91425" lIns="91425" spcFirstLastPara="1" rIns="91425" wrap="square" tIns="91425">
            <a:spAutoFit/>
          </a:bodyPr>
          <a:lstStyle/>
          <a:p>
            <a:pPr indent="-304800" lvl="0" marL="457200" rtl="0" algn="l">
              <a:lnSpc>
                <a:spcPct val="115000"/>
              </a:lnSpc>
              <a:spcBef>
                <a:spcPts val="0"/>
              </a:spcBef>
              <a:spcAft>
                <a:spcPts val="0"/>
              </a:spcAft>
              <a:buClr>
                <a:srgbClr val="B6D7A8"/>
              </a:buClr>
              <a:buSzPts val="1200"/>
              <a:buFont typeface="Montserrat"/>
              <a:buAutoNum type="arabicPeriod" startAt="2"/>
            </a:pPr>
            <a:r>
              <a:rPr b="1" lang="en" sz="1200">
                <a:solidFill>
                  <a:srgbClr val="B6D7A8"/>
                </a:solidFill>
                <a:latin typeface="Montserrat"/>
                <a:ea typeface="Montserrat"/>
                <a:cs typeface="Montserrat"/>
                <a:sym typeface="Montserrat"/>
              </a:rPr>
              <a:t>Menampilkan hasil rerata penjualan pada weekend dan weekday</a:t>
            </a:r>
            <a:endParaRPr/>
          </a:p>
        </p:txBody>
      </p:sp>
      <p:pic>
        <p:nvPicPr>
          <p:cNvPr id="392" name="Google Shape;392;p42"/>
          <p:cNvPicPr preferRelativeResize="0"/>
          <p:nvPr/>
        </p:nvPicPr>
        <p:blipFill rotWithShape="1">
          <a:blip r:embed="rId4">
            <a:alphaModFix/>
          </a:blip>
          <a:srcRect b="0" l="0" r="0" t="0"/>
          <a:stretch/>
        </p:blipFill>
        <p:spPr>
          <a:xfrm>
            <a:off x="507875" y="2662450"/>
            <a:ext cx="6023715" cy="822663"/>
          </a:xfrm>
          <a:prstGeom prst="rect">
            <a:avLst/>
          </a:prstGeom>
          <a:noFill/>
          <a:ln>
            <a:noFill/>
          </a:ln>
        </p:spPr>
      </p:pic>
      <p:pic>
        <p:nvPicPr>
          <p:cNvPr id="393" name="Google Shape;393;p42"/>
          <p:cNvPicPr preferRelativeResize="0"/>
          <p:nvPr/>
        </p:nvPicPr>
        <p:blipFill>
          <a:blip r:embed="rId5">
            <a:alphaModFix/>
          </a:blip>
          <a:stretch>
            <a:fillRect/>
          </a:stretch>
        </p:blipFill>
        <p:spPr>
          <a:xfrm>
            <a:off x="507875" y="4007149"/>
            <a:ext cx="7059634" cy="969076"/>
          </a:xfrm>
          <a:prstGeom prst="rect">
            <a:avLst/>
          </a:prstGeom>
          <a:noFill/>
          <a:ln>
            <a:noFill/>
          </a:ln>
        </p:spPr>
      </p:pic>
      <p:sp>
        <p:nvSpPr>
          <p:cNvPr id="394" name="Google Shape;394;p42"/>
          <p:cNvSpPr txBox="1"/>
          <p:nvPr/>
        </p:nvSpPr>
        <p:spPr>
          <a:xfrm>
            <a:off x="507863" y="3518325"/>
            <a:ext cx="7724700" cy="369300"/>
          </a:xfrm>
          <a:prstGeom prst="rect">
            <a:avLst/>
          </a:prstGeom>
          <a:noFill/>
          <a:ln>
            <a:noFill/>
          </a:ln>
        </p:spPr>
        <p:txBody>
          <a:bodyPr anchorCtr="0" anchor="t" bIns="91425" lIns="91425" spcFirstLastPara="1" rIns="91425" wrap="square" tIns="91425">
            <a:spAutoFit/>
          </a:bodyPr>
          <a:lstStyle/>
          <a:p>
            <a:pPr indent="-304800" lvl="0" marL="457200" rtl="0" algn="l">
              <a:lnSpc>
                <a:spcPct val="115000"/>
              </a:lnSpc>
              <a:spcBef>
                <a:spcPts val="0"/>
              </a:spcBef>
              <a:spcAft>
                <a:spcPts val="0"/>
              </a:spcAft>
              <a:buClr>
                <a:srgbClr val="B6D7A8"/>
              </a:buClr>
              <a:buSzPts val="1200"/>
              <a:buFont typeface="Montserrat"/>
              <a:buAutoNum type="arabicPeriod" startAt="3"/>
            </a:pPr>
            <a:r>
              <a:rPr b="1" lang="en" sz="1200">
                <a:solidFill>
                  <a:srgbClr val="B6D7A8"/>
                </a:solidFill>
                <a:latin typeface="Montserrat"/>
                <a:ea typeface="Montserrat"/>
                <a:cs typeface="Montserrat"/>
                <a:sym typeface="Montserrat"/>
              </a:rPr>
              <a:t>Menampilkan hasil rerata penjualan pada weekend dan weekday dalam grafik batang</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43"/>
          <p:cNvSpPr txBox="1"/>
          <p:nvPr/>
        </p:nvSpPr>
        <p:spPr>
          <a:xfrm>
            <a:off x="6020100" y="1273475"/>
            <a:ext cx="3088200" cy="3562200"/>
          </a:xfrm>
          <a:prstGeom prst="rect">
            <a:avLst/>
          </a:prstGeom>
          <a:noFill/>
          <a:ln>
            <a:noFill/>
          </a:ln>
        </p:spPr>
        <p:txBody>
          <a:bodyPr anchorCtr="0" anchor="t" bIns="91425" lIns="91425" spcFirstLastPara="1" rIns="91425" wrap="square" tIns="91425">
            <a:noAutofit/>
          </a:bodyPr>
          <a:lstStyle/>
          <a:p>
            <a:pPr indent="-311150" lvl="0" marL="285750" rtl="0" algn="l">
              <a:spcBef>
                <a:spcPts val="0"/>
              </a:spcBef>
              <a:spcAft>
                <a:spcPts val="0"/>
              </a:spcAft>
              <a:buClr>
                <a:schemeClr val="lt1"/>
              </a:buClr>
              <a:buSzPts val="1300"/>
              <a:buFont typeface="Lato"/>
              <a:buChar char="●"/>
            </a:pPr>
            <a:r>
              <a:rPr lang="en" sz="1300">
                <a:solidFill>
                  <a:schemeClr val="lt1"/>
                </a:solidFill>
                <a:latin typeface="Lato"/>
                <a:ea typeface="Lato"/>
                <a:cs typeface="Lato"/>
                <a:sym typeface="Lato"/>
              </a:rPr>
              <a:t>Rerata hasil penjualan di weekday secara signifikan jauh lebih tinggi diatas rerata penjualan di weekend</a:t>
            </a:r>
            <a:endParaRPr sz="1300">
              <a:solidFill>
                <a:schemeClr val="lt1"/>
              </a:solidFill>
              <a:latin typeface="Lato"/>
              <a:ea typeface="Lato"/>
              <a:cs typeface="Lato"/>
              <a:sym typeface="Lato"/>
            </a:endParaRPr>
          </a:p>
          <a:p>
            <a:pPr indent="0" lvl="0" marL="0" rtl="0" algn="l">
              <a:spcBef>
                <a:spcPts val="0"/>
              </a:spcBef>
              <a:spcAft>
                <a:spcPts val="0"/>
              </a:spcAft>
              <a:buNone/>
            </a:pPr>
            <a:r>
              <a:t/>
            </a:r>
            <a:endParaRPr sz="1300">
              <a:solidFill>
                <a:schemeClr val="lt1"/>
              </a:solidFill>
              <a:latin typeface="Lato"/>
              <a:ea typeface="Lato"/>
              <a:cs typeface="Lato"/>
              <a:sym typeface="Lato"/>
            </a:endParaRPr>
          </a:p>
          <a:p>
            <a:pPr indent="0" lvl="0" marL="0" rtl="0" algn="l">
              <a:spcBef>
                <a:spcPts val="0"/>
              </a:spcBef>
              <a:spcAft>
                <a:spcPts val="0"/>
              </a:spcAft>
              <a:buNone/>
            </a:pPr>
            <a:r>
              <a:t/>
            </a:r>
            <a:endParaRPr sz="1300">
              <a:solidFill>
                <a:schemeClr val="lt1"/>
              </a:solidFill>
              <a:latin typeface="Lato"/>
              <a:ea typeface="Lato"/>
              <a:cs typeface="Lato"/>
              <a:sym typeface="Lato"/>
            </a:endParaRPr>
          </a:p>
          <a:p>
            <a:pPr indent="-311150" lvl="0" marL="285750" rtl="0" algn="l">
              <a:spcBef>
                <a:spcPts val="0"/>
              </a:spcBef>
              <a:spcAft>
                <a:spcPts val="0"/>
              </a:spcAft>
              <a:buClr>
                <a:schemeClr val="lt1"/>
              </a:buClr>
              <a:buSzPts val="1300"/>
              <a:buFont typeface="Lato"/>
              <a:buChar char="●"/>
            </a:pPr>
            <a:r>
              <a:rPr lang="en" sz="1300">
                <a:solidFill>
                  <a:schemeClr val="lt1"/>
                </a:solidFill>
                <a:latin typeface="Lato"/>
                <a:ea typeface="Lato"/>
                <a:cs typeface="Lato"/>
                <a:sym typeface="Lato"/>
              </a:rPr>
              <a:t>Weekday merupakan hari produktif dimana banyak aktivitas yang membutuhkan konsumsi dari masyarakat</a:t>
            </a:r>
            <a:endParaRPr sz="1300">
              <a:solidFill>
                <a:schemeClr val="lt1"/>
              </a:solidFill>
              <a:latin typeface="Lato"/>
              <a:ea typeface="Lato"/>
              <a:cs typeface="Lato"/>
              <a:sym typeface="Lato"/>
            </a:endParaRPr>
          </a:p>
          <a:p>
            <a:pPr indent="0" lvl="0" marL="457200" rtl="0" algn="l">
              <a:spcBef>
                <a:spcPts val="0"/>
              </a:spcBef>
              <a:spcAft>
                <a:spcPts val="0"/>
              </a:spcAft>
              <a:buNone/>
            </a:pPr>
            <a:r>
              <a:t/>
            </a:r>
            <a:endParaRPr sz="1300">
              <a:solidFill>
                <a:schemeClr val="lt1"/>
              </a:solidFill>
              <a:latin typeface="Lato"/>
              <a:ea typeface="Lato"/>
              <a:cs typeface="Lato"/>
              <a:sym typeface="Lato"/>
            </a:endParaRPr>
          </a:p>
          <a:p>
            <a:pPr indent="-311150" lvl="0" marL="285750" rtl="0" algn="l">
              <a:spcBef>
                <a:spcPts val="0"/>
              </a:spcBef>
              <a:spcAft>
                <a:spcPts val="0"/>
              </a:spcAft>
              <a:buClr>
                <a:schemeClr val="lt1"/>
              </a:buClr>
              <a:buSzPts val="1300"/>
              <a:buFont typeface="Lato"/>
              <a:buChar char="●"/>
            </a:pPr>
            <a:r>
              <a:rPr lang="en" sz="1300">
                <a:solidFill>
                  <a:schemeClr val="lt1"/>
                </a:solidFill>
                <a:latin typeface="Lato"/>
                <a:ea typeface="Lato"/>
                <a:cs typeface="Lato"/>
                <a:sym typeface="Lato"/>
              </a:rPr>
              <a:t>Kemungkinan konsumen merupakan tipe individu yang cenderung menghabiskan waktu liburnya untuk bersantai dirumah sehingga rerata pengeluaran di hari kerja relatif lebih tinggi</a:t>
            </a:r>
            <a:endParaRPr sz="1300">
              <a:solidFill>
                <a:schemeClr val="lt1"/>
              </a:solidFill>
              <a:latin typeface="Lato"/>
              <a:ea typeface="Lato"/>
              <a:cs typeface="Lato"/>
              <a:sym typeface="Lato"/>
            </a:endParaRPr>
          </a:p>
        </p:txBody>
      </p:sp>
      <p:sp>
        <p:nvSpPr>
          <p:cNvPr id="400" name="Google Shape;400;p43"/>
          <p:cNvSpPr txBox="1"/>
          <p:nvPr>
            <p:ph type="title"/>
          </p:nvPr>
        </p:nvSpPr>
        <p:spPr>
          <a:xfrm>
            <a:off x="507875" y="176650"/>
            <a:ext cx="7724700" cy="6570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SzPts val="990"/>
              <a:buNone/>
            </a:pPr>
            <a:r>
              <a:rPr lang="en" sz="1600"/>
              <a:t>4.2 Rata-rata harian penjualan weekends (Sabtu dan Minggu) vs rata-rata harian penjualan weekdays (Senin-Jumat) keseluruhan 3 bulan tersebut</a:t>
            </a:r>
            <a:endParaRPr sz="1600"/>
          </a:p>
        </p:txBody>
      </p:sp>
      <p:sp>
        <p:nvSpPr>
          <p:cNvPr id="401" name="Google Shape;401;p43"/>
          <p:cNvSpPr txBox="1"/>
          <p:nvPr/>
        </p:nvSpPr>
        <p:spPr>
          <a:xfrm>
            <a:off x="507875" y="833650"/>
            <a:ext cx="7724700" cy="369300"/>
          </a:xfrm>
          <a:prstGeom prst="rect">
            <a:avLst/>
          </a:prstGeom>
          <a:noFill/>
          <a:ln>
            <a:noFill/>
          </a:ln>
        </p:spPr>
        <p:txBody>
          <a:bodyPr anchorCtr="0" anchor="t" bIns="91425" lIns="91425" spcFirstLastPara="1" rIns="91425" wrap="square" tIns="91425">
            <a:spAutoFit/>
          </a:bodyPr>
          <a:lstStyle/>
          <a:p>
            <a:pPr indent="-190500" lvl="0" marL="228600" rtl="0" algn="l">
              <a:lnSpc>
                <a:spcPct val="115000"/>
              </a:lnSpc>
              <a:spcBef>
                <a:spcPts val="0"/>
              </a:spcBef>
              <a:spcAft>
                <a:spcPts val="0"/>
              </a:spcAft>
              <a:buClr>
                <a:srgbClr val="B6D7A8"/>
              </a:buClr>
              <a:buSzPts val="1200"/>
              <a:buFont typeface="Montserrat"/>
              <a:buAutoNum type="arabicPeriod" startAt="4"/>
            </a:pPr>
            <a:r>
              <a:rPr b="1" lang="en" sz="1200">
                <a:solidFill>
                  <a:srgbClr val="B6D7A8"/>
                </a:solidFill>
                <a:latin typeface="Montserrat"/>
                <a:ea typeface="Montserrat"/>
                <a:cs typeface="Montserrat"/>
                <a:sym typeface="Montserrat"/>
              </a:rPr>
              <a:t>    Output Grafik Batang </a:t>
            </a:r>
            <a:endParaRPr/>
          </a:p>
        </p:txBody>
      </p:sp>
      <p:pic>
        <p:nvPicPr>
          <p:cNvPr id="402" name="Google Shape;402;p43"/>
          <p:cNvPicPr preferRelativeResize="0"/>
          <p:nvPr/>
        </p:nvPicPr>
        <p:blipFill>
          <a:blip r:embed="rId3">
            <a:alphaModFix/>
          </a:blip>
          <a:stretch>
            <a:fillRect/>
          </a:stretch>
        </p:blipFill>
        <p:spPr>
          <a:xfrm>
            <a:off x="507875" y="1273475"/>
            <a:ext cx="5391150" cy="356235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44"/>
          <p:cNvSpPr txBox="1"/>
          <p:nvPr>
            <p:ph type="title"/>
          </p:nvPr>
        </p:nvSpPr>
        <p:spPr>
          <a:xfrm>
            <a:off x="507875" y="265975"/>
            <a:ext cx="7724700" cy="10218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SzPts val="990"/>
              <a:buNone/>
            </a:pPr>
            <a:r>
              <a:rPr lang="en" sz="1800"/>
              <a:t>4.2 Rata-rata harian penjualan weekends (Sabtu dan Minggu) vs rata-rata harian penjualan weekdays (Senin-Jumat) keseluruhan 3 bulan tersebut</a:t>
            </a:r>
            <a:endParaRPr sz="1800"/>
          </a:p>
        </p:txBody>
      </p:sp>
      <p:pic>
        <p:nvPicPr>
          <p:cNvPr id="408" name="Google Shape;408;p44"/>
          <p:cNvPicPr preferRelativeResize="0"/>
          <p:nvPr/>
        </p:nvPicPr>
        <p:blipFill>
          <a:blip r:embed="rId3">
            <a:alphaModFix/>
          </a:blip>
          <a:stretch>
            <a:fillRect/>
          </a:stretch>
        </p:blipFill>
        <p:spPr>
          <a:xfrm>
            <a:off x="2035513" y="1507175"/>
            <a:ext cx="5072975" cy="316772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45"/>
          <p:cNvSpPr txBox="1"/>
          <p:nvPr>
            <p:ph type="title"/>
          </p:nvPr>
        </p:nvSpPr>
        <p:spPr>
          <a:xfrm>
            <a:off x="749750" y="1355625"/>
            <a:ext cx="4776000" cy="1300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chemeClr val="lt2"/>
                </a:solidFill>
              </a:rPr>
              <a:t>THANK</a:t>
            </a:r>
            <a:endParaRPr b="1">
              <a:solidFill>
                <a:schemeClr val="lt2"/>
              </a:solidFill>
            </a:endParaRPr>
          </a:p>
        </p:txBody>
      </p:sp>
      <p:sp>
        <p:nvSpPr>
          <p:cNvPr id="414" name="Google Shape;414;p45"/>
          <p:cNvSpPr txBox="1"/>
          <p:nvPr>
            <p:ph type="title"/>
          </p:nvPr>
        </p:nvSpPr>
        <p:spPr>
          <a:xfrm>
            <a:off x="834425" y="2402425"/>
            <a:ext cx="4776000" cy="1300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chemeClr val="lt2"/>
                </a:solidFill>
              </a:rPr>
              <a:t>YOU</a:t>
            </a:r>
            <a:endParaRPr b="1">
              <a:solidFill>
                <a:schemeClr val="lt2"/>
              </a:solidFill>
            </a:endParaRPr>
          </a:p>
        </p:txBody>
      </p:sp>
      <p:sp>
        <p:nvSpPr>
          <p:cNvPr id="415" name="Google Shape;415;p45"/>
          <p:cNvSpPr txBox="1"/>
          <p:nvPr>
            <p:ph idx="4294967295" type="subTitle"/>
          </p:nvPr>
        </p:nvSpPr>
        <p:spPr>
          <a:xfrm>
            <a:off x="834425" y="3703225"/>
            <a:ext cx="4022100" cy="709200"/>
          </a:xfrm>
          <a:prstGeom prst="rect">
            <a:avLst/>
          </a:prstGeom>
        </p:spPr>
        <p:txBody>
          <a:bodyPr anchorCtr="0" anchor="t" bIns="91425" lIns="91425" spcFirstLastPara="1" rIns="91425" wrap="square" tIns="91425">
            <a:noAutofit/>
          </a:bodyPr>
          <a:lstStyle/>
          <a:p>
            <a:pPr indent="0" lvl="0" marL="0" rtl="0" algn="l">
              <a:lnSpc>
                <a:spcPct val="80000"/>
              </a:lnSpc>
              <a:spcBef>
                <a:spcPts val="0"/>
              </a:spcBef>
              <a:spcAft>
                <a:spcPts val="0"/>
              </a:spcAft>
              <a:buNone/>
            </a:pPr>
            <a:r>
              <a:rPr b="1" lang="en" sz="1500"/>
              <a:t>KELOMPOK 3B BATCH 19</a:t>
            </a:r>
            <a:endParaRPr b="1" sz="1500"/>
          </a:p>
          <a:p>
            <a:pPr indent="0" lvl="0" marL="0" rtl="0" algn="l">
              <a:lnSpc>
                <a:spcPct val="80000"/>
              </a:lnSpc>
              <a:spcBef>
                <a:spcPts val="1200"/>
              </a:spcBef>
              <a:spcAft>
                <a:spcPts val="1200"/>
              </a:spcAft>
              <a:buNone/>
            </a:pPr>
            <a:r>
              <a:rPr b="1" lang="en" sz="1500">
                <a:solidFill>
                  <a:schemeClr val="lt2"/>
                </a:solidFill>
              </a:rPr>
              <a:t>MySkill </a:t>
            </a:r>
            <a:r>
              <a:rPr b="1" lang="en" sz="1500"/>
              <a:t>Final Project Data Analyst Batch 19</a:t>
            </a:r>
            <a:endParaRPr b="1" sz="15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