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
      <p:font typeface="Maven Pro SemiBold"/>
      <p:regular r:id="rId22"/>
      <p:bold r:id="rId23"/>
    </p:embeddedFont>
    <p:embeddedFont>
      <p:font typeface="Montserrat"/>
      <p:regular r:id="rId24"/>
      <p:bold r:id="rId25"/>
      <p:italic r:id="rId26"/>
      <p:boldItalic r:id="rId27"/>
    </p:embeddedFont>
    <p:embeddedFont>
      <p:font typeface="Montserrat Medium"/>
      <p:regular r:id="rId28"/>
      <p:bold r:id="rId29"/>
      <p:italic r:id="rId30"/>
      <p:boldItalic r:id="rId31"/>
    </p:embeddedFont>
    <p:embeddedFont>
      <p:font typeface="Maven Pro"/>
      <p:regular r:id="rId32"/>
      <p:bold r:id="rId33"/>
    </p:embeddedFont>
    <p:embeddedFont>
      <p:font typeface="Nunito ExtraBold"/>
      <p:bold r:id="rId34"/>
      <p:boldItalic r:id="rId35"/>
    </p:embeddedFont>
    <p:embeddedFont>
      <p:font typeface="Maven Pro Medium"/>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22" Type="http://schemas.openxmlformats.org/officeDocument/2006/relationships/font" Target="fonts/MavenProSemiBold-regular.fntdata"/><Relationship Id="rId21" Type="http://schemas.openxmlformats.org/officeDocument/2006/relationships/font" Target="fonts/Nunito-boldItalic.fntdata"/><Relationship Id="rId24" Type="http://schemas.openxmlformats.org/officeDocument/2006/relationships/font" Target="fonts/Montserrat-regular.fntdata"/><Relationship Id="rId23" Type="http://schemas.openxmlformats.org/officeDocument/2006/relationships/font" Target="fonts/MavenPro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MontserratMedium-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boldItalic.fntdata"/><Relationship Id="rId30" Type="http://schemas.openxmlformats.org/officeDocument/2006/relationships/font" Target="fonts/MontserratMedium-italic.fntdata"/><Relationship Id="rId11" Type="http://schemas.openxmlformats.org/officeDocument/2006/relationships/slide" Target="slides/slide6.xml"/><Relationship Id="rId33" Type="http://schemas.openxmlformats.org/officeDocument/2006/relationships/font" Target="fonts/MavenPro-bold.fntdata"/><Relationship Id="rId10" Type="http://schemas.openxmlformats.org/officeDocument/2006/relationships/slide" Target="slides/slide5.xml"/><Relationship Id="rId32" Type="http://schemas.openxmlformats.org/officeDocument/2006/relationships/font" Target="fonts/MavenPro-regular.fntdata"/><Relationship Id="rId13" Type="http://schemas.openxmlformats.org/officeDocument/2006/relationships/slide" Target="slides/slide8.xml"/><Relationship Id="rId35" Type="http://schemas.openxmlformats.org/officeDocument/2006/relationships/font" Target="fonts/NunitoExtraBold-boldItalic.fntdata"/><Relationship Id="rId12" Type="http://schemas.openxmlformats.org/officeDocument/2006/relationships/slide" Target="slides/slide7.xml"/><Relationship Id="rId34" Type="http://schemas.openxmlformats.org/officeDocument/2006/relationships/font" Target="fonts/NunitoExtraBold-bold.fntdata"/><Relationship Id="rId15" Type="http://schemas.openxmlformats.org/officeDocument/2006/relationships/slide" Target="slides/slide10.xml"/><Relationship Id="rId37" Type="http://schemas.openxmlformats.org/officeDocument/2006/relationships/font" Target="fonts/MavenProMedium-bold.fntdata"/><Relationship Id="rId14" Type="http://schemas.openxmlformats.org/officeDocument/2006/relationships/slide" Target="slides/slide9.xml"/><Relationship Id="rId36" Type="http://schemas.openxmlformats.org/officeDocument/2006/relationships/font" Target="fonts/MavenPro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Nunito-bold.fntdata"/><Relationship Id="rId1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e489e2cb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e489e2cb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1e489e2cb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1e489e2cb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1e489e2cb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1e489e2cb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e489e2cb0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e489e2cb0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1e489e2cb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1e489e2cb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e489e2cb0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1e489e2cb0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e489e2cb0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1e489e2cb0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1e489e2cb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1e489e2cb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e489e2cb0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1e489e2cb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3f0925e9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23f0925e9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e489e2cb0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1e489e2cb0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824000" y="1009650"/>
            <a:ext cx="5422200" cy="2709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4377">
                <a:latin typeface="Maven Pro SemiBold"/>
                <a:ea typeface="Maven Pro SemiBold"/>
                <a:cs typeface="Maven Pro SemiBold"/>
                <a:sym typeface="Maven Pro SemiBold"/>
              </a:rPr>
              <a:t>FINAL PROJECT</a:t>
            </a:r>
            <a:endParaRPr sz="4377">
              <a:latin typeface="Maven Pro SemiBold"/>
              <a:ea typeface="Maven Pro SemiBold"/>
              <a:cs typeface="Maven Pro SemiBold"/>
              <a:sym typeface="Maven Pro SemiBold"/>
            </a:endParaRPr>
          </a:p>
          <a:p>
            <a:pPr indent="0" lvl="0" marL="0" rtl="0" algn="ctr">
              <a:spcBef>
                <a:spcPts val="0"/>
              </a:spcBef>
              <a:spcAft>
                <a:spcPts val="0"/>
              </a:spcAft>
              <a:buNone/>
            </a:pPr>
            <a:r>
              <a:t/>
            </a:r>
            <a:endParaRPr sz="2044">
              <a:latin typeface="Maven Pro SemiBold"/>
              <a:ea typeface="Maven Pro SemiBold"/>
              <a:cs typeface="Maven Pro SemiBold"/>
              <a:sym typeface="Maven Pro SemiBold"/>
            </a:endParaRPr>
          </a:p>
          <a:p>
            <a:pPr indent="0" lvl="0" marL="0" rtl="0" algn="ctr">
              <a:spcBef>
                <a:spcPts val="0"/>
              </a:spcBef>
              <a:spcAft>
                <a:spcPts val="0"/>
              </a:spcAft>
              <a:buNone/>
            </a:pPr>
            <a:r>
              <a:rPr lang="en">
                <a:latin typeface="Maven Pro SemiBold"/>
                <a:ea typeface="Maven Pro SemiBold"/>
                <a:cs typeface="Maven Pro SemiBold"/>
                <a:sym typeface="Maven Pro SemiBold"/>
              </a:rPr>
              <a:t>D</a:t>
            </a:r>
            <a:r>
              <a:rPr lang="en">
                <a:latin typeface="Maven Pro SemiBold"/>
                <a:ea typeface="Maven Pro SemiBold"/>
                <a:cs typeface="Maven Pro SemiBold"/>
                <a:sym typeface="Maven Pro SemiBold"/>
              </a:rPr>
              <a:t>ata Visualization with Looker Studio</a:t>
            </a:r>
            <a:br>
              <a:rPr lang="en">
                <a:latin typeface="Maven Pro SemiBold"/>
                <a:ea typeface="Maven Pro SemiBold"/>
                <a:cs typeface="Maven Pro SemiBold"/>
                <a:sym typeface="Maven Pro SemiBold"/>
              </a:rPr>
            </a:br>
            <a:endParaRPr>
              <a:latin typeface="Maven Pro SemiBold"/>
              <a:ea typeface="Maven Pro SemiBold"/>
              <a:cs typeface="Maven Pro SemiBold"/>
              <a:sym typeface="Maven Pro SemiBold"/>
            </a:endParaRPr>
          </a:p>
        </p:txBody>
      </p:sp>
      <p:sp>
        <p:nvSpPr>
          <p:cNvPr id="129" name="Google Shape;129;p13"/>
          <p:cNvSpPr txBox="1"/>
          <p:nvPr>
            <p:ph idx="1" type="subTitle"/>
          </p:nvPr>
        </p:nvSpPr>
        <p:spPr>
          <a:xfrm>
            <a:off x="1254500" y="3257650"/>
            <a:ext cx="4561200" cy="6954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None/>
            </a:pPr>
            <a:r>
              <a:rPr lang="en">
                <a:latin typeface="Maven Pro SemiBold"/>
                <a:ea typeface="Maven Pro SemiBold"/>
                <a:cs typeface="Maven Pro SemiBold"/>
                <a:sym typeface="Maven Pro SemiBold"/>
              </a:rPr>
              <a:t>KELOMPOK 3B</a:t>
            </a:r>
            <a:br>
              <a:rPr lang="en">
                <a:latin typeface="Maven Pro SemiBold"/>
                <a:ea typeface="Maven Pro SemiBold"/>
                <a:cs typeface="Maven Pro SemiBold"/>
                <a:sym typeface="Maven Pro SemiBold"/>
              </a:rPr>
            </a:br>
            <a:endParaRPr>
              <a:latin typeface="Maven Pro SemiBold"/>
              <a:ea typeface="Maven Pro SemiBold"/>
              <a:cs typeface="Maven Pro SemiBold"/>
              <a:sym typeface="Maven Pro SemiBold"/>
            </a:endParaRPr>
          </a:p>
          <a:p>
            <a:pPr indent="0" lvl="0" marL="0" rtl="0" algn="ctr">
              <a:lnSpc>
                <a:spcPct val="70000"/>
              </a:lnSpc>
              <a:spcBef>
                <a:spcPts val="0"/>
              </a:spcBef>
              <a:spcAft>
                <a:spcPts val="0"/>
              </a:spcAft>
              <a:buNone/>
            </a:pPr>
            <a:r>
              <a:rPr lang="en">
                <a:solidFill>
                  <a:srgbClr val="82C7A5"/>
                </a:solidFill>
                <a:latin typeface="Maven Pro SemiBold"/>
                <a:ea typeface="Maven Pro SemiBold"/>
                <a:cs typeface="Maven Pro SemiBold"/>
                <a:sym typeface="Maven Pro SemiBold"/>
              </a:rPr>
              <a:t>MySkill </a:t>
            </a:r>
            <a:r>
              <a:rPr lang="en">
                <a:latin typeface="Maven Pro SemiBold"/>
                <a:ea typeface="Maven Pro SemiBold"/>
                <a:cs typeface="Maven Pro SemiBold"/>
                <a:sym typeface="Maven Pro SemiBold"/>
              </a:rPr>
              <a:t>Final Project Data Analyst Batch 19</a:t>
            </a:r>
            <a:endParaRPr sz="1700">
              <a:latin typeface="Maven Pro SemiBold"/>
              <a:ea typeface="Maven Pro SemiBold"/>
              <a:cs typeface="Maven Pro SemiBold"/>
              <a:sym typeface="Maven Pro SemiBold"/>
            </a:endParaRPr>
          </a:p>
        </p:txBody>
      </p:sp>
      <p:pic>
        <p:nvPicPr>
          <p:cNvPr id="130" name="Google Shape;130;p13"/>
          <p:cNvPicPr preferRelativeResize="0"/>
          <p:nvPr/>
        </p:nvPicPr>
        <p:blipFill>
          <a:blip r:embed="rId3">
            <a:alphaModFix/>
          </a:blip>
          <a:stretch>
            <a:fillRect/>
          </a:stretch>
        </p:blipFill>
        <p:spPr>
          <a:xfrm>
            <a:off x="5968525" y="1126250"/>
            <a:ext cx="2593000" cy="2593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2872925" y="268825"/>
            <a:ext cx="5377500" cy="8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Nunito ExtraBold"/>
                <a:ea typeface="Nunito ExtraBold"/>
                <a:cs typeface="Nunito ExtraBold"/>
                <a:sym typeface="Nunito ExtraBold"/>
              </a:rPr>
              <a:t>ANGGOTA KELOMPOK</a:t>
            </a:r>
            <a:endParaRPr>
              <a:latin typeface="Nunito ExtraBold"/>
              <a:ea typeface="Nunito ExtraBold"/>
              <a:cs typeface="Nunito ExtraBold"/>
              <a:sym typeface="Nunito ExtraBold"/>
            </a:endParaRPr>
          </a:p>
        </p:txBody>
      </p:sp>
      <p:sp>
        <p:nvSpPr>
          <p:cNvPr id="136" name="Google Shape;136;p14"/>
          <p:cNvSpPr/>
          <p:nvPr/>
        </p:nvSpPr>
        <p:spPr>
          <a:xfrm>
            <a:off x="372525" y="1432975"/>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AHMAD NOVAL</a:t>
            </a:r>
            <a:endParaRPr sz="1700">
              <a:solidFill>
                <a:schemeClr val="dk1"/>
              </a:solidFill>
              <a:latin typeface="Maven Pro Medium"/>
              <a:ea typeface="Maven Pro Medium"/>
              <a:cs typeface="Maven Pro Medium"/>
              <a:sym typeface="Maven Pro Medium"/>
            </a:endParaRPr>
          </a:p>
        </p:txBody>
      </p:sp>
      <p:sp>
        <p:nvSpPr>
          <p:cNvPr id="137" name="Google Shape;137;p14"/>
          <p:cNvSpPr/>
          <p:nvPr/>
        </p:nvSpPr>
        <p:spPr>
          <a:xfrm>
            <a:off x="372533" y="2047808"/>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BRE SYARESTAJI</a:t>
            </a:r>
            <a:endParaRPr sz="1700">
              <a:solidFill>
                <a:schemeClr val="dk1"/>
              </a:solidFill>
              <a:latin typeface="Maven Pro Medium"/>
              <a:ea typeface="Maven Pro Medium"/>
              <a:cs typeface="Maven Pro Medium"/>
              <a:sym typeface="Maven Pro Medium"/>
            </a:endParaRPr>
          </a:p>
        </p:txBody>
      </p:sp>
      <p:sp>
        <p:nvSpPr>
          <p:cNvPr id="138" name="Google Shape;138;p14"/>
          <p:cNvSpPr/>
          <p:nvPr/>
        </p:nvSpPr>
        <p:spPr>
          <a:xfrm>
            <a:off x="372533" y="2662633"/>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IMADUDDIN N.</a:t>
            </a:r>
            <a:endParaRPr sz="1700">
              <a:solidFill>
                <a:schemeClr val="dk1"/>
              </a:solidFill>
              <a:latin typeface="Maven Pro Medium"/>
              <a:ea typeface="Maven Pro Medium"/>
              <a:cs typeface="Maven Pro Medium"/>
              <a:sym typeface="Maven Pro Medium"/>
            </a:endParaRPr>
          </a:p>
        </p:txBody>
      </p:sp>
      <p:sp>
        <p:nvSpPr>
          <p:cNvPr id="139" name="Google Shape;139;p14"/>
          <p:cNvSpPr/>
          <p:nvPr/>
        </p:nvSpPr>
        <p:spPr>
          <a:xfrm>
            <a:off x="372533" y="3277458"/>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ADHITAMA IHZA P.</a:t>
            </a:r>
            <a:endParaRPr sz="1700">
              <a:solidFill>
                <a:schemeClr val="dk1"/>
              </a:solidFill>
              <a:latin typeface="Maven Pro Medium"/>
              <a:ea typeface="Maven Pro Medium"/>
              <a:cs typeface="Maven Pro Medium"/>
              <a:sym typeface="Maven Pro Medium"/>
            </a:endParaRPr>
          </a:p>
        </p:txBody>
      </p:sp>
      <p:sp>
        <p:nvSpPr>
          <p:cNvPr id="140" name="Google Shape;140;p14"/>
          <p:cNvSpPr/>
          <p:nvPr/>
        </p:nvSpPr>
        <p:spPr>
          <a:xfrm>
            <a:off x="372533" y="3892283"/>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DIAN NOVI</a:t>
            </a:r>
            <a:endParaRPr sz="1700">
              <a:solidFill>
                <a:schemeClr val="dk1"/>
              </a:solidFill>
              <a:latin typeface="Maven Pro Medium"/>
              <a:ea typeface="Maven Pro Medium"/>
              <a:cs typeface="Maven Pro Medium"/>
              <a:sym typeface="Maven Pro Medium"/>
            </a:endParaRPr>
          </a:p>
        </p:txBody>
      </p:sp>
      <p:sp>
        <p:nvSpPr>
          <p:cNvPr id="141" name="Google Shape;141;p14"/>
          <p:cNvSpPr/>
          <p:nvPr/>
        </p:nvSpPr>
        <p:spPr>
          <a:xfrm>
            <a:off x="2997208" y="1432983"/>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HAFIZHOH NUR A.</a:t>
            </a:r>
            <a:endParaRPr sz="1700">
              <a:solidFill>
                <a:schemeClr val="dk1"/>
              </a:solidFill>
              <a:latin typeface="Maven Pro Medium"/>
              <a:ea typeface="Maven Pro Medium"/>
              <a:cs typeface="Maven Pro Medium"/>
              <a:sym typeface="Maven Pro Medium"/>
            </a:endParaRPr>
          </a:p>
        </p:txBody>
      </p:sp>
      <p:sp>
        <p:nvSpPr>
          <p:cNvPr id="142" name="Google Shape;142;p14"/>
          <p:cNvSpPr/>
          <p:nvPr/>
        </p:nvSpPr>
        <p:spPr>
          <a:xfrm>
            <a:off x="2997208" y="2047808"/>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MARCELLIN S.W.</a:t>
            </a:r>
            <a:endParaRPr sz="1700">
              <a:solidFill>
                <a:schemeClr val="dk1"/>
              </a:solidFill>
              <a:latin typeface="Maven Pro Medium"/>
              <a:ea typeface="Maven Pro Medium"/>
              <a:cs typeface="Maven Pro Medium"/>
              <a:sym typeface="Maven Pro Medium"/>
            </a:endParaRPr>
          </a:p>
        </p:txBody>
      </p:sp>
      <p:sp>
        <p:nvSpPr>
          <p:cNvPr id="143" name="Google Shape;143;p14"/>
          <p:cNvSpPr/>
          <p:nvPr/>
        </p:nvSpPr>
        <p:spPr>
          <a:xfrm>
            <a:off x="2997208" y="2662633"/>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NABILA AYU K.</a:t>
            </a:r>
            <a:endParaRPr sz="1700">
              <a:solidFill>
                <a:schemeClr val="dk1"/>
              </a:solidFill>
              <a:latin typeface="Maven Pro Medium"/>
              <a:ea typeface="Maven Pro Medium"/>
              <a:cs typeface="Maven Pro Medium"/>
              <a:sym typeface="Maven Pro Medium"/>
            </a:endParaRPr>
          </a:p>
        </p:txBody>
      </p:sp>
      <p:sp>
        <p:nvSpPr>
          <p:cNvPr id="144" name="Google Shape;144;p14"/>
          <p:cNvSpPr/>
          <p:nvPr/>
        </p:nvSpPr>
        <p:spPr>
          <a:xfrm>
            <a:off x="2997208" y="3277458"/>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REVY RAFSANJANI</a:t>
            </a:r>
            <a:endParaRPr sz="1700">
              <a:solidFill>
                <a:schemeClr val="dk1"/>
              </a:solidFill>
              <a:latin typeface="Maven Pro Medium"/>
              <a:ea typeface="Maven Pro Medium"/>
              <a:cs typeface="Maven Pro Medium"/>
              <a:sym typeface="Maven Pro Medium"/>
            </a:endParaRPr>
          </a:p>
        </p:txBody>
      </p:sp>
      <p:sp>
        <p:nvSpPr>
          <p:cNvPr id="145" name="Google Shape;145;p14"/>
          <p:cNvSpPr/>
          <p:nvPr/>
        </p:nvSpPr>
        <p:spPr>
          <a:xfrm>
            <a:off x="2997208" y="3892283"/>
            <a:ext cx="2222400" cy="476400"/>
          </a:xfrm>
          <a:prstGeom prst="roundRect">
            <a:avLst>
              <a:gd fmla="val 16667" name="adj"/>
            </a:avLst>
          </a:prstGeom>
          <a:solidFill>
            <a:srgbClr val="233A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Maven Pro Medium"/>
                <a:ea typeface="Maven Pro Medium"/>
                <a:cs typeface="Maven Pro Medium"/>
                <a:sym typeface="Maven Pro Medium"/>
              </a:rPr>
              <a:t>MUH. ABI HIDAYAT</a:t>
            </a:r>
            <a:endParaRPr sz="1700">
              <a:solidFill>
                <a:schemeClr val="dk1"/>
              </a:solidFill>
              <a:latin typeface="Maven Pro Medium"/>
              <a:ea typeface="Maven Pro Medium"/>
              <a:cs typeface="Maven Pro Medium"/>
              <a:sym typeface="Maven Pro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idx="1" type="body"/>
          </p:nvPr>
        </p:nvSpPr>
        <p:spPr>
          <a:xfrm>
            <a:off x="594775" y="1192225"/>
            <a:ext cx="8085600" cy="492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440"/>
              <a:buNone/>
            </a:pPr>
            <a:r>
              <a:rPr lang="en" sz="1420">
                <a:latin typeface="Montserrat Medium"/>
                <a:ea typeface="Montserrat Medium"/>
                <a:cs typeface="Montserrat Medium"/>
                <a:sym typeface="Montserrat Medium"/>
              </a:rPr>
              <a:t>Data yang digunakan berasal dari Tokopedia </a:t>
            </a:r>
            <a:r>
              <a:rPr b="1" lang="en" sz="1420">
                <a:latin typeface="Montserrat"/>
                <a:ea typeface="Montserrat"/>
                <a:cs typeface="Montserrat"/>
                <a:sym typeface="Montserrat"/>
              </a:rPr>
              <a:t>(</a:t>
            </a:r>
            <a:r>
              <a:rPr b="1" lang="en" sz="1420">
                <a:latin typeface="Montserrat"/>
                <a:ea typeface="Montserrat"/>
                <a:cs typeface="Montserrat"/>
                <a:sym typeface="Montserrat"/>
              </a:rPr>
              <a:t>bukan data sesungguhnya)</a:t>
            </a:r>
            <a:r>
              <a:rPr lang="en" sz="1420">
                <a:latin typeface="Montserrat Medium"/>
                <a:ea typeface="Montserrat Medium"/>
                <a:cs typeface="Montserrat Medium"/>
                <a:sym typeface="Montserrat Medium"/>
              </a:rPr>
              <a:t>. Berikut adalah penjelasan mengenai dataset :</a:t>
            </a:r>
            <a:endParaRPr sz="1420">
              <a:latin typeface="Montserrat Medium"/>
              <a:ea typeface="Montserrat Medium"/>
              <a:cs typeface="Montserrat Medium"/>
              <a:sym typeface="Montserrat Medium"/>
            </a:endParaRPr>
          </a:p>
          <a:p>
            <a:pPr indent="0" lvl="0" marL="0" rtl="0" algn="l">
              <a:lnSpc>
                <a:spcPct val="95000"/>
              </a:lnSpc>
              <a:spcBef>
                <a:spcPts val="1200"/>
              </a:spcBef>
              <a:spcAft>
                <a:spcPts val="1200"/>
              </a:spcAft>
              <a:buSzPts val="440"/>
              <a:buNone/>
            </a:pPr>
            <a:r>
              <a:t/>
            </a:r>
            <a:endParaRPr sz="520">
              <a:latin typeface="Montserrat Medium"/>
              <a:ea typeface="Montserrat Medium"/>
              <a:cs typeface="Montserrat Medium"/>
              <a:sym typeface="Montserrat Medium"/>
            </a:endParaRPr>
          </a:p>
        </p:txBody>
      </p:sp>
      <p:sp>
        <p:nvSpPr>
          <p:cNvPr id="151" name="Google Shape;151;p15"/>
          <p:cNvSpPr/>
          <p:nvPr/>
        </p:nvSpPr>
        <p:spPr>
          <a:xfrm>
            <a:off x="520700" y="512225"/>
            <a:ext cx="3048000" cy="5820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2"/>
                </a:solidFill>
                <a:latin typeface="Montserrat"/>
                <a:ea typeface="Montserrat"/>
                <a:cs typeface="Montserrat"/>
                <a:sym typeface="Montserrat"/>
              </a:rPr>
              <a:t>DATA PREPARATION</a:t>
            </a:r>
            <a:endParaRPr b="1" sz="1700">
              <a:solidFill>
                <a:schemeClr val="dk2"/>
              </a:solidFill>
              <a:latin typeface="Montserrat"/>
              <a:ea typeface="Montserrat"/>
              <a:cs typeface="Montserrat"/>
              <a:sym typeface="Montserrat"/>
            </a:endParaRPr>
          </a:p>
        </p:txBody>
      </p:sp>
      <p:pic>
        <p:nvPicPr>
          <p:cNvPr id="152" name="Google Shape;152;p15"/>
          <p:cNvPicPr preferRelativeResize="0"/>
          <p:nvPr/>
        </p:nvPicPr>
        <p:blipFill>
          <a:blip r:embed="rId3">
            <a:alphaModFix/>
          </a:blip>
          <a:stretch>
            <a:fillRect/>
          </a:stretch>
        </p:blipFill>
        <p:spPr>
          <a:xfrm>
            <a:off x="2419851" y="1782225"/>
            <a:ext cx="4435451" cy="2892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6"/>
          <p:cNvSpPr txBox="1"/>
          <p:nvPr>
            <p:ph idx="1" type="body"/>
          </p:nvPr>
        </p:nvSpPr>
        <p:spPr>
          <a:xfrm>
            <a:off x="529200" y="1250438"/>
            <a:ext cx="8085600" cy="492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440"/>
              <a:buNone/>
            </a:pPr>
            <a:r>
              <a:rPr lang="en" sz="1420">
                <a:latin typeface="Montserrat Medium"/>
                <a:ea typeface="Montserrat Medium"/>
                <a:cs typeface="Montserrat Medium"/>
                <a:sym typeface="Montserrat Medium"/>
              </a:rPr>
              <a:t>Bentuk dan struktur Dataset yang digunakan :</a:t>
            </a:r>
            <a:endParaRPr sz="520">
              <a:latin typeface="Montserrat Medium"/>
              <a:ea typeface="Montserrat Medium"/>
              <a:cs typeface="Montserrat Medium"/>
              <a:sym typeface="Montserrat Medium"/>
            </a:endParaRPr>
          </a:p>
        </p:txBody>
      </p:sp>
      <p:sp>
        <p:nvSpPr>
          <p:cNvPr id="158" name="Google Shape;158;p16"/>
          <p:cNvSpPr/>
          <p:nvPr/>
        </p:nvSpPr>
        <p:spPr>
          <a:xfrm>
            <a:off x="520700" y="512225"/>
            <a:ext cx="3048000" cy="5820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2"/>
                </a:solidFill>
                <a:latin typeface="Montserrat"/>
                <a:ea typeface="Montserrat"/>
                <a:cs typeface="Montserrat"/>
                <a:sym typeface="Montserrat"/>
              </a:rPr>
              <a:t>DATA PREPARATION</a:t>
            </a:r>
            <a:endParaRPr b="1" sz="1700">
              <a:solidFill>
                <a:schemeClr val="dk2"/>
              </a:solidFill>
              <a:latin typeface="Montserrat"/>
              <a:ea typeface="Montserrat"/>
              <a:cs typeface="Montserrat"/>
              <a:sym typeface="Montserrat"/>
            </a:endParaRPr>
          </a:p>
        </p:txBody>
      </p:sp>
      <p:pic>
        <p:nvPicPr>
          <p:cNvPr id="159" name="Google Shape;159;p16"/>
          <p:cNvPicPr preferRelativeResize="0"/>
          <p:nvPr/>
        </p:nvPicPr>
        <p:blipFill>
          <a:blip r:embed="rId3">
            <a:alphaModFix/>
          </a:blip>
          <a:stretch>
            <a:fillRect/>
          </a:stretch>
        </p:blipFill>
        <p:spPr>
          <a:xfrm>
            <a:off x="1018888" y="1742450"/>
            <a:ext cx="7106225" cy="30242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txBox="1"/>
          <p:nvPr>
            <p:ph idx="1" type="body"/>
          </p:nvPr>
        </p:nvSpPr>
        <p:spPr>
          <a:xfrm>
            <a:off x="529200" y="1165801"/>
            <a:ext cx="8085600" cy="558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440"/>
              <a:buNone/>
            </a:pPr>
            <a:r>
              <a:rPr lang="en" sz="1420">
                <a:latin typeface="Montserrat Medium"/>
                <a:ea typeface="Montserrat Medium"/>
                <a:cs typeface="Montserrat Medium"/>
                <a:sym typeface="Montserrat Medium"/>
              </a:rPr>
              <a:t>Tampilan Awal Halaman Looker Studio untuk memulai pengerjaan Data Visualization Task</a:t>
            </a:r>
            <a:endParaRPr sz="520">
              <a:latin typeface="Montserrat Medium"/>
              <a:ea typeface="Montserrat Medium"/>
              <a:cs typeface="Montserrat Medium"/>
              <a:sym typeface="Montserrat Medium"/>
            </a:endParaRPr>
          </a:p>
        </p:txBody>
      </p:sp>
      <p:sp>
        <p:nvSpPr>
          <p:cNvPr id="165" name="Google Shape;165;p17"/>
          <p:cNvSpPr/>
          <p:nvPr/>
        </p:nvSpPr>
        <p:spPr>
          <a:xfrm>
            <a:off x="520700" y="512225"/>
            <a:ext cx="3048000" cy="5820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2"/>
                </a:solidFill>
                <a:latin typeface="Montserrat"/>
                <a:ea typeface="Montserrat"/>
                <a:cs typeface="Montserrat"/>
                <a:sym typeface="Montserrat"/>
              </a:rPr>
              <a:t>DATA PREPARATION</a:t>
            </a:r>
            <a:endParaRPr b="1" sz="1700">
              <a:solidFill>
                <a:schemeClr val="dk2"/>
              </a:solidFill>
              <a:latin typeface="Montserrat"/>
              <a:ea typeface="Montserrat"/>
              <a:cs typeface="Montserrat"/>
              <a:sym typeface="Montserrat"/>
            </a:endParaRPr>
          </a:p>
        </p:txBody>
      </p:sp>
      <p:pic>
        <p:nvPicPr>
          <p:cNvPr id="166" name="Google Shape;166;p17"/>
          <p:cNvPicPr preferRelativeResize="0"/>
          <p:nvPr/>
        </p:nvPicPr>
        <p:blipFill>
          <a:blip r:embed="rId3">
            <a:alphaModFix/>
          </a:blip>
          <a:stretch>
            <a:fillRect/>
          </a:stretch>
        </p:blipFill>
        <p:spPr>
          <a:xfrm>
            <a:off x="1697575" y="1724700"/>
            <a:ext cx="5945750" cy="3005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idx="1" type="body"/>
          </p:nvPr>
        </p:nvSpPr>
        <p:spPr>
          <a:xfrm>
            <a:off x="375150" y="266100"/>
            <a:ext cx="8085600" cy="4468800"/>
          </a:xfrm>
          <a:prstGeom prst="rect">
            <a:avLst/>
          </a:prstGeom>
        </p:spPr>
        <p:txBody>
          <a:bodyPr anchorCtr="0" anchor="b" bIns="91425" lIns="91425" spcFirstLastPara="1" rIns="91425" wrap="square" tIns="91425">
            <a:noAutofit/>
          </a:bodyPr>
          <a:lstStyle/>
          <a:p>
            <a:pPr indent="0" lvl="0" marL="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D</a:t>
            </a:r>
            <a:r>
              <a:rPr lang="en" sz="1200">
                <a:latin typeface="Maven Pro Medium"/>
                <a:ea typeface="Maven Pro Medium"/>
                <a:cs typeface="Maven Pro Medium"/>
                <a:sym typeface="Maven Pro Medium"/>
              </a:rPr>
              <a:t>ear Data Analyst,</a:t>
            </a:r>
            <a:endParaRPr sz="1200">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t/>
            </a:r>
            <a:endParaRPr sz="1200">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Menindaklanjuti meeting gabungan kemarin, kami akan membuat suatu </a:t>
            </a:r>
            <a:r>
              <a:rPr b="1" lang="en" sz="1200">
                <a:latin typeface="Maven Pro"/>
                <a:ea typeface="Maven Pro"/>
                <a:cs typeface="Maven Pro"/>
                <a:sym typeface="Maven Pro"/>
              </a:rPr>
              <a:t>dashboard</a:t>
            </a:r>
            <a:r>
              <a:rPr lang="en" sz="1200">
                <a:latin typeface="Maven Pro Medium"/>
                <a:ea typeface="Maven Pro Medium"/>
                <a:cs typeface="Maven Pro Medium"/>
                <a:sym typeface="Maven Pro Medium"/>
              </a:rPr>
              <a:t> untuk memantau dan mengevaluasi pencapaian penjualan tiap bulannya. Dalam dashboard tersebut akan terdiri dari 2 halaman dan dibuat dengan menggunakan </a:t>
            </a:r>
            <a:r>
              <a:rPr b="1" i="1" lang="en" sz="1200">
                <a:latin typeface="Maven Pro"/>
                <a:ea typeface="Maven Pro"/>
                <a:cs typeface="Maven Pro"/>
                <a:sym typeface="Maven Pro"/>
              </a:rPr>
              <a:t>lookerstudio.google.com.</a:t>
            </a:r>
            <a:endParaRPr b="1" i="1" sz="1200">
              <a:latin typeface="Maven Pro"/>
              <a:ea typeface="Maven Pro"/>
              <a:cs typeface="Maven Pro"/>
              <a:sym typeface="Maven Pro"/>
            </a:endParaRPr>
          </a:p>
          <a:p>
            <a:pPr indent="0" lvl="0" marL="0" rtl="0" algn="just">
              <a:lnSpc>
                <a:spcPct val="115000"/>
              </a:lnSpc>
              <a:spcBef>
                <a:spcPts val="0"/>
              </a:spcBef>
              <a:spcAft>
                <a:spcPts val="0"/>
              </a:spcAft>
              <a:buSzPts val="440"/>
              <a:buNone/>
            </a:pPr>
            <a:r>
              <a:t/>
            </a:r>
            <a:endParaRPr sz="1200">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rPr b="1" lang="en" sz="1200">
                <a:latin typeface="Maven Pro"/>
                <a:ea typeface="Maven Pro"/>
                <a:cs typeface="Maven Pro"/>
                <a:sym typeface="Maven Pro"/>
              </a:rPr>
              <a:t>Halaman 1:</a:t>
            </a:r>
            <a:endParaRPr b="1" sz="1200">
              <a:latin typeface="Maven Pro"/>
              <a:ea typeface="Maven Pro"/>
              <a:cs typeface="Maven Pro"/>
              <a:sym typeface="Maven Pro"/>
            </a:endParaRPr>
          </a:p>
          <a:p>
            <a:pPr indent="0" lvl="0" marL="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Tim marketing ingin melihat perkembangan campaign pada tahun 2022, trend nya seperti apa? Diberikan penjelasan dan bagaimana call to action-nya agar tim dapat mengambil sebuah keputusan ke depannya.</a:t>
            </a:r>
            <a:endParaRPr sz="1200">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Dashboard yang berupa:</a:t>
            </a:r>
            <a:endParaRPr sz="1200">
              <a:latin typeface="Maven Pro Medium"/>
              <a:ea typeface="Maven Pro Medium"/>
              <a:cs typeface="Maven Pro Medium"/>
              <a:sym typeface="Maven Pro Medium"/>
            </a:endParaRPr>
          </a:p>
          <a:p>
            <a:pPr indent="-304800" lvl="0" marL="457200" rtl="0" algn="just">
              <a:lnSpc>
                <a:spcPct val="115000"/>
              </a:lnSpc>
              <a:spcBef>
                <a:spcPts val="0"/>
              </a:spcBef>
              <a:spcAft>
                <a:spcPts val="0"/>
              </a:spcAft>
              <a:buSzPts val="1200"/>
              <a:buFont typeface="Maven Pro"/>
              <a:buAutoNum type="alphaLcPeriod"/>
            </a:pPr>
            <a:r>
              <a:rPr b="1" lang="en" sz="1200">
                <a:latin typeface="Maven Pro"/>
                <a:ea typeface="Maven Pro"/>
                <a:cs typeface="Maven Pro"/>
                <a:sym typeface="Maven Pro"/>
              </a:rPr>
              <a:t>Hubungan antara Value Sales (before discount), Net Profit, dan AOV (average order value).</a:t>
            </a:r>
            <a:endParaRPr b="1" sz="1200">
              <a:latin typeface="Maven Pro"/>
              <a:ea typeface="Maven Pro"/>
              <a:cs typeface="Maven Pro"/>
              <a:sym typeface="Maven Pro"/>
            </a:endParaRPr>
          </a:p>
          <a:p>
            <a:pPr indent="457200" lvl="0" marL="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Note:</a:t>
            </a:r>
            <a:endParaRPr sz="1200">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Net profit 	= Value Sales (before discount) - (cogs * qty)</a:t>
            </a:r>
            <a:endParaRPr sz="1200">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AOV 		= Value Sales (before discount) / Total Unique Order.  </a:t>
            </a:r>
            <a:endParaRPr sz="1200">
              <a:latin typeface="Maven Pro Medium"/>
              <a:ea typeface="Maven Pro Medium"/>
              <a:cs typeface="Maven Pro Medium"/>
              <a:sym typeface="Maven Pro Medium"/>
            </a:endParaRPr>
          </a:p>
          <a:p>
            <a:pPr indent="-304800" lvl="0" marL="457200" rtl="0" algn="just">
              <a:lnSpc>
                <a:spcPct val="115000"/>
              </a:lnSpc>
              <a:spcBef>
                <a:spcPts val="0"/>
              </a:spcBef>
              <a:spcAft>
                <a:spcPts val="0"/>
              </a:spcAft>
              <a:buSzPts val="1200"/>
              <a:buFont typeface="Maven Pro"/>
              <a:buAutoNum type="alphaLcPeriod"/>
            </a:pPr>
            <a:r>
              <a:rPr b="1" lang="en" sz="1200">
                <a:latin typeface="Maven Pro"/>
                <a:ea typeface="Maven Pro"/>
                <a:cs typeface="Maven Pro"/>
                <a:sym typeface="Maven Pro"/>
              </a:rPr>
              <a:t>Terdapat slicer Order Date, Category, Sales Value, Value Transaction, Payment.</a:t>
            </a:r>
            <a:endParaRPr b="1" sz="1200">
              <a:latin typeface="Maven Pro"/>
              <a:ea typeface="Maven Pro"/>
              <a:cs typeface="Maven Pro"/>
              <a:sym typeface="Maven Pro"/>
            </a:endParaRPr>
          </a:p>
          <a:p>
            <a:pPr indent="0" lvl="0" marL="4572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Note:</a:t>
            </a:r>
            <a:endParaRPr sz="1200">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Value Transaction:</a:t>
            </a:r>
            <a:endParaRPr sz="1200">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Valid → is_valid = 1</a:t>
            </a:r>
            <a:endParaRPr sz="1200">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Not Valid → is_valid = 0</a:t>
            </a:r>
            <a:endParaRPr sz="1200">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Payment → payment_method</a:t>
            </a:r>
            <a:endParaRPr sz="1200">
              <a:latin typeface="Maven Pro Medium"/>
              <a:ea typeface="Maven Pro Medium"/>
              <a:cs typeface="Maven Pro Medium"/>
              <a:sym typeface="Maven Pro Medium"/>
            </a:endParaRPr>
          </a:p>
        </p:txBody>
      </p:sp>
      <p:sp>
        <p:nvSpPr>
          <p:cNvPr id="172" name="Google Shape;172;p18"/>
          <p:cNvSpPr/>
          <p:nvPr/>
        </p:nvSpPr>
        <p:spPr>
          <a:xfrm>
            <a:off x="5989225" y="4285200"/>
            <a:ext cx="2617200" cy="449700"/>
          </a:xfrm>
          <a:prstGeom prst="roundRect">
            <a:avLst>
              <a:gd fmla="val 16667" name="adj"/>
            </a:avLst>
          </a:prstGeom>
          <a:solidFill>
            <a:srgbClr val="82C7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233A44"/>
                </a:solidFill>
                <a:latin typeface="Montserrat"/>
                <a:ea typeface="Montserrat"/>
                <a:cs typeface="Montserrat"/>
                <a:sym typeface="Montserrat"/>
              </a:rPr>
              <a:t>REQUEST PAGE - 1</a:t>
            </a:r>
            <a:endParaRPr b="1" sz="1700">
              <a:solidFill>
                <a:srgbClr val="233A44"/>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19"/>
          <p:cNvPicPr preferRelativeResize="0"/>
          <p:nvPr/>
        </p:nvPicPr>
        <p:blipFill>
          <a:blip r:embed="rId3">
            <a:alphaModFix/>
          </a:blip>
          <a:stretch>
            <a:fillRect/>
          </a:stretch>
        </p:blipFill>
        <p:spPr>
          <a:xfrm>
            <a:off x="1243850" y="257350"/>
            <a:ext cx="6533424" cy="4284451"/>
          </a:xfrm>
          <a:prstGeom prst="rect">
            <a:avLst/>
          </a:prstGeom>
          <a:noFill/>
          <a:ln>
            <a:noFill/>
          </a:ln>
        </p:spPr>
      </p:pic>
      <p:sp>
        <p:nvSpPr>
          <p:cNvPr id="178" name="Google Shape;178;p19"/>
          <p:cNvSpPr/>
          <p:nvPr/>
        </p:nvSpPr>
        <p:spPr>
          <a:xfrm>
            <a:off x="5570550" y="4285200"/>
            <a:ext cx="3036000" cy="449700"/>
          </a:xfrm>
          <a:prstGeom prst="roundRect">
            <a:avLst>
              <a:gd fmla="val 16667" name="adj"/>
            </a:avLst>
          </a:prstGeom>
          <a:solidFill>
            <a:srgbClr val="82C7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233A44"/>
                </a:solidFill>
                <a:latin typeface="Montserrat"/>
                <a:ea typeface="Montserrat"/>
                <a:cs typeface="Montserrat"/>
                <a:sym typeface="Montserrat"/>
              </a:rPr>
              <a:t>DASHBOARD PAGE </a:t>
            </a:r>
            <a:r>
              <a:rPr b="1" lang="en" sz="1700">
                <a:solidFill>
                  <a:srgbClr val="233A44"/>
                </a:solidFill>
                <a:latin typeface="Montserrat"/>
                <a:ea typeface="Montserrat"/>
                <a:cs typeface="Montserrat"/>
                <a:sym typeface="Montserrat"/>
              </a:rPr>
              <a:t>- 1</a:t>
            </a:r>
            <a:endParaRPr b="1" sz="1700">
              <a:solidFill>
                <a:srgbClr val="233A44"/>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p:nvPr/>
        </p:nvSpPr>
        <p:spPr>
          <a:xfrm>
            <a:off x="483575" y="422875"/>
            <a:ext cx="4417200" cy="450000"/>
          </a:xfrm>
          <a:prstGeom prst="roundRect">
            <a:avLst>
              <a:gd fmla="val 16667" name="adj"/>
            </a:avLst>
          </a:prstGeom>
          <a:solidFill>
            <a:srgbClr val="82C7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233A44"/>
                </a:solidFill>
                <a:latin typeface="Montserrat"/>
                <a:ea typeface="Montserrat"/>
                <a:cs typeface="Montserrat"/>
                <a:sym typeface="Montserrat"/>
              </a:rPr>
              <a:t>RESULT &amp; INSIGHT REQUEST PAGE - 1</a:t>
            </a:r>
            <a:endParaRPr b="1" sz="1700">
              <a:solidFill>
                <a:srgbClr val="233A44"/>
              </a:solidFill>
              <a:latin typeface="Montserrat"/>
              <a:ea typeface="Montserrat"/>
              <a:cs typeface="Montserrat"/>
              <a:sym typeface="Montserrat"/>
            </a:endParaRPr>
          </a:p>
        </p:txBody>
      </p:sp>
      <p:pic>
        <p:nvPicPr>
          <p:cNvPr id="184" name="Google Shape;184;p20"/>
          <p:cNvPicPr preferRelativeResize="0"/>
          <p:nvPr/>
        </p:nvPicPr>
        <p:blipFill>
          <a:blip r:embed="rId3">
            <a:alphaModFix/>
          </a:blip>
          <a:stretch>
            <a:fillRect/>
          </a:stretch>
        </p:blipFill>
        <p:spPr>
          <a:xfrm>
            <a:off x="390737" y="1009025"/>
            <a:ext cx="4602874" cy="3735999"/>
          </a:xfrm>
          <a:prstGeom prst="rect">
            <a:avLst/>
          </a:prstGeom>
          <a:noFill/>
          <a:ln>
            <a:noFill/>
          </a:ln>
        </p:spPr>
      </p:pic>
      <p:sp>
        <p:nvSpPr>
          <p:cNvPr id="185" name="Google Shape;185;p20"/>
          <p:cNvSpPr txBox="1"/>
          <p:nvPr>
            <p:ph idx="1" type="body"/>
          </p:nvPr>
        </p:nvSpPr>
        <p:spPr>
          <a:xfrm>
            <a:off x="5081975" y="1407750"/>
            <a:ext cx="3419100" cy="2370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None/>
            </a:pPr>
            <a:r>
              <a:rPr lang="en" sz="1400">
                <a:solidFill>
                  <a:srgbClr val="000000"/>
                </a:solidFill>
                <a:latin typeface="Maven Pro Medium"/>
                <a:ea typeface="Maven Pro Medium"/>
                <a:cs typeface="Maven Pro Medium"/>
                <a:sym typeface="Maven Pro Medium"/>
              </a:rPr>
              <a:t>Pada halaman 1, terlihat adanya fluktuasi signifikan dalam kinerja campaign selama tahun 2022, dengan penurunan tajam yang terjadi dari oktober hingga desember. Penurunan ini memengaruhi angka penjualan, laba bersih, serta rata-rata nilai pesanan yang turut mengalami penurunan secara mencolok.</a:t>
            </a:r>
            <a:endParaRPr sz="1400">
              <a:solidFill>
                <a:srgbClr val="000000"/>
              </a:solidFill>
              <a:latin typeface="Maven Pro Medium"/>
              <a:ea typeface="Maven Pro Medium"/>
              <a:cs typeface="Maven Pro Medium"/>
              <a:sym typeface="Maven Pro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idx="1" type="body"/>
          </p:nvPr>
        </p:nvSpPr>
        <p:spPr>
          <a:xfrm>
            <a:off x="364675" y="324475"/>
            <a:ext cx="4207200" cy="4410300"/>
          </a:xfrm>
          <a:prstGeom prst="rect">
            <a:avLst/>
          </a:prstGeom>
        </p:spPr>
        <p:txBody>
          <a:bodyPr anchorCtr="0" anchor="b" bIns="91425" lIns="91425" spcFirstLastPara="1" rIns="91425" wrap="square" tIns="91425">
            <a:noAutofit/>
          </a:bodyPr>
          <a:lstStyle/>
          <a:p>
            <a:pPr indent="0" lvl="0" marL="0" rtl="0" algn="just">
              <a:lnSpc>
                <a:spcPct val="115000"/>
              </a:lnSpc>
              <a:spcBef>
                <a:spcPts val="0"/>
              </a:spcBef>
              <a:spcAft>
                <a:spcPts val="0"/>
              </a:spcAft>
              <a:buSzPts val="440"/>
              <a:buNone/>
            </a:pPr>
            <a:r>
              <a:rPr b="1" lang="en" sz="1200">
                <a:latin typeface="Maven Pro"/>
                <a:ea typeface="Maven Pro"/>
                <a:cs typeface="Maven Pro"/>
                <a:sym typeface="Maven Pro"/>
              </a:rPr>
              <a:t>Halaman 2</a:t>
            </a:r>
            <a:endParaRPr b="1" sz="1200">
              <a:latin typeface="Maven Pro"/>
              <a:ea typeface="Maven Pro"/>
              <a:cs typeface="Maven Pro"/>
              <a:sym typeface="Maven Pro"/>
            </a:endParaRPr>
          </a:p>
          <a:p>
            <a:pPr indent="0" lvl="0" marL="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Dapat memperlihatkan:</a:t>
            </a:r>
            <a:endParaRPr sz="1200">
              <a:latin typeface="Maven Pro Medium"/>
              <a:ea typeface="Maven Pro Medium"/>
              <a:cs typeface="Maven Pro Medium"/>
              <a:sym typeface="Maven Pro Medium"/>
            </a:endParaRPr>
          </a:p>
          <a:p>
            <a:pPr indent="-304800" lvl="0" marL="800100" rtl="0" algn="just">
              <a:lnSpc>
                <a:spcPct val="115000"/>
              </a:lnSpc>
              <a:spcBef>
                <a:spcPts val="0"/>
              </a:spcBef>
              <a:spcAft>
                <a:spcPts val="0"/>
              </a:spcAft>
              <a:buSzPts val="1200"/>
              <a:buFont typeface="Maven Pro"/>
              <a:buAutoNum type="alphaLcPeriod"/>
            </a:pPr>
            <a:r>
              <a:rPr b="1" lang="en" sz="1200">
                <a:latin typeface="Maven Pro"/>
                <a:ea typeface="Maven Pro"/>
                <a:cs typeface="Maven Pro"/>
                <a:sym typeface="Maven Pro"/>
              </a:rPr>
              <a:t>Tabel berisi:</a:t>
            </a:r>
            <a:endParaRPr b="1" sz="1200">
              <a:latin typeface="Maven Pro"/>
              <a:ea typeface="Maven Pro"/>
              <a:cs typeface="Maven Pro"/>
              <a:sym typeface="Maven Pro"/>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Product Name</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Category</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Before Discount</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After Discount</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Net Profit</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Qty</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Customer (unique value)</a:t>
            </a:r>
            <a:endParaRPr sz="1200">
              <a:latin typeface="Maven Pro Medium"/>
              <a:ea typeface="Maven Pro Medium"/>
              <a:cs typeface="Maven Pro Medium"/>
              <a:sym typeface="Maven Pro Medium"/>
            </a:endParaRPr>
          </a:p>
          <a:p>
            <a:pPr indent="-304800" lvl="0" marL="800100" rtl="0" algn="just">
              <a:lnSpc>
                <a:spcPct val="115000"/>
              </a:lnSpc>
              <a:spcBef>
                <a:spcPts val="0"/>
              </a:spcBef>
              <a:spcAft>
                <a:spcPts val="0"/>
              </a:spcAft>
              <a:buSzPts val="1200"/>
              <a:buFont typeface="Maven Pro"/>
              <a:buAutoNum type="alphaLcPeriod"/>
            </a:pPr>
            <a:r>
              <a:rPr b="1" lang="en" sz="1200">
                <a:latin typeface="Maven Pro"/>
                <a:ea typeface="Maven Pro"/>
                <a:cs typeface="Maven Pro"/>
                <a:sym typeface="Maven Pro"/>
              </a:rPr>
              <a:t>Terdapat slicer: Order Date, Category, Value Transaction, Payment</a:t>
            </a:r>
            <a:endParaRPr b="1" sz="1200">
              <a:latin typeface="Maven Pro"/>
              <a:ea typeface="Maven Pro"/>
              <a:cs typeface="Maven Pro"/>
              <a:sym typeface="Maven Pro"/>
            </a:endParaRPr>
          </a:p>
          <a:p>
            <a:pPr indent="-304800" lvl="0" marL="800100" rtl="0" algn="just">
              <a:lnSpc>
                <a:spcPct val="115000"/>
              </a:lnSpc>
              <a:spcBef>
                <a:spcPts val="0"/>
              </a:spcBef>
              <a:spcAft>
                <a:spcPts val="0"/>
              </a:spcAft>
              <a:buSzPts val="1200"/>
              <a:buFont typeface="Maven Pro"/>
              <a:buAutoNum type="alphaLcPeriod"/>
            </a:pPr>
            <a:r>
              <a:rPr b="1" lang="en" sz="1200">
                <a:latin typeface="Maven Pro"/>
                <a:ea typeface="Maven Pro"/>
                <a:cs typeface="Maven Pro"/>
                <a:sym typeface="Maven Pro"/>
              </a:rPr>
              <a:t> Scorecard:</a:t>
            </a:r>
            <a:endParaRPr b="1" sz="1200">
              <a:latin typeface="Maven Pro"/>
              <a:ea typeface="Maven Pro"/>
              <a:cs typeface="Maven Pro"/>
              <a:sym typeface="Maven Pro"/>
            </a:endParaRPr>
          </a:p>
          <a:p>
            <a:pPr indent="457200" lvl="0" marL="457200" rtl="0" algn="just">
              <a:lnSpc>
                <a:spcPct val="115000"/>
              </a:lnSpc>
              <a:spcBef>
                <a:spcPts val="0"/>
              </a:spcBef>
              <a:spcAft>
                <a:spcPts val="0"/>
              </a:spcAft>
              <a:buNone/>
            </a:pPr>
            <a:r>
              <a:rPr lang="en" sz="1200">
                <a:latin typeface="Maven Pro Medium"/>
                <a:ea typeface="Maven Pro Medium"/>
                <a:cs typeface="Maven Pro Medium"/>
                <a:sym typeface="Maven Pro Medium"/>
              </a:rPr>
              <a:t>&gt; Before Discount</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After Discount</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Net Profit</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Quantity</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Customer (unique value)</a:t>
            </a:r>
            <a:endParaRPr sz="1200">
              <a:latin typeface="Maven Pro Medium"/>
              <a:ea typeface="Maven Pro Medium"/>
              <a:cs typeface="Maven Pro Medium"/>
              <a:sym typeface="Maven Pro Medium"/>
            </a:endParaRPr>
          </a:p>
          <a:p>
            <a:pPr indent="0" lvl="0" marL="914400" rtl="0" algn="just">
              <a:lnSpc>
                <a:spcPct val="115000"/>
              </a:lnSpc>
              <a:spcBef>
                <a:spcPts val="0"/>
              </a:spcBef>
              <a:spcAft>
                <a:spcPts val="0"/>
              </a:spcAft>
              <a:buSzPts val="440"/>
              <a:buNone/>
            </a:pPr>
            <a:r>
              <a:rPr lang="en" sz="1200">
                <a:latin typeface="Maven Pro Medium"/>
                <a:ea typeface="Maven Pro Medium"/>
                <a:cs typeface="Maven Pro Medium"/>
                <a:sym typeface="Maven Pro Medium"/>
              </a:rPr>
              <a:t>&gt; AOV</a:t>
            </a:r>
            <a:endParaRPr sz="1200">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t/>
            </a:r>
            <a:endParaRPr sz="1200">
              <a:latin typeface="Maven Pro Medium"/>
              <a:ea typeface="Maven Pro Medium"/>
              <a:cs typeface="Maven Pro Medium"/>
              <a:sym typeface="Maven Pro Medium"/>
            </a:endParaRPr>
          </a:p>
        </p:txBody>
      </p:sp>
      <p:sp>
        <p:nvSpPr>
          <p:cNvPr id="191" name="Google Shape;191;p21"/>
          <p:cNvSpPr/>
          <p:nvPr/>
        </p:nvSpPr>
        <p:spPr>
          <a:xfrm>
            <a:off x="5989225" y="4285200"/>
            <a:ext cx="2617200" cy="449700"/>
          </a:xfrm>
          <a:prstGeom prst="roundRect">
            <a:avLst>
              <a:gd fmla="val 16667" name="adj"/>
            </a:avLst>
          </a:prstGeom>
          <a:solidFill>
            <a:srgbClr val="82C7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233A44"/>
                </a:solidFill>
                <a:latin typeface="Montserrat"/>
                <a:ea typeface="Montserrat"/>
                <a:cs typeface="Montserrat"/>
                <a:sym typeface="Montserrat"/>
              </a:rPr>
              <a:t>REQUEST PAGE - 2</a:t>
            </a:r>
            <a:endParaRPr b="1" sz="1700">
              <a:solidFill>
                <a:srgbClr val="233A44"/>
              </a:solidFill>
              <a:latin typeface="Montserrat"/>
              <a:ea typeface="Montserrat"/>
              <a:cs typeface="Montserrat"/>
              <a:sym typeface="Montserrat"/>
            </a:endParaRPr>
          </a:p>
        </p:txBody>
      </p:sp>
      <p:sp>
        <p:nvSpPr>
          <p:cNvPr id="192" name="Google Shape;192;p21"/>
          <p:cNvSpPr txBox="1"/>
          <p:nvPr>
            <p:ph idx="1" type="body"/>
          </p:nvPr>
        </p:nvSpPr>
        <p:spPr>
          <a:xfrm>
            <a:off x="4819450" y="450075"/>
            <a:ext cx="3713400" cy="2606400"/>
          </a:xfrm>
          <a:prstGeom prst="rect">
            <a:avLst/>
          </a:prstGeom>
        </p:spPr>
        <p:txBody>
          <a:bodyPr anchorCtr="0" anchor="b" bIns="91425" lIns="91425" spcFirstLastPara="1" rIns="91425" wrap="square" tIns="91425">
            <a:noAutofit/>
          </a:bodyPr>
          <a:lstStyle/>
          <a:p>
            <a:pPr indent="0" lvl="0" marL="0" rtl="0" algn="just">
              <a:lnSpc>
                <a:spcPct val="115000"/>
              </a:lnSpc>
              <a:spcBef>
                <a:spcPts val="0"/>
              </a:spcBef>
              <a:spcAft>
                <a:spcPts val="0"/>
              </a:spcAft>
              <a:buSzPts val="440"/>
              <a:buNone/>
            </a:pPr>
            <a:r>
              <a:rPr lang="en" sz="1200">
                <a:solidFill>
                  <a:srgbClr val="000000"/>
                </a:solidFill>
                <a:latin typeface="Maven Pro Medium"/>
                <a:ea typeface="Maven Pro Medium"/>
                <a:cs typeface="Maven Pro Medium"/>
                <a:sym typeface="Maven Pro Medium"/>
              </a:rPr>
              <a:t>2. Selama 2022, tampilkan</a:t>
            </a:r>
            <a:r>
              <a:rPr b="1" lang="en" sz="1200">
                <a:solidFill>
                  <a:srgbClr val="000000"/>
                </a:solidFill>
                <a:latin typeface="Maven Pro"/>
                <a:ea typeface="Maven Pro"/>
                <a:cs typeface="Maven Pro"/>
                <a:sym typeface="Maven Pro"/>
              </a:rPr>
              <a:t> category mobile &amp; tablet</a:t>
            </a:r>
            <a:r>
              <a:rPr lang="en" sz="1200">
                <a:solidFill>
                  <a:srgbClr val="000000"/>
                </a:solidFill>
                <a:latin typeface="Maven Pro Medium"/>
                <a:ea typeface="Maven Pro Medium"/>
                <a:cs typeface="Maven Pro Medium"/>
                <a:sym typeface="Maven Pro Medium"/>
              </a:rPr>
              <a:t> yang sudah terjadi pembayaran secara jazzwallet. </a:t>
            </a:r>
            <a:r>
              <a:rPr b="1" lang="en" sz="1200">
                <a:solidFill>
                  <a:srgbClr val="000000"/>
                </a:solidFill>
                <a:latin typeface="Maven Pro"/>
                <a:ea typeface="Maven Pro"/>
                <a:cs typeface="Maven Pro"/>
                <a:sym typeface="Maven Pro"/>
              </a:rPr>
              <a:t>Berapa quantity dan customer nya?</a:t>
            </a:r>
            <a:r>
              <a:rPr lang="en" sz="1200">
                <a:solidFill>
                  <a:srgbClr val="000000"/>
                </a:solidFill>
                <a:latin typeface="Maven Pro Medium"/>
                <a:ea typeface="Maven Pro Medium"/>
                <a:cs typeface="Maven Pro Medium"/>
                <a:sym typeface="Maven Pro Medium"/>
              </a:rPr>
              <a:t> </a:t>
            </a:r>
            <a:endParaRPr sz="1200">
              <a:solidFill>
                <a:srgbClr val="000000"/>
              </a:solidFill>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t/>
            </a:r>
            <a:endParaRPr sz="1200">
              <a:solidFill>
                <a:srgbClr val="000000"/>
              </a:solidFill>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rPr lang="en" sz="1200">
                <a:solidFill>
                  <a:srgbClr val="000000"/>
                </a:solidFill>
                <a:latin typeface="Maven Pro Medium"/>
                <a:ea typeface="Maven Pro Medium"/>
                <a:cs typeface="Maven Pro Medium"/>
                <a:sym typeface="Maven Pro Medium"/>
              </a:rPr>
              <a:t>3. Buatlah chart berdasarkan dashboard nomor 2.</a:t>
            </a:r>
            <a:endParaRPr sz="1200">
              <a:solidFill>
                <a:srgbClr val="000000"/>
              </a:solidFill>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t/>
            </a:r>
            <a:endParaRPr sz="1200">
              <a:solidFill>
                <a:srgbClr val="000000"/>
              </a:solidFill>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rPr lang="en" sz="1200">
                <a:solidFill>
                  <a:srgbClr val="000000"/>
                </a:solidFill>
                <a:latin typeface="Maven Pro Medium"/>
                <a:ea typeface="Maven Pro Medium"/>
                <a:cs typeface="Maven Pro Medium"/>
                <a:sym typeface="Maven Pro Medium"/>
              </a:rPr>
              <a:t>Terima kasih. </a:t>
            </a:r>
            <a:endParaRPr sz="1200">
              <a:solidFill>
                <a:srgbClr val="000000"/>
              </a:solidFill>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t/>
            </a:r>
            <a:endParaRPr sz="1200">
              <a:solidFill>
                <a:srgbClr val="000000"/>
              </a:solidFill>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rPr lang="en" sz="1200">
                <a:solidFill>
                  <a:srgbClr val="000000"/>
                </a:solidFill>
                <a:latin typeface="Maven Pro Medium"/>
                <a:ea typeface="Maven Pro Medium"/>
                <a:cs typeface="Maven Pro Medium"/>
                <a:sym typeface="Maven Pro Medium"/>
              </a:rPr>
              <a:t>Regard,</a:t>
            </a:r>
            <a:endParaRPr sz="1200">
              <a:solidFill>
                <a:srgbClr val="000000"/>
              </a:solidFill>
              <a:latin typeface="Maven Pro Medium"/>
              <a:ea typeface="Maven Pro Medium"/>
              <a:cs typeface="Maven Pro Medium"/>
              <a:sym typeface="Maven Pro Medium"/>
            </a:endParaRPr>
          </a:p>
          <a:p>
            <a:pPr indent="0" lvl="0" marL="0" rtl="0" algn="just">
              <a:lnSpc>
                <a:spcPct val="115000"/>
              </a:lnSpc>
              <a:spcBef>
                <a:spcPts val="0"/>
              </a:spcBef>
              <a:spcAft>
                <a:spcPts val="0"/>
              </a:spcAft>
              <a:buSzPts val="440"/>
              <a:buNone/>
            </a:pPr>
            <a:r>
              <a:rPr lang="en" sz="1200">
                <a:solidFill>
                  <a:srgbClr val="000000"/>
                </a:solidFill>
                <a:latin typeface="Maven Pro Medium"/>
                <a:ea typeface="Maven Pro Medium"/>
                <a:cs typeface="Maven Pro Medium"/>
                <a:sym typeface="Maven Pro Medium"/>
              </a:rPr>
              <a:t>Tim Marketing</a:t>
            </a:r>
            <a:endParaRPr sz="1200">
              <a:solidFill>
                <a:srgbClr val="000000"/>
              </a:solidFill>
              <a:latin typeface="Maven Pro Medium"/>
              <a:ea typeface="Maven Pro Medium"/>
              <a:cs typeface="Maven Pro Medium"/>
              <a:sym typeface="Maven Pro Medium"/>
            </a:endParaRPr>
          </a:p>
          <a:p>
            <a:pPr indent="0" lvl="0" marL="457200" rtl="0" algn="just">
              <a:lnSpc>
                <a:spcPct val="115000"/>
              </a:lnSpc>
              <a:spcBef>
                <a:spcPts val="0"/>
              </a:spcBef>
              <a:spcAft>
                <a:spcPts val="0"/>
              </a:spcAft>
              <a:buSzPts val="440"/>
              <a:buNone/>
            </a:pPr>
            <a:r>
              <a:t/>
            </a:r>
            <a:endParaRPr sz="1200">
              <a:solidFill>
                <a:srgbClr val="000000"/>
              </a:solidFill>
              <a:latin typeface="Maven Pro Medium"/>
              <a:ea typeface="Maven Pro Medium"/>
              <a:cs typeface="Maven Pro Medium"/>
              <a:sym typeface="Maven Pr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2"/>
          <p:cNvPicPr preferRelativeResize="0"/>
          <p:nvPr/>
        </p:nvPicPr>
        <p:blipFill>
          <a:blip r:embed="rId3">
            <a:alphaModFix/>
          </a:blip>
          <a:stretch>
            <a:fillRect/>
          </a:stretch>
        </p:blipFill>
        <p:spPr>
          <a:xfrm>
            <a:off x="1212637" y="287525"/>
            <a:ext cx="6718725" cy="45684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p:nvPr/>
        </p:nvSpPr>
        <p:spPr>
          <a:xfrm>
            <a:off x="3054000" y="4634475"/>
            <a:ext cx="3036000" cy="449700"/>
          </a:xfrm>
          <a:prstGeom prst="roundRect">
            <a:avLst>
              <a:gd fmla="val 16667" name="adj"/>
            </a:avLst>
          </a:prstGeom>
          <a:solidFill>
            <a:srgbClr val="82C7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233A44"/>
                </a:solidFill>
                <a:latin typeface="Montserrat"/>
                <a:ea typeface="Montserrat"/>
                <a:cs typeface="Montserrat"/>
                <a:sym typeface="Montserrat"/>
              </a:rPr>
              <a:t>DASHBOARD RESULT - 2</a:t>
            </a:r>
            <a:endParaRPr b="1" sz="1700">
              <a:solidFill>
                <a:srgbClr val="233A44"/>
              </a:solidFill>
              <a:latin typeface="Montserrat"/>
              <a:ea typeface="Montserrat"/>
              <a:cs typeface="Montserrat"/>
              <a:sym typeface="Montserrat"/>
            </a:endParaRPr>
          </a:p>
        </p:txBody>
      </p:sp>
      <p:sp>
        <p:nvSpPr>
          <p:cNvPr id="203" name="Google Shape;203;p23"/>
          <p:cNvSpPr txBox="1"/>
          <p:nvPr>
            <p:ph idx="1" type="body"/>
          </p:nvPr>
        </p:nvSpPr>
        <p:spPr>
          <a:xfrm>
            <a:off x="532050" y="2944800"/>
            <a:ext cx="8079900" cy="14130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440"/>
              <a:buNone/>
            </a:pPr>
            <a:r>
              <a:rPr lang="en" sz="1400">
                <a:solidFill>
                  <a:srgbClr val="000000"/>
                </a:solidFill>
                <a:latin typeface="Maven Pro Medium"/>
                <a:ea typeface="Maven Pro Medium"/>
                <a:cs typeface="Maven Pro Medium"/>
                <a:sym typeface="Maven Pro Medium"/>
              </a:rPr>
              <a:t>Berdasarkan data dashboard tahun 2022 berikut, tidak ditemukan </a:t>
            </a:r>
            <a:r>
              <a:rPr b="1" lang="en" sz="1400">
                <a:solidFill>
                  <a:srgbClr val="000000"/>
                </a:solidFill>
                <a:latin typeface="Maven Pro"/>
                <a:ea typeface="Maven Pro"/>
                <a:cs typeface="Maven Pro"/>
                <a:sym typeface="Maven Pro"/>
              </a:rPr>
              <a:t>customer</a:t>
            </a:r>
            <a:r>
              <a:rPr lang="en" sz="1400">
                <a:solidFill>
                  <a:srgbClr val="000000"/>
                </a:solidFill>
                <a:latin typeface="Maven Pro Medium"/>
                <a:ea typeface="Maven Pro Medium"/>
                <a:cs typeface="Maven Pro Medium"/>
                <a:sym typeface="Maven Pro Medium"/>
              </a:rPr>
              <a:t> yang melakukan transaksi dengan kategori </a:t>
            </a:r>
            <a:r>
              <a:rPr b="1" lang="en" sz="1400">
                <a:solidFill>
                  <a:srgbClr val="000000"/>
                </a:solidFill>
                <a:latin typeface="Maven Pro"/>
                <a:ea typeface="Maven Pro"/>
                <a:cs typeface="Maven Pro"/>
                <a:sym typeface="Maven Pro"/>
              </a:rPr>
              <a:t>Mobiles &amp; Tablets</a:t>
            </a:r>
            <a:r>
              <a:rPr lang="en" sz="1400">
                <a:solidFill>
                  <a:srgbClr val="000000"/>
                </a:solidFill>
                <a:latin typeface="Maven Pro Medium"/>
                <a:ea typeface="Maven Pro Medium"/>
                <a:cs typeface="Maven Pro Medium"/>
                <a:sym typeface="Maven Pro Medium"/>
              </a:rPr>
              <a:t> menggunakan </a:t>
            </a:r>
            <a:r>
              <a:rPr b="1" lang="en" sz="1400">
                <a:solidFill>
                  <a:srgbClr val="000000"/>
                </a:solidFill>
                <a:latin typeface="Maven Pro"/>
                <a:ea typeface="Maven Pro"/>
                <a:cs typeface="Maven Pro"/>
                <a:sym typeface="Maven Pro"/>
              </a:rPr>
              <a:t>Jazzwallet.</a:t>
            </a:r>
            <a:r>
              <a:rPr lang="en" sz="1400">
                <a:solidFill>
                  <a:srgbClr val="000000"/>
                </a:solidFill>
                <a:latin typeface="Maven Pro Medium"/>
                <a:ea typeface="Maven Pro Medium"/>
                <a:cs typeface="Maven Pro Medium"/>
                <a:sym typeface="Maven Pro Medium"/>
              </a:rPr>
              <a:t> Melainkan metode pembayaran </a:t>
            </a:r>
            <a:r>
              <a:rPr lang="en" sz="1400">
                <a:solidFill>
                  <a:srgbClr val="000000"/>
                </a:solidFill>
                <a:latin typeface="Maven Pro Medium"/>
                <a:ea typeface="Maven Pro Medium"/>
                <a:cs typeface="Maven Pro Medium"/>
                <a:sym typeface="Maven Pro Medium"/>
              </a:rPr>
              <a:t>yang lebih banyak </a:t>
            </a:r>
            <a:r>
              <a:rPr lang="en" sz="1400">
                <a:solidFill>
                  <a:srgbClr val="000000"/>
                </a:solidFill>
                <a:latin typeface="Maven Pro Medium"/>
                <a:ea typeface="Maven Pro Medium"/>
                <a:cs typeface="Maven Pro Medium"/>
                <a:sym typeface="Maven Pro Medium"/>
              </a:rPr>
              <a:t>digunakan oleh </a:t>
            </a:r>
            <a:r>
              <a:rPr b="1" lang="en" sz="1400">
                <a:solidFill>
                  <a:srgbClr val="000000"/>
                </a:solidFill>
                <a:latin typeface="Maven Pro"/>
                <a:ea typeface="Maven Pro"/>
                <a:cs typeface="Maven Pro"/>
                <a:sym typeface="Maven Pro"/>
              </a:rPr>
              <a:t>customer </a:t>
            </a:r>
            <a:r>
              <a:rPr lang="en" sz="1400">
                <a:solidFill>
                  <a:srgbClr val="000000"/>
                </a:solidFill>
                <a:latin typeface="Maven Pro Medium"/>
                <a:ea typeface="Maven Pro Medium"/>
                <a:cs typeface="Maven Pro Medium"/>
                <a:sym typeface="Maven Pro Medium"/>
              </a:rPr>
              <a:t>untuk membeli</a:t>
            </a:r>
            <a:r>
              <a:rPr b="1" lang="en" sz="1400">
                <a:solidFill>
                  <a:srgbClr val="000000"/>
                </a:solidFill>
                <a:latin typeface="Maven Pro"/>
                <a:ea typeface="Maven Pro"/>
                <a:cs typeface="Maven Pro"/>
                <a:sym typeface="Maven Pro"/>
              </a:rPr>
              <a:t> </a:t>
            </a:r>
            <a:r>
              <a:rPr b="1" lang="en" sz="1400">
                <a:solidFill>
                  <a:srgbClr val="000000"/>
                </a:solidFill>
                <a:latin typeface="Maven Pro"/>
                <a:ea typeface="Maven Pro"/>
                <a:cs typeface="Maven Pro"/>
                <a:sym typeface="Maven Pro"/>
              </a:rPr>
              <a:t>Mobiles &amp; Tablets </a:t>
            </a:r>
            <a:r>
              <a:rPr lang="en" sz="1400">
                <a:solidFill>
                  <a:srgbClr val="000000"/>
                </a:solidFill>
                <a:latin typeface="Maven Pro Medium"/>
                <a:ea typeface="Maven Pro Medium"/>
                <a:cs typeface="Maven Pro Medium"/>
                <a:sym typeface="Maven Pro Medium"/>
              </a:rPr>
              <a:t>adalah </a:t>
            </a:r>
            <a:r>
              <a:rPr b="1" lang="en" sz="1400">
                <a:solidFill>
                  <a:srgbClr val="000000"/>
                </a:solidFill>
                <a:latin typeface="Maven Pro"/>
                <a:ea typeface="Maven Pro"/>
                <a:cs typeface="Maven Pro"/>
                <a:sym typeface="Maven Pro"/>
              </a:rPr>
              <a:t>Jazzvoucher</a:t>
            </a:r>
            <a:r>
              <a:rPr lang="en" sz="1400">
                <a:solidFill>
                  <a:srgbClr val="000000"/>
                </a:solidFill>
                <a:latin typeface="Maven Pro Medium"/>
                <a:ea typeface="Maven Pro Medium"/>
                <a:cs typeface="Maven Pro Medium"/>
                <a:sym typeface="Maven Pro Medium"/>
              </a:rPr>
              <a:t>, lalu disusul oleh metode pembayaran via </a:t>
            </a:r>
            <a:r>
              <a:rPr b="1" lang="en" sz="1400">
                <a:solidFill>
                  <a:srgbClr val="000000"/>
                </a:solidFill>
                <a:latin typeface="Maven Pro"/>
                <a:ea typeface="Maven Pro"/>
                <a:cs typeface="Maven Pro"/>
                <a:sym typeface="Maven Pro"/>
              </a:rPr>
              <a:t>Payaxis, </a:t>
            </a:r>
            <a:r>
              <a:rPr b="1" lang="en" sz="1400">
                <a:solidFill>
                  <a:srgbClr val="000000"/>
                </a:solidFill>
                <a:latin typeface="Maven Pro"/>
                <a:ea typeface="Maven Pro"/>
                <a:cs typeface="Maven Pro"/>
                <a:sym typeface="Maven Pro"/>
              </a:rPr>
              <a:t>Easypay, COD,  </a:t>
            </a:r>
            <a:r>
              <a:rPr b="1" lang="en" sz="1400">
                <a:solidFill>
                  <a:srgbClr val="000000"/>
                </a:solidFill>
                <a:latin typeface="Maven Pro"/>
                <a:ea typeface="Maven Pro"/>
                <a:cs typeface="Maven Pro"/>
                <a:sym typeface="Maven Pro"/>
              </a:rPr>
              <a:t>Financesettlement, </a:t>
            </a:r>
            <a:r>
              <a:rPr b="1" lang="en" sz="1400">
                <a:solidFill>
                  <a:srgbClr val="000000"/>
                </a:solidFill>
                <a:latin typeface="Maven Pro"/>
                <a:ea typeface="Maven Pro"/>
                <a:cs typeface="Maven Pro"/>
                <a:sym typeface="Maven Pro"/>
              </a:rPr>
              <a:t>Easypay_Voucher, </a:t>
            </a:r>
            <a:r>
              <a:rPr lang="en" sz="1400">
                <a:solidFill>
                  <a:srgbClr val="000000"/>
                </a:solidFill>
                <a:latin typeface="Maven Pro Medium"/>
                <a:ea typeface="Maven Pro Medium"/>
                <a:cs typeface="Maven Pro Medium"/>
                <a:sym typeface="Maven Pro Medium"/>
              </a:rPr>
              <a:t>dan </a:t>
            </a:r>
            <a:r>
              <a:rPr b="1" lang="en" sz="1400">
                <a:solidFill>
                  <a:srgbClr val="000000"/>
                </a:solidFill>
                <a:latin typeface="Maven Pro"/>
                <a:ea typeface="Maven Pro"/>
                <a:cs typeface="Maven Pro"/>
                <a:sym typeface="Maven Pro"/>
              </a:rPr>
              <a:t>Customercredit.</a:t>
            </a:r>
            <a:endParaRPr sz="1400">
              <a:solidFill>
                <a:srgbClr val="000000"/>
              </a:solidFill>
              <a:latin typeface="Maven Pro Medium"/>
              <a:ea typeface="Maven Pro Medium"/>
              <a:cs typeface="Maven Pro Medium"/>
              <a:sym typeface="Maven Pro Medium"/>
            </a:endParaRPr>
          </a:p>
        </p:txBody>
      </p:sp>
      <p:pic>
        <p:nvPicPr>
          <p:cNvPr id="204" name="Google Shape;204;p23"/>
          <p:cNvPicPr preferRelativeResize="0"/>
          <p:nvPr/>
        </p:nvPicPr>
        <p:blipFill>
          <a:blip r:embed="rId3">
            <a:alphaModFix/>
          </a:blip>
          <a:stretch>
            <a:fillRect/>
          </a:stretch>
        </p:blipFill>
        <p:spPr>
          <a:xfrm>
            <a:off x="1733912" y="214800"/>
            <a:ext cx="5676176" cy="2730000"/>
          </a:xfrm>
          <a:prstGeom prst="rect">
            <a:avLst/>
          </a:prstGeom>
          <a:noFill/>
          <a:ln>
            <a:noFill/>
          </a:ln>
        </p:spPr>
      </p:pic>
      <p:sp>
        <p:nvSpPr>
          <p:cNvPr id="205" name="Google Shape;205;p23"/>
          <p:cNvSpPr/>
          <p:nvPr/>
        </p:nvSpPr>
        <p:spPr>
          <a:xfrm>
            <a:off x="1803575" y="214800"/>
            <a:ext cx="928400" cy="527325"/>
          </a:xfrm>
          <a:prstGeom prst="flowChartProcess">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6" name="Google Shape;206;p23"/>
          <p:cNvSpPr/>
          <p:nvPr/>
        </p:nvSpPr>
        <p:spPr>
          <a:xfrm>
            <a:off x="4906425" y="1548075"/>
            <a:ext cx="2432250" cy="1320525"/>
          </a:xfrm>
          <a:prstGeom prst="flowChartProcess">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